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1"/>
  </p:notesMasterIdLst>
  <p:sldIdLst>
    <p:sldId id="256" r:id="rId4"/>
    <p:sldId id="261" r:id="rId5"/>
    <p:sldId id="265" r:id="rId6"/>
    <p:sldId id="300" r:id="rId7"/>
    <p:sldId id="275" r:id="rId8"/>
    <p:sldId id="298" r:id="rId9"/>
    <p:sldId id="301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B473D5D-5274-493F-AB8A-2B5CF84428ED}">
          <p14:sldIdLst>
            <p14:sldId id="256"/>
            <p14:sldId id="261"/>
            <p14:sldId id="265"/>
            <p14:sldId id="300"/>
            <p14:sldId id="275"/>
            <p14:sldId id="298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3E9"/>
    <a:srgbClr val="A4B4EA"/>
    <a:srgbClr val="98DFBB"/>
    <a:srgbClr val="F8B2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1" d="100"/>
          <a:sy n="141" d="100"/>
        </p:scale>
        <p:origin x="744" y="114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4780-4742-4AF7-B9F6-29387D06C872}" type="datetimeFigureOut">
              <a:rPr lang="ko-KR" altLang="en-US" smtClean="0"/>
              <a:t>2021-10-29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0E160-F603-41F3-A192-DC959577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4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1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23928" y="2643759"/>
            <a:ext cx="5220072" cy="10801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z="3600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23928" y="3723878"/>
            <a:ext cx="52199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43808" y="377122"/>
            <a:ext cx="3456384" cy="3465247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829098" y="3829794"/>
            <a:ext cx="3456384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Welcome!!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828950" y="4443958"/>
            <a:ext cx="345638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7620362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9040931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63568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842131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34733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27011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Block Arc 1"/>
          <p:cNvSpPr/>
          <p:nvPr userDrawn="1"/>
        </p:nvSpPr>
        <p:spPr>
          <a:xfrm>
            <a:off x="683568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11"/>
          <p:cNvSpPr/>
          <p:nvPr userDrawn="1"/>
        </p:nvSpPr>
        <p:spPr>
          <a:xfrm>
            <a:off x="2671382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Block Arc 12"/>
          <p:cNvSpPr/>
          <p:nvPr userDrawn="1"/>
        </p:nvSpPr>
        <p:spPr>
          <a:xfrm>
            <a:off x="4659196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 userDrawn="1"/>
        </p:nvSpPr>
        <p:spPr>
          <a:xfrm>
            <a:off x="6647011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DBECCA6-8618-46C3-A8D4-3B6399CCEF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D40A599-6D66-4DC9-82BB-52C171B56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349946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771800" y="1404764"/>
            <a:ext cx="6372200" cy="30243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6C3AF05-0B8F-485E-983F-1B4034019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183D1CC-DF98-45E3-B7CE-601603E40D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1931937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3059832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84000" y="2947500"/>
            <a:ext cx="3060000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47966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28392" y="0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1923678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025142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7858" y="1275606"/>
            <a:ext cx="2448545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39542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60954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DA4CE02-F7F3-4BCD-B8DB-4DFD03965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9A54B34-6F96-4E3E-B72E-E680E3CE27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8399713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8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582656" y="1374406"/>
            <a:ext cx="2700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820964" y="1374406"/>
            <a:ext cx="2736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3CBFE9-6225-4EAB-9415-3558F6BE9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E9189EF-3C10-45A2-8749-4187192ACE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089407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3"/>
          <p:cNvSpPr/>
          <p:nvPr userDrawn="1"/>
        </p:nvSpPr>
        <p:spPr>
          <a:xfrm>
            <a:off x="2847111" y="1179745"/>
            <a:ext cx="3401564" cy="3401564"/>
          </a:xfrm>
          <a:prstGeom prst="donut">
            <a:avLst>
              <a:gd name="adj" fmla="val 13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B4F25E9-AA8C-4BD3-BF1F-56D20DF8D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0BDE80-4E1C-47DE-8168-381888FDC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19204996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3800" y="2230378"/>
            <a:ext cx="49302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13800" y="2703954"/>
            <a:ext cx="49302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3651870"/>
            <a:ext cx="1013895" cy="101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50740"/>
            <a:ext cx="648072" cy="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9818"/>
            <a:ext cx="442142" cy="4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779200"/>
            <a:ext cx="360040" cy="36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1115616" y="1275607"/>
            <a:ext cx="2585656" cy="2592286"/>
            <a:chOff x="1115616" y="1275607"/>
            <a:chExt cx="2585656" cy="2592286"/>
          </a:xfrm>
        </p:grpSpPr>
        <p:pic>
          <p:nvPicPr>
            <p:cNvPr id="1026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578808"/>
            <a:ext cx="1475656" cy="159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26854" y="-51527"/>
            <a:ext cx="879830" cy="9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push dir="u"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52" r:id="rId4"/>
    <p:sldLayoutId id="2147483661" r:id="rId5"/>
    <p:sldLayoutId id="2147483656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ransition spd="slow">
    <p:push dir="u"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 spd="slow">
    <p:push dir="u"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dirty="0"/>
              <a:t>DNA </a:t>
            </a:r>
            <a:r>
              <a:rPr lang="ko-KR" altLang="en-US" dirty="0"/>
              <a:t>추출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홍승기 </a:t>
            </a:r>
            <a:r>
              <a:rPr lang="ko-KR" altLang="en-US" b="1" dirty="0" err="1"/>
              <a:t>문경찬</a:t>
            </a:r>
            <a:r>
              <a:rPr lang="ko-KR" altLang="en-US" b="1" dirty="0"/>
              <a:t> 김정훈 송태준 </a:t>
            </a:r>
            <a:r>
              <a:rPr lang="ko-KR" altLang="en-US" b="1" dirty="0" err="1"/>
              <a:t>서형우</a:t>
            </a:r>
            <a:endParaRPr lang="en-US" altLang="ko-KR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3650519" y="2738626"/>
            <a:ext cx="129393" cy="1440160"/>
            <a:chOff x="3424672" y="2643758"/>
            <a:chExt cx="283232" cy="1584176"/>
          </a:xfrm>
        </p:grpSpPr>
        <p:sp>
          <p:nvSpPr>
            <p:cNvPr id="7" name="Rectangle 6"/>
            <p:cNvSpPr/>
            <p:nvPr userDrawn="1"/>
          </p:nvSpPr>
          <p:spPr>
            <a:xfrm>
              <a:off x="3635896" y="2643758"/>
              <a:ext cx="72008" cy="1584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565490" y="2643758"/>
              <a:ext cx="72007" cy="15841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495081" y="2643758"/>
              <a:ext cx="72007" cy="15841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3424672" y="2643758"/>
              <a:ext cx="72008" cy="158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634BE5E2-E2D3-4E0A-99E1-4F1F1F42F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24109"/>
            <a:ext cx="3985605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0" y="267494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목차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267744" y="1059582"/>
            <a:ext cx="6552728" cy="914400"/>
            <a:chOff x="1151472" y="3187501"/>
            <a:chExt cx="6552728" cy="914400"/>
          </a:xfrm>
        </p:grpSpPr>
        <p:sp>
          <p:nvSpPr>
            <p:cNvPr id="5" name="Pentagon 4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" name="Pentagon 5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Diamond 6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직사각형 39"/>
          <p:cNvSpPr/>
          <p:nvPr/>
        </p:nvSpPr>
        <p:spPr>
          <a:xfrm>
            <a:off x="2509438" y="1262927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1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82961" y="1239623"/>
            <a:ext cx="4752528" cy="546274"/>
            <a:chOff x="2299400" y="1781114"/>
            <a:chExt cx="4576856" cy="546274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2299400" y="1781114"/>
              <a:ext cx="4576856" cy="338554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실험 동기</a:t>
              </a:r>
              <a:endPara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264738" y="1982609"/>
            <a:ext cx="6552728" cy="914400"/>
            <a:chOff x="1151472" y="3187501"/>
            <a:chExt cx="6552728" cy="914400"/>
          </a:xfrm>
        </p:grpSpPr>
        <p:sp>
          <p:nvSpPr>
            <p:cNvPr id="13" name="Pentagon 12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Pentagon 13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Diamond 14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61732" y="2905636"/>
            <a:ext cx="6552728" cy="914400"/>
            <a:chOff x="1151472" y="3187501"/>
            <a:chExt cx="6552728" cy="914400"/>
          </a:xfrm>
        </p:grpSpPr>
        <p:sp>
          <p:nvSpPr>
            <p:cNvPr id="17" name="Pentagon 16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Pentagon 17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Diamond 18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258726" y="3828663"/>
            <a:ext cx="6552728" cy="914400"/>
            <a:chOff x="1151472" y="3187501"/>
            <a:chExt cx="6552728" cy="914400"/>
          </a:xfrm>
        </p:grpSpPr>
        <p:sp>
          <p:nvSpPr>
            <p:cNvPr id="21" name="Pentagon 20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2" name="Pentagon 21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4" name="직사각형 39"/>
          <p:cNvSpPr/>
          <p:nvPr/>
        </p:nvSpPr>
        <p:spPr>
          <a:xfrm>
            <a:off x="2509438" y="2187449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382961" y="2164145"/>
            <a:ext cx="4752528" cy="546274"/>
            <a:chOff x="2299400" y="1781114"/>
            <a:chExt cx="4576856" cy="546274"/>
          </a:xfrm>
        </p:grpSpPr>
        <p:sp>
          <p:nvSpPr>
            <p:cNvPr id="26" name="TextBox 10"/>
            <p:cNvSpPr txBox="1"/>
            <p:nvPr/>
          </p:nvSpPr>
          <p:spPr bwMode="auto">
            <a:xfrm>
              <a:off x="2299400" y="1781114"/>
              <a:ext cx="4576856" cy="338554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이론적 배경</a:t>
              </a:r>
              <a:endPara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직사각형 39"/>
          <p:cNvSpPr/>
          <p:nvPr/>
        </p:nvSpPr>
        <p:spPr>
          <a:xfrm>
            <a:off x="2509438" y="3111971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3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382961" y="3088667"/>
            <a:ext cx="4752528" cy="546274"/>
            <a:chOff x="2299400" y="1781114"/>
            <a:chExt cx="4576856" cy="546274"/>
          </a:xfrm>
        </p:grpSpPr>
        <p:sp>
          <p:nvSpPr>
            <p:cNvPr id="30" name="TextBox 10"/>
            <p:cNvSpPr txBox="1"/>
            <p:nvPr/>
          </p:nvSpPr>
          <p:spPr bwMode="auto">
            <a:xfrm>
              <a:off x="2299400" y="1781114"/>
              <a:ext cx="4576856" cy="338554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실험 과정</a:t>
              </a:r>
              <a:endPara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직사각형 39"/>
          <p:cNvSpPr/>
          <p:nvPr/>
        </p:nvSpPr>
        <p:spPr>
          <a:xfrm>
            <a:off x="2509438" y="4036493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4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3382961" y="4013189"/>
            <a:ext cx="4752528" cy="546274"/>
            <a:chOff x="2299400" y="1781114"/>
            <a:chExt cx="4576856" cy="546274"/>
          </a:xfrm>
        </p:grpSpPr>
        <p:sp>
          <p:nvSpPr>
            <p:cNvPr id="34" name="TextBox 10"/>
            <p:cNvSpPr txBox="1"/>
            <p:nvPr/>
          </p:nvSpPr>
          <p:spPr bwMode="auto">
            <a:xfrm>
              <a:off x="2299400" y="1781114"/>
              <a:ext cx="4576856" cy="338554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결과</a:t>
              </a:r>
              <a:endPara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8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5970CF-9822-41AA-A338-8E61DFCA9E04}"/>
              </a:ext>
            </a:extLst>
          </p:cNvPr>
          <p:cNvSpPr/>
          <p:nvPr/>
        </p:nvSpPr>
        <p:spPr>
          <a:xfrm>
            <a:off x="3102774" y="1921820"/>
            <a:ext cx="3989506" cy="721937"/>
          </a:xfrm>
          <a:prstGeom prst="rect">
            <a:avLst/>
          </a:prstGeom>
          <a:solidFill>
            <a:srgbClr val="9AD3E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5012FE-BCCB-4245-9F10-AB9B0F8D36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8" y="674205"/>
            <a:ext cx="9045724" cy="3795089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서론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DNA </a:t>
            </a:r>
            <a:r>
              <a:rPr lang="ko-KR" altLang="en-US" dirty="0"/>
              <a:t>추출 방법</a:t>
            </a:r>
            <a:endParaRPr lang="en-US" altLang="ko-KR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3212204-A750-4924-8083-0FB42C793898}"/>
              </a:ext>
            </a:extLst>
          </p:cNvPr>
          <p:cNvGrpSpPr/>
          <p:nvPr/>
        </p:nvGrpSpPr>
        <p:grpSpPr>
          <a:xfrm>
            <a:off x="1547664" y="1408691"/>
            <a:ext cx="5838128" cy="3571140"/>
            <a:chOff x="2766320" y="1664906"/>
            <a:chExt cx="3600400" cy="2237822"/>
          </a:xfrm>
        </p:grpSpPr>
        <p:grpSp>
          <p:nvGrpSpPr>
            <p:cNvPr id="6" name="Group 5"/>
            <p:cNvGrpSpPr/>
            <p:nvPr/>
          </p:nvGrpSpPr>
          <p:grpSpPr>
            <a:xfrm>
              <a:off x="2766320" y="1664906"/>
              <a:ext cx="864096" cy="1188088"/>
              <a:chOff x="2391994" y="1635646"/>
              <a:chExt cx="805454" cy="1584088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91994" y="1635646"/>
                <a:ext cx="805454" cy="79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Isosceles Triangle 4"/>
              <p:cNvSpPr/>
              <p:nvPr/>
            </p:nvSpPr>
            <p:spPr>
              <a:xfrm rot="10800000">
                <a:off x="2391994" y="2427734"/>
                <a:ext cx="805454" cy="792000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3702424" y="1715911"/>
              <a:ext cx="2664296" cy="532080"/>
              <a:chOff x="496119" y="2469560"/>
              <a:chExt cx="1752190" cy="532080"/>
            </a:xfrm>
            <a:noFill/>
          </p:grpSpPr>
          <p:sp>
            <p:nvSpPr>
              <p:cNvPr id="9" name="TextBox 8"/>
              <p:cNvSpPr txBox="1"/>
              <p:nvPr/>
            </p:nvSpPr>
            <p:spPr>
              <a:xfrm>
                <a:off x="496119" y="2724641"/>
                <a:ext cx="1752190" cy="27699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96119" y="2469560"/>
                <a:ext cx="17521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accent2"/>
                    </a:solidFill>
                    <a:cs typeface="Arial" pitchFamily="34" charset="0"/>
                  </a:rPr>
                  <a:t>실험 목적</a:t>
                </a: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2843808" y="1707654"/>
              <a:ext cx="7091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46439" y="3256397"/>
              <a:ext cx="7091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08A1DF-DA30-4F9F-98E9-3C5DBB1FA29B}"/>
                </a:ext>
              </a:extLst>
            </p:cNvPr>
            <p:cNvSpPr txBox="1"/>
            <p:nvPr/>
          </p:nvSpPr>
          <p:spPr>
            <a:xfrm>
              <a:off x="3688503" y="1986454"/>
              <a:ext cx="252028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최근에 생물 수업에서 유전의 원리에 대해서 수업하는데 그 중심이 되는 </a:t>
              </a:r>
              <a:r>
                <a:rPr lang="en-US" altLang="ko-KR" sz="1400" dirty="0"/>
                <a:t>DNA</a:t>
              </a:r>
              <a:r>
                <a:rPr lang="ko-KR" altLang="en-US" sz="1400" dirty="0"/>
                <a:t>에 대해 특성을 깊이 알고 싶어 조사하게 되었다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</p:grpSp>
      <p:pic>
        <p:nvPicPr>
          <p:cNvPr id="18" name="그림 17" descr="바나나, 과일, 야채이(가) 표시된 사진&#10;&#10;자동 생성된 설명">
            <a:extLst>
              <a:ext uri="{FF2B5EF4-FFF2-40B4-BE49-F238E27FC236}">
                <a16:creationId xmlns:a16="http://schemas.microsoft.com/office/drawing/2014/main" id="{69454528-556A-44A1-825F-77813415B7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962" y="2636475"/>
            <a:ext cx="3090599" cy="205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이론적 배경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/>
              <a:t>DNA </a:t>
            </a:r>
            <a:r>
              <a:rPr lang="ko-KR" altLang="en-US" dirty="0"/>
              <a:t>추출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591A30-1EB2-474D-B657-95F444EF7E97}"/>
              </a:ext>
            </a:extLst>
          </p:cNvPr>
          <p:cNvSpPr/>
          <p:nvPr/>
        </p:nvSpPr>
        <p:spPr>
          <a:xfrm>
            <a:off x="1610638" y="1374406"/>
            <a:ext cx="2673329" cy="15848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영어의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[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DeoxyriboNucleic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Acid]를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줄인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말로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이에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해당하는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적당한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우리말은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따로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없어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‘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디옥시리보핵산’이라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부르기도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유전물질을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담고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있는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세포의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핵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속에서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발견되는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두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종류의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핵산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중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하나로서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핵산을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구성하는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기본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구조인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리보의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2번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탄소에서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산소원자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하나가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제거된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형태의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핵산을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의미한다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생명체의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종류에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따라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예외가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있으나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보통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유전정보를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보존하는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데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이용되며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일부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생명체를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제외한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대부분의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생명체들이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유전정보를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보존하는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데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이용한다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900" kern="0" spc="0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함초롬바탕" panose="02030604000101010101" pitchFamily="18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CB37F9-3387-4B68-920E-497091C75AB7}"/>
              </a:ext>
            </a:extLst>
          </p:cNvPr>
          <p:cNvSpPr/>
          <p:nvPr/>
        </p:nvSpPr>
        <p:spPr>
          <a:xfrm>
            <a:off x="4860033" y="1374406"/>
            <a:ext cx="2673329" cy="15848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‘–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OH‘를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포함한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극성용매기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때문에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염기간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수소결합으로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이중나선구조를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하고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있는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염기에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작용하여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염기사이의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수소결합을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방해한다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이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때문에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DNA가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제멋대로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엉켜서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침전되어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버리게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된다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추출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용액과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혼합하면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물, DNA 중 물-DNA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관계는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등장하면서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친화도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입장에서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물과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떨어져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나가고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물-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결합하게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된다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첨가된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염(salt, NaCl 9%)에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의해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인산기도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봉쇄되면서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친수성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성질이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낮아지게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되고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결국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DNA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분자끼리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소수성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적으로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모여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침전하게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900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된다</a:t>
            </a:r>
            <a:r>
              <a:rPr lang="en-US" altLang="ko-KR" sz="900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900" kern="0" spc="0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함초롬바탕" panose="02030604000101010101" pitchFamily="18" charset="-127"/>
              <a:ea typeface="굴림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E1CF50-E26E-4F81-A6EE-85277DA4C784}"/>
              </a:ext>
            </a:extLst>
          </p:cNvPr>
          <p:cNvSpPr/>
          <p:nvPr/>
        </p:nvSpPr>
        <p:spPr>
          <a:xfrm>
            <a:off x="1475331" y="1166766"/>
            <a:ext cx="6193338" cy="3277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DNA</a:t>
            </a:r>
            <a:r>
              <a:rPr lang="ko-KR" altLang="en-US" sz="2000" b="1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란</a:t>
            </a:r>
            <a:r>
              <a:rPr lang="en-US" altLang="ko-KR" sz="2000" b="1" kern="0" dirty="0">
                <a:solidFill>
                  <a:schemeClr val="accent5">
                    <a:lumMod val="60000"/>
                    <a:lumOff val="40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</a:p>
          <a:p>
            <a:pPr algn="ctr"/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영어의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[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DeoxyriboNucleic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Acid]를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줄인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말로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이에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해당하는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적당한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우리말은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따로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없어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‘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디옥시리보핵산’이라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부르기도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한다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유전물질을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담고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있는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세포의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핵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속에서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발견되는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두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종류의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핵산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중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하나로서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핵산을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구성하는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기본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구조인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리보의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2번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탄소에서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산소원자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하나가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제거된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형태의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핵산을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의미한다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생명체의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종류에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따라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예외가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있으나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보통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유전정보를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보관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보존하는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데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이용되며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일부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생명체를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제외한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대부분의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생명체들이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DNA를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유전정보를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보관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및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보존하는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데 </a:t>
            </a:r>
            <a:r>
              <a:rPr lang="en-US" altLang="ko-KR" sz="2000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이용한다</a:t>
            </a:r>
            <a:r>
              <a:rPr lang="en-US" altLang="ko-KR" sz="2000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000" b="1" kern="0" spc="0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함초롬바탕" panose="02030604000101010101" pitchFamily="18" charset="-127"/>
              <a:ea typeface="굴림" panose="020B06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A0239EE-3CCE-4790-84F9-5002701EC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472" y="1066028"/>
            <a:ext cx="3766420" cy="378947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15EF19-8A04-40C5-8B4D-9B34F06B98D3}"/>
              </a:ext>
            </a:extLst>
          </p:cNvPr>
          <p:cNvSpPr/>
          <p:nvPr/>
        </p:nvSpPr>
        <p:spPr>
          <a:xfrm>
            <a:off x="1475331" y="1166766"/>
            <a:ext cx="6192890" cy="3277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에탄올을 넣는 이유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</a:p>
          <a:p>
            <a:pPr algn="ctr"/>
            <a:endParaRPr lang="en-US" altLang="ko-KR" b="1" kern="0" spc="0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에탄올은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‘–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OH‘를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포함한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극성용매기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때문에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염기간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수소결합으로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이중나선구조를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하고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있는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DNA의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염기에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작용하여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염기사이의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수소결합을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방해한다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이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때문에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DNA가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제멋대로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엉켜서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침전되어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버리게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된다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에탄올을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추출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용액과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혼합하면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물, DNA 중 물-DNA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관계는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에탄올이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등장하면서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친화도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입장에서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물과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떨어져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나가고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물-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에탄올이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결합하게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된다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DNA는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첨가된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염(salt, NaCl 9%)에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의해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인산기도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봉쇄되면서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친수성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성질이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낮아지게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되고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결국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DNA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분자끼리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소수성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적으로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모여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침전하게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kern="0" spc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된다</a:t>
            </a:r>
            <a:r>
              <a:rPr lang="en-US" altLang="ko-KR" b="1" kern="0" spc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b="1" kern="0" spc="0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함초롬바탕" panose="02030604000101010101" pitchFamily="18" charset="-127"/>
              <a:ea typeface="굴림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D9B795-3330-4BDD-B9AC-0415BFAB6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867894"/>
            <a:ext cx="2865368" cy="102116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A88470-62AF-432A-B390-EC21CA466080}"/>
              </a:ext>
            </a:extLst>
          </p:cNvPr>
          <p:cNvSpPr/>
          <p:nvPr/>
        </p:nvSpPr>
        <p:spPr>
          <a:xfrm>
            <a:off x="1502694" y="1166766"/>
            <a:ext cx="6192890" cy="3277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계면활성제를 넣는 이유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:</a:t>
            </a:r>
          </a:p>
          <a:p>
            <a:pPr fontAlgn="base"/>
            <a:endParaRPr lang="en-US" altLang="ko-KR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fontAlgn="base"/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계면활성제는 세포막의 인지질 성분을 녹여 세포 내부의 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DNA</a:t>
            </a: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와 단백질이 방출될 수 있게 한다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세포막은 </a:t>
            </a:r>
            <a:r>
              <a:rPr lang="ko-KR" altLang="en-US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친수성과</a:t>
            </a: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 소수성의 인지질 이중층을 형성하고 있다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친수성과</a:t>
            </a: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 소수성의 특징을 가진 인지질층과 같이 계면 활성제도 인지질과 같은 구조를 하고 있기 때문에 계면 활성제가 때를 제거할 수 있다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세제의 </a:t>
            </a:r>
            <a:r>
              <a:rPr lang="ko-KR" altLang="en-US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친수성</a:t>
            </a: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 부분이 세포막과 핵막의 </a:t>
            </a:r>
            <a:r>
              <a:rPr lang="ko-KR" altLang="en-US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친수성</a:t>
            </a: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 부분에 결합하여 내부 물질을 방출시킨다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7BA29C3-79B0-4C8F-ADBF-0719FEC1B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046" y="2984519"/>
            <a:ext cx="5626186" cy="200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15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 descr="텍스트, 병, 실내, 닫기이(가) 표시된 사진&#10;&#10;자동 생성된 설명">
            <a:extLst>
              <a:ext uri="{FF2B5EF4-FFF2-40B4-BE49-F238E27FC236}">
                <a16:creationId xmlns:a16="http://schemas.microsoft.com/office/drawing/2014/main" id="{CB2FF457-7E9B-474E-B0C6-4D0E22F8A6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276" y="953819"/>
            <a:ext cx="3449953" cy="2362576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226B5B-1837-47DB-9DD9-B5A7615B6940}"/>
              </a:ext>
            </a:extLst>
          </p:cNvPr>
          <p:cNvSpPr/>
          <p:nvPr/>
        </p:nvSpPr>
        <p:spPr>
          <a:xfrm>
            <a:off x="4383446" y="1234010"/>
            <a:ext cx="1484698" cy="1121667"/>
          </a:xfrm>
          <a:prstGeom prst="rect">
            <a:avLst/>
          </a:prstGeom>
          <a:solidFill>
            <a:srgbClr val="9AD3E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3888DB-8684-4273-BD6A-0EA78CD1185C}"/>
              </a:ext>
            </a:extLst>
          </p:cNvPr>
          <p:cNvSpPr/>
          <p:nvPr/>
        </p:nvSpPr>
        <p:spPr>
          <a:xfrm>
            <a:off x="6003306" y="1177740"/>
            <a:ext cx="2910977" cy="1250734"/>
          </a:xfrm>
          <a:prstGeom prst="rect">
            <a:avLst/>
          </a:prstGeom>
          <a:solidFill>
            <a:srgbClr val="A4B4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11B5ADE-25DA-4C4F-BF7D-DCB1FF916C01}"/>
              </a:ext>
            </a:extLst>
          </p:cNvPr>
          <p:cNvSpPr/>
          <p:nvPr/>
        </p:nvSpPr>
        <p:spPr>
          <a:xfrm>
            <a:off x="4432508" y="2501268"/>
            <a:ext cx="4459972" cy="2273058"/>
          </a:xfrm>
          <a:prstGeom prst="rect">
            <a:avLst/>
          </a:prstGeom>
          <a:solidFill>
            <a:srgbClr val="A4B4E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4564" y="123478"/>
            <a:ext cx="9144000" cy="576064"/>
          </a:xfrm>
        </p:spPr>
        <p:txBody>
          <a:bodyPr/>
          <a:lstStyle/>
          <a:p>
            <a:r>
              <a:rPr lang="ko-KR" altLang="en-US" dirty="0"/>
              <a:t>실험 방법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-4564" y="645537"/>
            <a:ext cx="9144000" cy="288032"/>
          </a:xfrm>
        </p:spPr>
        <p:txBody>
          <a:bodyPr/>
          <a:lstStyle/>
          <a:p>
            <a:pPr lvl="0"/>
            <a:r>
              <a:rPr lang="en-US" altLang="ko-KR" dirty="0"/>
              <a:t>DNA </a:t>
            </a:r>
            <a:r>
              <a:rPr lang="ko-KR" altLang="en-US" dirty="0"/>
              <a:t>추출</a:t>
            </a:r>
            <a:endParaRPr lang="en-US" altLang="ko-KR" dirty="0"/>
          </a:p>
        </p:txBody>
      </p:sp>
      <p:sp>
        <p:nvSpPr>
          <p:cNvPr id="4" name="Oval 3"/>
          <p:cNvSpPr/>
          <p:nvPr/>
        </p:nvSpPr>
        <p:spPr>
          <a:xfrm>
            <a:off x="888696" y="3893046"/>
            <a:ext cx="720080" cy="72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45916" y="1606246"/>
            <a:ext cx="720080" cy="7200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1996792" y="2702021"/>
            <a:ext cx="720080" cy="72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-1252315" y="1387922"/>
            <a:ext cx="3193504" cy="3224314"/>
            <a:chOff x="-1241419" y="1431052"/>
            <a:chExt cx="3193504" cy="3224314"/>
          </a:xfrm>
          <a:solidFill>
            <a:schemeClr val="accent2"/>
          </a:solidFill>
        </p:grpSpPr>
        <p:sp>
          <p:nvSpPr>
            <p:cNvPr id="8" name="Block Arc 7"/>
            <p:cNvSpPr/>
            <p:nvPr/>
          </p:nvSpPr>
          <p:spPr>
            <a:xfrm>
              <a:off x="-1241419" y="1431052"/>
              <a:ext cx="3193504" cy="3193504"/>
            </a:xfrm>
            <a:prstGeom prst="blockArc">
              <a:avLst>
                <a:gd name="adj1" fmla="val 16290582"/>
                <a:gd name="adj2" fmla="val 4576946"/>
                <a:gd name="adj3" fmla="val 98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Isosceles Triangle 8"/>
            <p:cNvSpPr/>
            <p:nvPr/>
          </p:nvSpPr>
          <p:spPr>
            <a:xfrm rot="15300000">
              <a:off x="595793" y="4484150"/>
              <a:ext cx="148089" cy="19434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-1657462" y="1203598"/>
            <a:ext cx="4048798" cy="4048798"/>
            <a:chOff x="-1620688" y="1203598"/>
            <a:chExt cx="4048798" cy="4048798"/>
          </a:xfrm>
          <a:solidFill>
            <a:schemeClr val="accent1"/>
          </a:solidFill>
        </p:grpSpPr>
        <p:sp>
          <p:nvSpPr>
            <p:cNvPr id="11" name="Block Arc 10"/>
            <p:cNvSpPr/>
            <p:nvPr/>
          </p:nvSpPr>
          <p:spPr>
            <a:xfrm>
              <a:off x="-1620688" y="1203598"/>
              <a:ext cx="4048798" cy="4048798"/>
            </a:xfrm>
            <a:prstGeom prst="blockArc">
              <a:avLst>
                <a:gd name="adj1" fmla="val 16233158"/>
                <a:gd name="adj2" fmla="val 1430557"/>
                <a:gd name="adj3" fmla="val 83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Isosceles Triangle 11"/>
            <p:cNvSpPr/>
            <p:nvPr/>
          </p:nvSpPr>
          <p:spPr>
            <a:xfrm rot="12374003">
              <a:off x="2112022" y="4027393"/>
              <a:ext cx="148089" cy="19434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-2106762" y="1377752"/>
            <a:ext cx="3540522" cy="3540522"/>
            <a:chOff x="-2052736" y="1377752"/>
            <a:chExt cx="3540522" cy="3540522"/>
          </a:xfrm>
          <a:solidFill>
            <a:schemeClr val="accent3"/>
          </a:solidFill>
        </p:grpSpPr>
        <p:sp>
          <p:nvSpPr>
            <p:cNvPr id="14" name="Block Arc 13"/>
            <p:cNvSpPr/>
            <p:nvPr/>
          </p:nvSpPr>
          <p:spPr>
            <a:xfrm>
              <a:off x="-2052736" y="1377752"/>
              <a:ext cx="3540522" cy="3540522"/>
            </a:xfrm>
            <a:prstGeom prst="blockArc">
              <a:avLst>
                <a:gd name="adj1" fmla="val 17694760"/>
                <a:gd name="adj2" fmla="val 849742"/>
                <a:gd name="adj3" fmla="val 1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Isosceles Triangle 14"/>
            <p:cNvSpPr/>
            <p:nvPr/>
          </p:nvSpPr>
          <p:spPr>
            <a:xfrm rot="12374003">
              <a:off x="1304369" y="3518776"/>
              <a:ext cx="148089" cy="19434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Rectangle 9"/>
          <p:cNvSpPr/>
          <p:nvPr/>
        </p:nvSpPr>
        <p:spPr>
          <a:xfrm>
            <a:off x="754715" y="1802426"/>
            <a:ext cx="317247" cy="29697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800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Oval 21"/>
          <p:cNvSpPr>
            <a:spLocks noChangeAspect="1"/>
          </p:cNvSpPr>
          <p:nvPr/>
        </p:nvSpPr>
        <p:spPr>
          <a:xfrm>
            <a:off x="1089214" y="4092232"/>
            <a:ext cx="319043" cy="32170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800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Rounded Rectangle 27"/>
          <p:cNvSpPr/>
          <p:nvPr/>
        </p:nvSpPr>
        <p:spPr>
          <a:xfrm>
            <a:off x="2180617" y="2930474"/>
            <a:ext cx="342615" cy="26317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8001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4565728" y="1202261"/>
            <a:ext cx="1301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rgbClr val="FF0000"/>
                </a:solidFill>
                <a:cs typeface="Arial" pitchFamily="34" charset="0"/>
              </a:rPr>
              <a:t>실험</a:t>
            </a:r>
            <a:endParaRPr lang="en-US" altLang="ko-KR" sz="3600" b="1" dirty="0">
              <a:solidFill>
                <a:srgbClr val="FF0000"/>
              </a:solidFill>
              <a:cs typeface="Arial" pitchFamily="34" charset="0"/>
            </a:endParaRPr>
          </a:p>
          <a:p>
            <a:r>
              <a:rPr lang="ko-KR" altLang="en-US" sz="3600" b="1" dirty="0">
                <a:solidFill>
                  <a:srgbClr val="FF0000"/>
                </a:solidFill>
                <a:cs typeface="Arial" pitchFamily="34" charset="0"/>
              </a:rPr>
              <a:t>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208" y="1117674"/>
            <a:ext cx="295232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(5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인당 한 팀을 이뤄 실험을 진행한다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)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물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100mL,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염화 나트륨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2g,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계면 활성제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7mL,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브로콜리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50g(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주먹만한 브로콜리 절반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),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돋움" panose="020B0600000101010101" pitchFamily="50" charset="-127"/>
              </a:rPr>
              <a:t>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거름종이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깔때기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시험관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에탄올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200mL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를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돋움" panose="020B0600000101010101" pitchFamily="50" charset="-127"/>
              </a:rPr>
              <a:t>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준비한다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171450" indent="-171450">
              <a:buFont typeface="Wingdings" pitchFamily="2" charset="2"/>
              <a:buChar char="l"/>
            </a:pP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55423" y="2428473"/>
            <a:ext cx="4558861" cy="227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1)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물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100mL,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염화 나트륨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2g,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계면 활성제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7mL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를 섞어 추출용액을 만든다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2)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부드러운 식물세포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브로콜리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) 50g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을 막자사발 안에 넣고 </a:t>
            </a:r>
            <a:r>
              <a:rPr lang="ko-KR" altLang="en-US" sz="1000" kern="0" spc="0" dirty="0" err="1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막자로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 아주 잘게 간다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3)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곱게 갈린 샘플을 추출용액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100mL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와 섞는다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4)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혼합된 용액을 거름종이에 걸러낸다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5)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걸러낸 용액에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200mL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의 에탄올을 첨가한다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이때 나무젓가락을 비커 벽에 대고 조심하면서 에탄올이 나무젓가락을 타고 내려가게 하면서 조심스럽게 에탄올을 비커에 넣는다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6)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흰색의 가는 선 모양의 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DNA </a:t>
            </a:r>
            <a:r>
              <a:rPr lang="ko-KR" altLang="en-US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덩어리를 관찰한다</a:t>
            </a:r>
            <a:r>
              <a:rPr lang="en-US" altLang="ko-KR" sz="1000" kern="0" spc="0" dirty="0">
                <a:solidFill>
                  <a:srgbClr val="000000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endParaRPr lang="ko-KR" altLang="en-US" sz="1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3397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2" grpId="0" animBg="1"/>
      <p:bldP spid="33" grpId="0" animBg="1"/>
      <p:bldP spid="4" grpId="0" animBg="1"/>
      <p:bldP spid="5" grpId="0" animBg="1"/>
      <p:bldP spid="6" grpId="0" animBg="1"/>
      <p:bldP spid="16" grpId="0" animBg="1"/>
      <p:bldP spid="17" grpId="0" animBg="1"/>
      <p:bldP spid="18" grpId="0" animBg="1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8188EB5-8297-4B45-91F7-04B19D4AE80C}"/>
              </a:ext>
            </a:extLst>
          </p:cNvPr>
          <p:cNvSpPr/>
          <p:nvPr/>
        </p:nvSpPr>
        <p:spPr>
          <a:xfrm>
            <a:off x="2756082" y="1375732"/>
            <a:ext cx="6280413" cy="1772082"/>
          </a:xfrm>
          <a:prstGeom prst="rect">
            <a:avLst/>
          </a:prstGeom>
          <a:solidFill>
            <a:srgbClr val="9AD3E9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b="1" dirty="0"/>
              <a:t>실험 결과</a:t>
            </a:r>
            <a:endParaRPr lang="en-US" altLang="ko-KR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 altLang="ko-KR" dirty="0"/>
              <a:t>DNA </a:t>
            </a:r>
            <a:r>
              <a:rPr lang="ko-KR" altLang="en-US" dirty="0"/>
              <a:t>추출</a:t>
            </a:r>
            <a:endParaRPr lang="en-US" altLang="ko-KR" dirty="0"/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323527" y="1375732"/>
            <a:ext cx="2354320" cy="504304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ko-KR" altLang="en-US" sz="2000" b="1" dirty="0">
                <a:solidFill>
                  <a:schemeClr val="accent2"/>
                </a:solidFill>
                <a:cs typeface="Arial" pitchFamily="34" charset="0"/>
              </a:rPr>
              <a:t>실험 결과</a:t>
            </a:r>
            <a:endParaRPr lang="en-US" altLang="ko-KR" sz="20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99A75-5ED4-4338-B9EC-D716A1532B4F}"/>
              </a:ext>
            </a:extLst>
          </p:cNvPr>
          <p:cNvSpPr txBox="1"/>
          <p:nvPr/>
        </p:nvSpPr>
        <p:spPr>
          <a:xfrm>
            <a:off x="2756084" y="1383279"/>
            <a:ext cx="6372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 미세한 흰색 덩어리들이 알코올을 넣자 생겨났다</a:t>
            </a:r>
            <a:r>
              <a:rPr lang="en-US" altLang="ko-KR" sz="2000" dirty="0"/>
              <a:t>. </a:t>
            </a:r>
            <a:r>
              <a:rPr lang="ko-KR" altLang="en-US" sz="2000" dirty="0"/>
              <a:t>거름종이에 한 번 거른 혼합 용액이었기 때문에 과일의 과육이 섞인 것이 아니라 과육 속 식물세포의 </a:t>
            </a:r>
            <a:r>
              <a:rPr lang="en-US" altLang="ko-KR" sz="2000" dirty="0"/>
              <a:t>DNA</a:t>
            </a:r>
            <a:r>
              <a:rPr lang="ko-KR" altLang="en-US" sz="2000" dirty="0"/>
              <a:t>가 알코올에 의해 침전되었음을 알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 침전된 </a:t>
            </a:r>
            <a:r>
              <a:rPr lang="en-US" altLang="ko-KR" sz="2000" dirty="0"/>
              <a:t>DNA</a:t>
            </a:r>
            <a:r>
              <a:rPr lang="ko-KR" altLang="en-US" sz="2000" dirty="0"/>
              <a:t>를 우리가 육안으로 볼 수 있다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  <p:pic>
        <p:nvPicPr>
          <p:cNvPr id="11" name="그림 10" descr="실내, 음료, 플라스틱, 유리이(가) 표시된 사진&#10;&#10;자동 생성된 설명">
            <a:extLst>
              <a:ext uri="{FF2B5EF4-FFF2-40B4-BE49-F238E27FC236}">
                <a16:creationId xmlns:a16="http://schemas.microsoft.com/office/drawing/2014/main" id="{2CCAAD6E-1566-4B98-84A2-2F9E38D2B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66" y="1865986"/>
            <a:ext cx="2324381" cy="25636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0853781-F290-44A4-8B86-4DF61F5D8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082" y="3167009"/>
            <a:ext cx="1646063" cy="17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24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54BDCA-E61C-4329-81BA-666265CFB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389B40B-B811-47B6-B6C5-2BFEFD67A2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9754529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theme/theme1.xml><?xml version="1.0" encoding="utf-8"?>
<a:theme xmlns:a="http://schemas.openxmlformats.org/drawingml/2006/main" name="Cover and End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8DFBB"/>
      </a:accent3>
      <a:accent4>
        <a:srgbClr val="9AD3E9"/>
      </a:accent4>
      <a:accent5>
        <a:srgbClr val="576868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AD3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</TotalTime>
  <Words>638</Words>
  <Application>Microsoft Office PowerPoint</Application>
  <PresentationFormat>화면 슬라이드 쇼(16:9)</PresentationFormat>
  <Paragraphs>48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굴림</vt:lpstr>
      <vt:lpstr>돋움</vt:lpstr>
      <vt:lpstr>맑은 고딕</vt:lpstr>
      <vt:lpstr>함초롬바탕</vt:lpstr>
      <vt:lpstr>Arial</vt:lpstr>
      <vt:lpstr>Wingdings</vt:lpstr>
      <vt:lpstr>Cover and End Slide Master</vt:lpstr>
      <vt:lpstr>Contents Slide Master</vt:lpstr>
      <vt:lpstr>Section Break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김정훈</cp:lastModifiedBy>
  <cp:revision>82</cp:revision>
  <dcterms:created xsi:type="dcterms:W3CDTF">2016-12-05T23:26:54Z</dcterms:created>
  <dcterms:modified xsi:type="dcterms:W3CDTF">2021-10-29T05:06:38Z</dcterms:modified>
</cp:coreProperties>
</file>