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1AC64-CEFC-40C7-9B4B-64CE17B3EBB0}" type="datetimeFigureOut">
              <a:rPr lang="ko-KR" altLang="en-US" smtClean="0"/>
              <a:t>2021-10-24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A19A7-9001-4F8C-B8E2-CAE042279B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027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none" spc="13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F81C-1FCB-4DBA-8044-F1A0FCFD45A6}" type="datetime1">
              <a:rPr lang="en-US" smtClean="0"/>
              <a:t>10/24/2021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773D-8987-489A-A650-3D6F7D5C7C38}" type="datetime1">
              <a:rPr lang="en-US" smtClean="0"/>
              <a:t>10/24/2021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50C1-1D78-4D80-810D-E9E86F6E88AB}" type="datetime1">
              <a:rPr lang="en-US" smtClean="0"/>
              <a:t>10/24/2021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1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CBD8-1588-4B6B-B74D-87480DDE94C0}" type="datetime1">
              <a:rPr lang="en-US" smtClean="0"/>
              <a:t>10/24/2021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39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440-721C-4D75-BD4F-4CFB3D51CDCA}" type="datetime1">
              <a:rPr lang="en-US" smtClean="0"/>
              <a:t>10/24/2021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45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01A64-483B-4532-94FB-D8F90CB6DEE0}" type="datetime1">
              <a:rPr lang="en-US" smtClean="0"/>
              <a:t>10/24/2021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77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FB39-20FB-4E2E-B861-45B709B9C3C5}" type="datetime1">
              <a:rPr lang="en-US" smtClean="0"/>
              <a:t>10/24/2021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73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AC19-8BD6-476C-9770-8884373BCF00}" type="datetime1">
              <a:rPr lang="en-US" smtClean="0"/>
              <a:t>10/24/2021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3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8C53-8AD1-4F09-9486-FB3406B99CFA}" type="datetime1">
              <a:rPr lang="en-US" smtClean="0"/>
              <a:t>10/24/2021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93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92B3-2D87-4CDF-B84B-C46E5F5D31F7}" type="datetime1">
              <a:rPr lang="en-US" smtClean="0"/>
              <a:t>10/24/2021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9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9E57-47B1-47B0-B526-3153E4B1E729}" type="datetime1">
              <a:rPr lang="en-US" smtClean="0"/>
              <a:t>10/24/2021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32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BA543EDD-D0D2-447F-B24F-3717AF4B109D}" type="datetime1">
              <a:rPr lang="en-US" smtClean="0"/>
              <a:pPr/>
              <a:t>10/24/2021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1200" b="1" cap="none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18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8" r:id="rId2"/>
    <p:sldLayoutId id="2147483747" r:id="rId3"/>
    <p:sldLayoutId id="2147483746" r:id="rId4"/>
    <p:sldLayoutId id="2147483745" r:id="rId5"/>
    <p:sldLayoutId id="2147483744" r:id="rId6"/>
    <p:sldLayoutId id="2147483743" r:id="rId7"/>
    <p:sldLayoutId id="2147483742" r:id="rId8"/>
    <p:sldLayoutId id="2147483741" r:id="rId9"/>
    <p:sldLayoutId id="2147483740" r:id="rId10"/>
    <p:sldLayoutId id="2147483739" r:id="rId11"/>
  </p:sldLayoutIdLst>
  <p:hf sldNum="0" hdr="0" ftr="0" dt="0"/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400" b="1" kern="1200" spc="8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 spc="3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 spc="3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3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3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3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kjhmatt.github.io/Score_Percent.exe" TargetMode="External"/><Relationship Id="rId2" Type="http://schemas.openxmlformats.org/officeDocument/2006/relationships/hyperlink" Target="http://kjhmatt.github.io/Score_Percent.p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08C40F4-6A24-4867-B726-B552DB080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550" y="555675"/>
            <a:ext cx="4860256" cy="5696169"/>
            <a:chOff x="1481312" y="743744"/>
            <a:chExt cx="4860256" cy="458931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54BF10E-4559-4F28-91B0-3D0C2C486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B0B5A20-FCFE-4AED-B5A3-91D3DE935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6CA2F4C-8E9E-4BCD-B6E8-A68A311CA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967" y="460296"/>
            <a:ext cx="4860256" cy="569616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1049185-56F1-4AC4-A31F-565E0D774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119" y="810623"/>
            <a:ext cx="4429556" cy="3570162"/>
          </a:xfrm>
        </p:spPr>
        <p:txBody>
          <a:bodyPr anchor="b">
            <a:normAutofit/>
          </a:bodyPr>
          <a:lstStyle/>
          <a:p>
            <a:pPr>
              <a:lnSpc>
                <a:spcPct val="95000"/>
              </a:lnSpc>
            </a:pPr>
            <a:r>
              <a:rPr lang="ko-KR" altLang="en-US" sz="5600" dirty="0">
                <a:gradFill flip="none" rotWithShape="1">
                  <a:gsLst>
                    <a:gs pos="0">
                      <a:schemeClr val="accent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2">
                        <a:lumMod val="75000"/>
                        <a:shade val="100000"/>
                        <a:satMod val="115000"/>
                      </a:schemeClr>
                    </a:gs>
                  </a:gsLst>
                  <a:lin ang="10800000" scaled="1"/>
                  <a:tileRect/>
                </a:gradFill>
                <a:ea typeface="문체부 제목 돋음체" panose="020B0609000101010101" pitchFamily="49" charset="-127"/>
              </a:rPr>
              <a:t>정규분포로</a:t>
            </a:r>
            <a:br>
              <a:rPr lang="en-US" altLang="ko-KR" sz="5600" dirty="0">
                <a:gradFill flip="none" rotWithShape="1">
                  <a:gsLst>
                    <a:gs pos="0">
                      <a:schemeClr val="accent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2">
                        <a:lumMod val="75000"/>
                        <a:shade val="100000"/>
                        <a:satMod val="115000"/>
                      </a:schemeClr>
                    </a:gs>
                  </a:gsLst>
                  <a:lin ang="10800000" scaled="1"/>
                  <a:tileRect/>
                </a:gradFill>
                <a:ea typeface="문체부 제목 돋음체" panose="020B0609000101010101" pitchFamily="49" charset="-127"/>
              </a:rPr>
            </a:br>
            <a:r>
              <a:rPr lang="ko-KR" altLang="en-US" sz="5600" dirty="0">
                <a:gradFill flip="none" rotWithShape="1">
                  <a:gsLst>
                    <a:gs pos="0">
                      <a:schemeClr val="accent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2">
                        <a:lumMod val="75000"/>
                        <a:shade val="100000"/>
                        <a:satMod val="115000"/>
                      </a:schemeClr>
                    </a:gs>
                  </a:gsLst>
                  <a:lin ang="10800000" scaled="1"/>
                  <a:tileRect/>
                </a:gradFill>
                <a:ea typeface="문체부 제목 돋음체" panose="020B0609000101010101" pitchFamily="49" charset="-127"/>
              </a:rPr>
              <a:t>자신의 등수를</a:t>
            </a:r>
            <a:br>
              <a:rPr lang="en-US" altLang="ko-KR" sz="5600" dirty="0">
                <a:ea typeface="문체부 제목 돋음체" panose="020B0609000101010101" pitchFamily="49" charset="-127"/>
              </a:rPr>
            </a:br>
            <a:r>
              <a:rPr lang="ko-KR" altLang="en-US" sz="5600" dirty="0">
                <a:gradFill flip="none" rotWithShape="1">
                  <a:gsLst>
                    <a:gs pos="0">
                      <a:schemeClr val="accent1">
                        <a:lumMod val="50000"/>
                        <a:shade val="30000"/>
                        <a:satMod val="115000"/>
                      </a:schemeClr>
                    </a:gs>
                    <a:gs pos="50000">
                      <a:schemeClr val="accent1">
                        <a:lumMod val="50000"/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lumMod val="50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ea typeface="문체부 제목 돋음체" panose="020B0609000101010101" pitchFamily="49" charset="-127"/>
              </a:rPr>
              <a:t>얻는 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0EF335-E223-4F98-981A-B99F888B18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93" r="1" b="13454"/>
          <a:stretch/>
        </p:blipFill>
        <p:spPr>
          <a:xfrm>
            <a:off x="6359308" y="470930"/>
            <a:ext cx="4833901" cy="5696169"/>
          </a:xfrm>
          <a:prstGeom prst="rect">
            <a:avLst/>
          </a:prstGeom>
          <a:ln w="28575">
            <a:noFill/>
          </a:ln>
        </p:spPr>
      </p:pic>
      <p:sp>
        <p:nvSpPr>
          <p:cNvPr id="31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2917" y="937735"/>
            <a:ext cx="891066" cy="89106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3" name="Graphic 212">
            <a:extLst>
              <a:ext uri="{FF2B5EF4-FFF2-40B4-BE49-F238E27FC236}">
                <a16:creationId xmlns:a16="http://schemas.microsoft.com/office/drawing/2014/main" id="{96FD6442-EB7D-4992-8D41-0B7FFDCB4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2917" y="937735"/>
            <a:ext cx="891066" cy="89106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5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58306" y="2360859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2610" y="5308473"/>
            <a:ext cx="445835" cy="44583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004781B-698F-46D5-AADD-8AE921171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2610" y="5308473"/>
            <a:ext cx="445835" cy="445835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E26132-83DE-4A72-B784-101A58A6102A}"/>
              </a:ext>
            </a:extLst>
          </p:cNvPr>
          <p:cNvSpPr txBox="1"/>
          <p:nvPr/>
        </p:nvSpPr>
        <p:spPr>
          <a:xfrm>
            <a:off x="3926555" y="5678045"/>
            <a:ext cx="180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2604 </a:t>
            </a:r>
            <a:r>
              <a:rPr lang="ko-KR" altLang="en-US" dirty="0"/>
              <a:t>김정훈</a:t>
            </a:r>
          </a:p>
        </p:txBody>
      </p:sp>
    </p:spTree>
    <p:extLst>
      <p:ext uri="{BB962C8B-B14F-4D97-AF65-F5344CB8AC3E}">
        <p14:creationId xmlns:p14="http://schemas.microsoft.com/office/powerpoint/2010/main" val="4845815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7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5C4DC3-E609-471F-9327-8A00A8A9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문체부 제목 돋음체" panose="020B0609000101010101" pitchFamily="49" charset="-127"/>
              </a:rPr>
              <a:t>1. </a:t>
            </a:r>
            <a:r>
              <a:rPr lang="ko-KR" altLang="en-US" dirty="0">
                <a:ea typeface="문체부 제목 돋음체" panose="020B0609000101010101" pitchFamily="49" charset="-127"/>
              </a:rPr>
              <a:t>선정 동기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43EEFF-0544-46A8-9431-3EFE8219B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중학교에 다닐 때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성적표에 과목의 평균점수와 해당 과목 표준편차만이 제시되어 있었는데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그럴 때도 나의 등수가 어느 정도인지 알고 싶을 때가 종종 있었다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.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그럴 때 학생들의 성적이 표준정규분포를 </a:t>
            </a:r>
            <a:r>
              <a:rPr lang="ko-KR" altLang="en-US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따른다고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 했을 때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대략적인 등수를 계산해주는 프로그램을 활용하곤 했다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.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그 원리를 좀 더 깊이 조사해보고 싶었다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.</a:t>
            </a:r>
            <a:endParaRPr lang="ko-KR" altLang="en-US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문체부 돋음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33566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3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C23223-B720-4768-BEB8-19438445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784" y="396117"/>
            <a:ext cx="5217172" cy="1158857"/>
          </a:xfrm>
        </p:spPr>
        <p:txBody>
          <a:bodyPr anchor="b">
            <a:normAutofit/>
          </a:bodyPr>
          <a:lstStyle/>
          <a:p>
            <a:r>
              <a:rPr lang="en-US" altLang="ko-KR" sz="4100"/>
              <a:t>2. </a:t>
            </a:r>
            <a:r>
              <a:rPr lang="ko-KR" altLang="en-US" sz="4100"/>
              <a:t>등수 추정 프로그램</a:t>
            </a:r>
          </a:p>
        </p:txBody>
      </p:sp>
      <p:grpSp>
        <p:nvGrpSpPr>
          <p:cNvPr id="30" name="Graphic 38">
            <a:extLst>
              <a:ext uri="{FF2B5EF4-FFF2-40B4-BE49-F238E27FC236}">
                <a16:creationId xmlns:a16="http://schemas.microsoft.com/office/drawing/2014/main" id="{9742E72B-7FDB-4BC3-84CE-9A8675647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583" y="975545"/>
            <a:ext cx="1910252" cy="709660"/>
            <a:chOff x="2267504" y="2540250"/>
            <a:chExt cx="1990951" cy="739640"/>
          </a:xfrm>
          <a:solidFill>
            <a:schemeClr val="tx1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E41CB4E-1ACC-413B-9806-FF276C0F0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5">
              <a:extLst>
                <a:ext uri="{FF2B5EF4-FFF2-40B4-BE49-F238E27FC236}">
                  <a16:creationId xmlns:a16="http://schemas.microsoft.com/office/drawing/2014/main" id="{29B54E44-06C0-461C-A803-0F535321A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3" name="Oval 37">
            <a:extLst>
              <a:ext uri="{FF2B5EF4-FFF2-40B4-BE49-F238E27FC236}">
                <a16:creationId xmlns:a16="http://schemas.microsoft.com/office/drawing/2014/main" id="{09645E15-CD1B-4EAA-B2F2-D41E53CA4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Oval 39">
            <a:extLst>
              <a:ext uri="{FF2B5EF4-FFF2-40B4-BE49-F238E27FC236}">
                <a16:creationId xmlns:a16="http://schemas.microsoft.com/office/drawing/2014/main" id="{0C571069-A359-469A-98CD-9458DBAA0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4752208"/>
            <a:ext cx="365021" cy="36502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내용 개체 틀 4" descr="텍스트이(가) 표시된 사진&#10;&#10;자동 생성된 설명">
            <a:extLst>
              <a:ext uri="{FF2B5EF4-FFF2-40B4-BE49-F238E27FC236}">
                <a16:creationId xmlns:a16="http://schemas.microsoft.com/office/drawing/2014/main" id="{A14FA282-0DB2-4D33-BE8B-D07082EE9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305" y="1993870"/>
            <a:ext cx="4324174" cy="2626935"/>
          </a:xfrm>
          <a:prstGeom prst="rect">
            <a:avLst/>
          </a:prstGeom>
        </p:spPr>
      </p:pic>
      <p:grpSp>
        <p:nvGrpSpPr>
          <p:cNvPr id="39" name="Graphic 4">
            <a:extLst>
              <a:ext uri="{FF2B5EF4-FFF2-40B4-BE49-F238E27FC236}">
                <a16:creationId xmlns:a16="http://schemas.microsoft.com/office/drawing/2014/main" id="{A61BDD87-32CE-4DE2-AAE1-62C2F4793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4903343"/>
            <a:ext cx="975169" cy="975171"/>
            <a:chOff x="5829300" y="3162300"/>
            <a:chExt cx="532256" cy="532257"/>
          </a:xfrm>
          <a:solidFill>
            <a:schemeClr val="tx1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F0F3645-6645-44FD-A4C7-06D41C099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3">
              <a:extLst>
                <a:ext uri="{FF2B5EF4-FFF2-40B4-BE49-F238E27FC236}">
                  <a16:creationId xmlns:a16="http://schemas.microsoft.com/office/drawing/2014/main" id="{65458736-D4A2-40D4-9420-C40AEB2AB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68FA6A4-209B-443A-9CF2-FFDC90EC3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45">
              <a:extLst>
                <a:ext uri="{FF2B5EF4-FFF2-40B4-BE49-F238E27FC236}">
                  <a16:creationId xmlns:a16="http://schemas.microsoft.com/office/drawing/2014/main" id="{EEB0A6C9-E0F4-403E-8FB7-5FF4F1F64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46">
              <a:extLst>
                <a:ext uri="{FF2B5EF4-FFF2-40B4-BE49-F238E27FC236}">
                  <a16:creationId xmlns:a16="http://schemas.microsoft.com/office/drawing/2014/main" id="{6DA5950E-75DA-4E34-99EB-898254870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47">
              <a:extLst>
                <a:ext uri="{FF2B5EF4-FFF2-40B4-BE49-F238E27FC236}">
                  <a16:creationId xmlns:a16="http://schemas.microsoft.com/office/drawing/2014/main" id="{6F609E6F-709D-42D6-8E54-91E37E2B1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48">
              <a:extLst>
                <a:ext uri="{FF2B5EF4-FFF2-40B4-BE49-F238E27FC236}">
                  <a16:creationId xmlns:a16="http://schemas.microsoft.com/office/drawing/2014/main" id="{0C4707FB-9E68-4EBA-A4E0-4516F1506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49">
              <a:extLst>
                <a:ext uri="{FF2B5EF4-FFF2-40B4-BE49-F238E27FC236}">
                  <a16:creationId xmlns:a16="http://schemas.microsoft.com/office/drawing/2014/main" id="{A799771A-5CA8-4CCE-B4F5-FE8C20379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50">
              <a:extLst>
                <a:ext uri="{FF2B5EF4-FFF2-40B4-BE49-F238E27FC236}">
                  <a16:creationId xmlns:a16="http://schemas.microsoft.com/office/drawing/2014/main" id="{461D636C-9A38-466B-BD92-39795F493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99F3BD6-49A2-4D64-A3C0-8EFCEF9D9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ABC753B-C028-4FCD-9D53-2BDBB2644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A8F316F-3B46-4F37-AB8C-E69368303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636F8A8-BD35-4E0B-901B-1589A0534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1151EC-DD8B-4E58-831E-B6687E606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783" y="1747592"/>
            <a:ext cx="5217173" cy="4351338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원점수</a:t>
            </a:r>
            <a:r>
              <a:rPr lang="en-US" altLang="ko-KR" dirty="0"/>
              <a:t>, </a:t>
            </a:r>
            <a:r>
              <a:rPr lang="ko-KR" altLang="en-US" dirty="0"/>
              <a:t>과목평균</a:t>
            </a:r>
            <a:r>
              <a:rPr lang="en-US" altLang="ko-KR" dirty="0"/>
              <a:t>, </a:t>
            </a:r>
            <a:r>
              <a:rPr lang="ko-KR" altLang="en-US" dirty="0"/>
              <a:t>표준편차</a:t>
            </a:r>
            <a:r>
              <a:rPr lang="en-US" altLang="ko-KR" dirty="0"/>
              <a:t>, </a:t>
            </a:r>
            <a:r>
              <a:rPr lang="ko-KR" altLang="en-US" dirty="0"/>
              <a:t>학생 수를 통해서 구할 수 있음</a:t>
            </a:r>
            <a:endParaRPr lang="en-US" altLang="ko-KR" dirty="0"/>
          </a:p>
          <a:p>
            <a:r>
              <a:rPr lang="ko-KR" altLang="en-US" dirty="0"/>
              <a:t>완전히 정확한 값은 구하기 힘드나</a:t>
            </a:r>
            <a:r>
              <a:rPr lang="en-US" altLang="ko-KR" dirty="0"/>
              <a:t>, </a:t>
            </a:r>
            <a:r>
              <a:rPr lang="ko-KR" altLang="en-US" dirty="0"/>
              <a:t>비슷한 값을 </a:t>
            </a:r>
            <a:r>
              <a:rPr lang="ko-KR" altLang="en-US" dirty="0" err="1"/>
              <a:t>도출해냄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570A0-9C9A-4A9E-8F98-58724FB33E00}"/>
              </a:ext>
            </a:extLst>
          </p:cNvPr>
          <p:cNvSpPr txBox="1"/>
          <p:nvPr/>
        </p:nvSpPr>
        <p:spPr>
          <a:xfrm>
            <a:off x="2833180" y="4480529"/>
            <a:ext cx="2469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출처</a:t>
            </a:r>
            <a:r>
              <a:rPr lang="en-US" altLang="ko-KR" sz="1400" dirty="0"/>
              <a:t>: https://blog.iqtest.kr/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101116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96BD5-F8F0-4245-86A4-0705F002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이론적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693B5-3207-4DEE-A165-B4ED561BB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연속확률변수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연속확률분포는 확률변수 </a:t>
            </a:r>
            <a:r>
              <a:rPr lang="en-US" altLang="ko-KR" dirty="0"/>
              <a:t>X</a:t>
            </a:r>
            <a:r>
              <a:rPr lang="ko-KR" altLang="en-US" dirty="0"/>
              <a:t>가 어떤 범위에 속하는 모든 실수 값을 가질 때</a:t>
            </a:r>
            <a:r>
              <a:rPr lang="en-US" altLang="ko-KR" dirty="0"/>
              <a:t>, </a:t>
            </a:r>
            <a:r>
              <a:rPr lang="ko-KR" altLang="en-US" dirty="0"/>
              <a:t>확률변수 </a:t>
            </a:r>
            <a:r>
              <a:rPr lang="en-US" altLang="ko-KR" dirty="0"/>
              <a:t>X</a:t>
            </a:r>
            <a:r>
              <a:rPr lang="ko-KR" altLang="en-US" dirty="0"/>
              <a:t>의 확률분포를 말한다</a:t>
            </a:r>
            <a:r>
              <a:rPr lang="en-US" altLang="ko-KR" dirty="0"/>
              <a:t>. </a:t>
            </a:r>
            <a:r>
              <a:rPr lang="ko-KR" altLang="en-US" dirty="0"/>
              <a:t>연속확률분포 중 가장 많이 사용되는 것은 </a:t>
            </a:r>
            <a:r>
              <a:rPr lang="ko-KR" altLang="en-US" dirty="0">
                <a:solidFill>
                  <a:srgbClr val="FF0000"/>
                </a:solidFill>
              </a:rPr>
              <a:t>정규 분포</a:t>
            </a:r>
            <a:r>
              <a:rPr lang="en-US" altLang="ko-KR" dirty="0"/>
              <a:t>, </a:t>
            </a:r>
            <a:r>
              <a:rPr lang="ko-KR" altLang="en-US" dirty="0" err="1"/>
              <a:t>연속균등분포</a:t>
            </a:r>
            <a:r>
              <a:rPr lang="en-US" altLang="ko-KR" dirty="0"/>
              <a:t>, </a:t>
            </a:r>
            <a:r>
              <a:rPr lang="ko-KR" altLang="en-US" dirty="0" err="1"/>
              <a:t>카이제곱</a:t>
            </a:r>
            <a:r>
              <a:rPr lang="ko-KR" altLang="en-US" dirty="0"/>
              <a:t> 분포</a:t>
            </a:r>
            <a:r>
              <a:rPr lang="en-US" altLang="ko-KR" dirty="0"/>
              <a:t>, </a:t>
            </a:r>
            <a:r>
              <a:rPr lang="ko-KR" altLang="en-US" dirty="0"/>
              <a:t>감마 분포가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406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994DB-C852-4899-B296-43B797648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등수 추정 프로그램의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32FD87-D2D2-49E4-80A8-B1026E361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정규분포를 이용한다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3BF2BB-C68D-4CD4-AE66-F892FCB19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25" y="2445602"/>
            <a:ext cx="4587193" cy="11196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ACA328-C010-4C12-AED6-3CEB6D4A5369}"/>
              </a:ext>
            </a:extLst>
          </p:cNvPr>
          <p:cNvSpPr txBox="1"/>
          <p:nvPr/>
        </p:nvSpPr>
        <p:spPr>
          <a:xfrm>
            <a:off x="5833533" y="2235646"/>
            <a:ext cx="34374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σ: </a:t>
            </a:r>
            <a:r>
              <a:rPr lang="ko-KR" altLang="en-US" sz="3200" dirty="0"/>
              <a:t>표준편차</a:t>
            </a:r>
            <a:endParaRPr lang="en-US" altLang="ko-KR" sz="3200" dirty="0"/>
          </a:p>
          <a:p>
            <a:r>
              <a:rPr lang="en-US" altLang="ko-KR" sz="3200" dirty="0"/>
              <a:t>μ: </a:t>
            </a:r>
            <a:r>
              <a:rPr lang="ko-KR" altLang="en-US" sz="3200" dirty="0"/>
              <a:t>평균</a:t>
            </a:r>
          </a:p>
        </p:txBody>
      </p:sp>
    </p:spTree>
    <p:extLst>
      <p:ext uri="{BB962C8B-B14F-4D97-AF65-F5344CB8AC3E}">
        <p14:creationId xmlns:p14="http://schemas.microsoft.com/office/powerpoint/2010/main" val="405350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5CFDF-285F-4250-A97A-26638120C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표준정규분포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6BCD02-5D1E-40EF-AE2F-0A54774D2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정규분포를 따르는 확률변수 </a:t>
            </a:r>
            <a:r>
              <a:rPr lang="en-US" altLang="ko-KR" dirty="0"/>
              <a:t>X</a:t>
            </a:r>
            <a:r>
              <a:rPr lang="ko-KR" altLang="en-US" dirty="0"/>
              <a:t>는 연속확률변수의 한 종류이므로 정규분포곡선과 </a:t>
            </a:r>
            <a:r>
              <a:rPr lang="en-US" altLang="ko-KR" dirty="0"/>
              <a:t>x</a:t>
            </a:r>
            <a:r>
              <a:rPr lang="ko-KR" altLang="en-US" dirty="0"/>
              <a:t>축 사이의 넓이를 이용해서 확률을 구하게 되는데</a:t>
            </a:r>
            <a:r>
              <a:rPr lang="en-US" altLang="ko-KR" dirty="0"/>
              <a:t>, </a:t>
            </a:r>
            <a:r>
              <a:rPr lang="ko-KR" altLang="en-US" dirty="0"/>
              <a:t>앞 페이지의 수식과 같이 정규분포의 확률함수는 매우 복잡한 형태를 가지고 있다</a:t>
            </a:r>
            <a:r>
              <a:rPr lang="en-US" altLang="ko-KR" dirty="0"/>
              <a:t>. </a:t>
            </a:r>
            <a:r>
              <a:rPr lang="ko-KR" altLang="en-US" dirty="0"/>
              <a:t>이를 편하게 계산하기 위해서 </a:t>
            </a:r>
            <a:r>
              <a:rPr lang="en-US" altLang="ko-KR" dirty="0"/>
              <a:t>“</a:t>
            </a:r>
            <a:r>
              <a:rPr lang="ko-KR" altLang="en-US" dirty="0"/>
              <a:t>표준정규분포표</a:t>
            </a:r>
            <a:r>
              <a:rPr lang="en-US" altLang="ko-KR" dirty="0"/>
              <a:t>＂</a:t>
            </a:r>
            <a:r>
              <a:rPr lang="ko-KR" altLang="en-US" dirty="0"/>
              <a:t>를 사용하는데</a:t>
            </a:r>
            <a:r>
              <a:rPr lang="en-US" altLang="ko-KR" dirty="0"/>
              <a:t>, </a:t>
            </a:r>
            <a:r>
              <a:rPr lang="ko-KR" altLang="en-US" dirty="0"/>
              <a:t>이를 통하여 정규분포를 표준정규분포로 변형해서 확률을 쉽게 구할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2383904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CAF93-11EC-4D42-839A-794A3FF6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7BADAC-601E-4E81-9089-56353C15B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2733" cy="2483908"/>
          </a:xfrm>
        </p:spPr>
        <p:txBody>
          <a:bodyPr/>
          <a:lstStyle/>
          <a:p>
            <a:r>
              <a:rPr lang="ko-KR" altLang="en-US" dirty="0"/>
              <a:t>지난 </a:t>
            </a:r>
            <a:r>
              <a:rPr lang="en-US" altLang="ko-KR" dirty="0"/>
              <a:t>2021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/>
              <a:t>월 고</a:t>
            </a:r>
            <a:r>
              <a:rPr lang="en-US" altLang="ko-KR" dirty="0"/>
              <a:t>2 </a:t>
            </a:r>
            <a:r>
              <a:rPr lang="ko-KR" altLang="en-US" dirty="0"/>
              <a:t>국어 학력평가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평균 </a:t>
            </a:r>
            <a:r>
              <a:rPr lang="ko-KR" altLang="en-US" dirty="0" err="1"/>
              <a:t>원점수</a:t>
            </a:r>
            <a:r>
              <a:rPr lang="ko-KR" altLang="en-US" dirty="0"/>
              <a:t> </a:t>
            </a:r>
            <a:r>
              <a:rPr lang="en-US" altLang="ko-KR" dirty="0"/>
              <a:t>52.64</a:t>
            </a:r>
          </a:p>
          <a:p>
            <a:r>
              <a:rPr lang="ko-KR" altLang="en-US" dirty="0"/>
              <a:t>표준편차 </a:t>
            </a:r>
            <a:r>
              <a:rPr lang="en-US" altLang="ko-KR" dirty="0"/>
              <a:t>22.73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E30847-A9F2-4407-BF16-9D09AFD11E1F}"/>
              </a:ext>
            </a:extLst>
          </p:cNvPr>
          <p:cNvSpPr txBox="1"/>
          <p:nvPr/>
        </p:nvSpPr>
        <p:spPr>
          <a:xfrm>
            <a:off x="7603067" y="1303867"/>
            <a:ext cx="3081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N(52.64, 22.73)</a:t>
            </a:r>
            <a:r>
              <a:rPr lang="ko-KR" altLang="en-US" dirty="0"/>
              <a:t>을 따른다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CA6587-C46B-4220-9D84-49856B8C4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066" y="1690688"/>
            <a:ext cx="1692771" cy="9233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D74EDC-EBD5-4B12-AF7D-CEE26A3D0F0D}"/>
              </a:ext>
            </a:extLst>
          </p:cNvPr>
          <p:cNvSpPr txBox="1"/>
          <p:nvPr/>
        </p:nvSpPr>
        <p:spPr>
          <a:xfrm>
            <a:off x="7713134" y="2605914"/>
            <a:ext cx="3640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에서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Z=(98-52.64)/22.73</a:t>
            </a:r>
          </a:p>
          <a:p>
            <a:r>
              <a:rPr lang="en-US" altLang="ko-KR" dirty="0"/>
              <a:t>=1.995600……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373712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C0F09-9933-45E4-8602-6CDA7497E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정규분포표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F05CF47-3429-4235-91DD-4AB243DC0B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307697"/>
              </p:ext>
            </p:extLst>
          </p:nvPr>
        </p:nvGraphicFramePr>
        <p:xfrm>
          <a:off x="1199122" y="1817951"/>
          <a:ext cx="9849873" cy="4363770"/>
        </p:xfrm>
        <a:graphic>
          <a:graphicData uri="http://schemas.openxmlformats.org/drawingml/2006/table">
            <a:tbl>
              <a:tblPr/>
              <a:tblGrid>
                <a:gridCol w="895443">
                  <a:extLst>
                    <a:ext uri="{9D8B030D-6E8A-4147-A177-3AD203B41FA5}">
                      <a16:colId xmlns:a16="http://schemas.microsoft.com/office/drawing/2014/main" val="3669103318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3096394496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871679277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461981266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2593674962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1943305078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1131619489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4236073228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3830993148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3492213977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1196551515"/>
                    </a:ext>
                  </a:extLst>
                </a:gridCol>
              </a:tblGrid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sz="1500" i="1">
                          <a:effectLst/>
                        </a:rPr>
                        <a:t>z</a:t>
                      </a:r>
                      <a:endParaRPr lang="en-US" sz="1500">
                        <a:effectLst/>
                      </a:endParaRP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714301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1.5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0.93319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dirty="0">
                          <a:effectLst/>
                        </a:rPr>
                        <a:t>0.93448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0.93574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0.93699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0.93822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0.93943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0.94062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0.94179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0.94295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dirty="0">
                          <a:effectLst/>
                        </a:rPr>
                        <a:t>0.94408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953067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1.6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0.94520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0.94630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0.94738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0.94845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0.94950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0.95053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0.95154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0.95254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0.95352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0.95449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889834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1.7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0.95543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0.95637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0.95728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0.95818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0.95907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0.95994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0.96080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0.96164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0.96246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0.96327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917128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1.8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0.96407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0.96485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0.96562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0.96638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0.96712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0.96784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0.96856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0.96926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0.96995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0.97062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23512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1.9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0.97128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0.97193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0.97257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0.97320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0.97381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0.97441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0.97500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dirty="0">
                          <a:effectLst/>
                        </a:rPr>
                        <a:t>0.97558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0.97615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0.97670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341537"/>
                  </a:ext>
                </a:extLst>
              </a:tr>
              <a:tr h="259305">
                <a:tc>
                  <a:txBody>
                    <a:bodyPr/>
                    <a:lstStyle/>
                    <a:p>
                      <a:endParaRPr lang="ko-KR" altLang="en-US" sz="1500">
                        <a:effectLst/>
                      </a:endParaRP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595917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2.0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0.97725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0.97778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0.97831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0.97882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0.97932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0.97982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0.98030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0.98077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0.98124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0.98169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154140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2.1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0.98214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0.98257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0.98300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0.98341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0.98382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0.98422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0.98461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0.98500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0.98537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0.98574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056513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2.2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0.98610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0.98645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0.98679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0.98713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0.98745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0.98778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0.98809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0.98840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0.98870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0.98899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015657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2.3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0.98928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0.98956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0.98983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0.99010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0.99036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0.99061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0.99086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0.99111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0.99134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0.99158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66273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2.4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0.99180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0.99202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0.99224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0.99245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0.99266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0.99286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0.99305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0.99324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0.99343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0.99361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103123"/>
                  </a:ext>
                </a:extLst>
              </a:tr>
              <a:tr h="259305">
                <a:tc>
                  <a:txBody>
                    <a:bodyPr/>
                    <a:lstStyle/>
                    <a:p>
                      <a:endParaRPr lang="ko-KR" altLang="en-US" sz="1500">
                        <a:effectLst/>
                      </a:endParaRP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0676047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sz="1500" i="1">
                          <a:effectLst/>
                        </a:rPr>
                        <a:t>z</a:t>
                      </a:r>
                      <a:endParaRPr lang="en-US" sz="1500">
                        <a:effectLst/>
                      </a:endParaRP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 dirty="0">
                          <a:effectLst/>
                        </a:rPr>
                        <a:t>+ 0.09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1743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57D776A-BDD3-4CB3-BAD6-9269EEC207DD}"/>
              </a:ext>
            </a:extLst>
          </p:cNvPr>
          <p:cNvSpPr/>
          <p:nvPr/>
        </p:nvSpPr>
        <p:spPr>
          <a:xfrm>
            <a:off x="1199122" y="4009361"/>
            <a:ext cx="9849873" cy="3048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47F99F-2CF3-4048-A401-F4A13AC4F779}"/>
              </a:ext>
            </a:extLst>
          </p:cNvPr>
          <p:cNvSpPr/>
          <p:nvPr/>
        </p:nvSpPr>
        <p:spPr>
          <a:xfrm>
            <a:off x="2076450" y="1817951"/>
            <a:ext cx="904870" cy="249621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5C97A12-9DE9-4CC1-BA61-31ACAB378F17}"/>
              </a:ext>
            </a:extLst>
          </p:cNvPr>
          <p:cNvSpPr/>
          <p:nvPr/>
        </p:nvSpPr>
        <p:spPr>
          <a:xfrm>
            <a:off x="2076450" y="4009361"/>
            <a:ext cx="904870" cy="304800"/>
          </a:xfrm>
          <a:prstGeom prst="rect">
            <a:avLst/>
          </a:prstGeom>
          <a:noFill/>
          <a:ln w="571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99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7A90A-945C-4F9C-9ACC-3515A2153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해석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87F24E-7617-4582-8DC2-20F6FA161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구한 값</a:t>
            </a:r>
            <a:r>
              <a:rPr lang="en-US" altLang="ko-KR" dirty="0"/>
              <a:t>: 0.97725, </a:t>
            </a:r>
            <a:r>
              <a:rPr lang="ko-KR" altLang="en-US" dirty="0"/>
              <a:t>즉 </a:t>
            </a:r>
            <a:r>
              <a:rPr lang="en-US" altLang="ko-KR" dirty="0"/>
              <a:t>97.72%</a:t>
            </a:r>
          </a:p>
          <a:p>
            <a:r>
              <a:rPr lang="ko-KR" altLang="en-US" dirty="0"/>
              <a:t>실제 값</a:t>
            </a:r>
            <a:r>
              <a:rPr lang="en-US" altLang="ko-KR" dirty="0"/>
              <a:t>: 98.91%</a:t>
            </a:r>
          </a:p>
          <a:p>
            <a:endParaRPr lang="en-US" altLang="ko-KR" dirty="0"/>
          </a:p>
          <a:p>
            <a:r>
              <a:rPr lang="ko-KR" altLang="en-US" dirty="0"/>
              <a:t>점수가 </a:t>
            </a:r>
            <a:r>
              <a:rPr lang="en-US" altLang="ko-KR" dirty="0"/>
              <a:t>1</a:t>
            </a:r>
            <a:r>
              <a:rPr lang="ko-KR" altLang="en-US" dirty="0"/>
              <a:t>점식 떨어져 있으므로 완전한 연속확률변수가 아니라 이산확률변수여서 오차가 발생한 것으로 추정됨</a:t>
            </a:r>
          </a:p>
        </p:txBody>
      </p:sp>
    </p:spTree>
    <p:extLst>
      <p:ext uri="{BB962C8B-B14F-4D97-AF65-F5344CB8AC3E}">
        <p14:creationId xmlns:p14="http://schemas.microsoft.com/office/powerpoint/2010/main" val="90441934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F53C2-071D-47ED-A392-0ECE5B105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 탐구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D923AD-CBA9-4FC3-8106-020FBF951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양 </a:t>
            </a:r>
            <a:r>
              <a:rPr lang="ko-KR" altLang="en-US" dirty="0" err="1"/>
              <a:t>끝값이</a:t>
            </a:r>
            <a:r>
              <a:rPr lang="ko-KR" altLang="en-US" dirty="0"/>
              <a:t> 아니라 평균 근처에서의 오차는 얼마나 클까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등급 컷</a:t>
            </a:r>
            <a:r>
              <a:rPr lang="en-US" altLang="ko-KR" dirty="0"/>
              <a:t>: 62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백분율 </a:t>
            </a:r>
            <a:r>
              <a:rPr lang="en-US" altLang="ko-KR" dirty="0"/>
              <a:t>61%</a:t>
            </a:r>
          </a:p>
          <a:p>
            <a:r>
              <a:rPr lang="ko-KR" altLang="en-US" dirty="0"/>
              <a:t>이때 </a:t>
            </a:r>
            <a:r>
              <a:rPr lang="en-US" altLang="ko-KR" dirty="0"/>
              <a:t>Z=(62-52.64)/22.73=0.411790</a:t>
            </a:r>
          </a:p>
        </p:txBody>
      </p:sp>
    </p:spTree>
    <p:extLst>
      <p:ext uri="{BB962C8B-B14F-4D97-AF65-F5344CB8AC3E}">
        <p14:creationId xmlns:p14="http://schemas.microsoft.com/office/powerpoint/2010/main" val="3656462369"/>
      </p:ext>
    </p:extLst>
  </p:cSld>
  <p:clrMapOvr>
    <a:masterClrMapping/>
  </p:clrMapOvr>
  <p:transition spd="slow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7FE72BE-79BD-4A96-A3C5-B5768F202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42962"/>
              </p:ext>
            </p:extLst>
          </p:nvPr>
        </p:nvGraphicFramePr>
        <p:xfrm>
          <a:off x="973699" y="1858832"/>
          <a:ext cx="10030856" cy="4191660"/>
        </p:xfrm>
        <a:graphic>
          <a:graphicData uri="http://schemas.openxmlformats.org/drawingml/2006/table">
            <a:tbl>
              <a:tblPr/>
              <a:tblGrid>
                <a:gridCol w="911896">
                  <a:extLst>
                    <a:ext uri="{9D8B030D-6E8A-4147-A177-3AD203B41FA5}">
                      <a16:colId xmlns:a16="http://schemas.microsoft.com/office/drawing/2014/main" val="2787738505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1215923738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3423031327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3262290479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254612386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838091302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1608833053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968295828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3658882799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7178244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1861306466"/>
                    </a:ext>
                  </a:extLst>
                </a:gridCol>
              </a:tblGrid>
              <a:tr h="288600">
                <a:tc>
                  <a:txBody>
                    <a:bodyPr/>
                    <a:lstStyle/>
                    <a:p>
                      <a:pPr algn="ctr"/>
                      <a:r>
                        <a:rPr lang="en-US" sz="1500" i="1">
                          <a:effectLst/>
                        </a:rPr>
                        <a:t>z</a:t>
                      </a:r>
                      <a:endParaRPr lang="en-US" sz="1500">
                        <a:effectLst/>
                      </a:endParaRP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+ 0.08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043105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0.50000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0.50399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0.50798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0.51197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0.51595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0.51994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0.52392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0.52790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0.53188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0.53586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354290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0.53983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dirty="0">
                          <a:effectLst/>
                        </a:rPr>
                        <a:t>0.54380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0.54776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0.55172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0.55567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0.55962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0.56360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0.56749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0.57142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0.57535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884063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0.57926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0.58317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0.58706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0.59095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0.59483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0.59871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0.60257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0.60642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0.61026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0.61409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806679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0.61791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0.62172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0.62552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0.62930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0.63307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0.63683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0.64058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0.64431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0.64803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0.65173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56476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0.65542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0.65910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0.66276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0.66640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0.67003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0.67364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0.67724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0.68082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0.68439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0.68793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185577"/>
                  </a:ext>
                </a:extLst>
              </a:tr>
              <a:tr h="288600">
                <a:tc>
                  <a:txBody>
                    <a:bodyPr/>
                    <a:lstStyle/>
                    <a:p>
                      <a:endParaRPr lang="ko-KR" altLang="en-US" sz="1500">
                        <a:effectLst/>
                      </a:endParaRP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067612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0.69146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0.69497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0.69847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0.70194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0.70540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0.70884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0.71226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0.71566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0.71904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0.72240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421555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0.72575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0.72907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0.73237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0.73565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0.73891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0.74215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0.74537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0.74857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0.75175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0.75490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81663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0.75804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0.76115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0.76424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0.76730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0.77035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0.77337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0.77637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0.77935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0.78230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0.78524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91727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0.8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0.78814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0.79103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0.79389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0.79673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0.79955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0.80234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0.80511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0.80785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0.81057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0.81327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52623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0.81594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0.81859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0.82121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0.82381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0.82639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0.82894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0.83147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0.83398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0.83646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dirty="0">
                          <a:effectLst/>
                        </a:rPr>
                        <a:t>0.83891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31673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86080D7C-065D-4B26-A932-96C8F71ED29B}"/>
              </a:ext>
            </a:extLst>
          </p:cNvPr>
          <p:cNvSpPr/>
          <p:nvPr/>
        </p:nvSpPr>
        <p:spPr>
          <a:xfrm>
            <a:off x="973699" y="3606799"/>
            <a:ext cx="2715641" cy="3386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7CBBDC-3CD8-4D0D-81BB-92C775CDC108}"/>
              </a:ext>
            </a:extLst>
          </p:cNvPr>
          <p:cNvSpPr/>
          <p:nvPr/>
        </p:nvSpPr>
        <p:spPr>
          <a:xfrm>
            <a:off x="2792937" y="1877222"/>
            <a:ext cx="904870" cy="206824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284DFC-2D36-408D-A54B-5C805DE29D62}"/>
              </a:ext>
            </a:extLst>
          </p:cNvPr>
          <p:cNvSpPr/>
          <p:nvPr/>
        </p:nvSpPr>
        <p:spPr>
          <a:xfrm>
            <a:off x="2784470" y="3616721"/>
            <a:ext cx="904870" cy="347135"/>
          </a:xfrm>
          <a:prstGeom prst="rect">
            <a:avLst/>
          </a:prstGeom>
          <a:noFill/>
          <a:ln w="571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290D010-1548-4CE7-9762-246EA665F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정규분포표</a:t>
            </a:r>
          </a:p>
        </p:txBody>
      </p:sp>
    </p:spTree>
    <p:extLst>
      <p:ext uri="{BB962C8B-B14F-4D97-AF65-F5344CB8AC3E}">
        <p14:creationId xmlns:p14="http://schemas.microsoft.com/office/powerpoint/2010/main" val="3834171548"/>
      </p:ext>
    </p:extLst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98C1D-0482-40DD-86EC-13EFF5DCF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결과해석</a:t>
            </a:r>
            <a:r>
              <a:rPr lang="en-US" altLang="ko-KR" dirty="0"/>
              <a:t>(</a:t>
            </a:r>
            <a:r>
              <a:rPr lang="ko-KR" altLang="en-US" dirty="0"/>
              <a:t>추가탐구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CA9ECE-9063-4D39-A841-0D5C28473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구한 값</a:t>
            </a:r>
            <a:r>
              <a:rPr lang="en-US" altLang="ko-KR" dirty="0"/>
              <a:t>: 0.65542 </a:t>
            </a:r>
            <a:r>
              <a:rPr lang="ko-KR" altLang="en-US" dirty="0"/>
              <a:t>즉</a:t>
            </a:r>
            <a:r>
              <a:rPr lang="en-US" altLang="ko-KR" dirty="0"/>
              <a:t>, 65.5%</a:t>
            </a:r>
          </a:p>
          <a:p>
            <a:r>
              <a:rPr lang="ko-KR" altLang="en-US" dirty="0"/>
              <a:t>실제 값</a:t>
            </a:r>
            <a:r>
              <a:rPr lang="en-US" altLang="ko-KR" dirty="0"/>
              <a:t>: 61%</a:t>
            </a:r>
          </a:p>
          <a:p>
            <a:endParaRPr lang="en-US" altLang="ko-KR" dirty="0"/>
          </a:p>
          <a:p>
            <a:r>
              <a:rPr lang="ko-KR" altLang="en-US" dirty="0"/>
              <a:t>오차가 앞에서 </a:t>
            </a:r>
            <a:r>
              <a:rPr lang="en-US" altLang="ko-KR" dirty="0"/>
              <a:t>1.2%</a:t>
            </a:r>
            <a:r>
              <a:rPr lang="ko-KR" altLang="en-US" dirty="0"/>
              <a:t>에 비해 </a:t>
            </a:r>
            <a:r>
              <a:rPr lang="en-US" altLang="ko-KR" dirty="0"/>
              <a:t>4.5%</a:t>
            </a:r>
            <a:r>
              <a:rPr lang="ko-KR" altLang="en-US" dirty="0"/>
              <a:t>로 증가했음</a:t>
            </a:r>
            <a:endParaRPr lang="en-US" altLang="ko-KR" dirty="0"/>
          </a:p>
          <a:p>
            <a:r>
              <a:rPr lang="en-US" altLang="ko-KR" dirty="0"/>
              <a:t>=&gt;</a:t>
            </a:r>
            <a:r>
              <a:rPr lang="ko-KR" altLang="en-US" dirty="0">
                <a:solidFill>
                  <a:srgbClr val="FF0000"/>
                </a:solidFill>
              </a:rPr>
              <a:t>평균에 가까울수록 오차가 커진다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768169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D5FFF-B55E-4E85-811E-3B2826CFD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백분율 추정 프로그램 제작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B87826-B003-4899-9E56-4375DDA61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3200" dirty="0">
                <a:hlinkClick r:id="rId2"/>
              </a:rPr>
              <a:t>http://kjhmatt.github.io/Score_Percent.py</a:t>
            </a:r>
            <a:endParaRPr lang="en-US" altLang="ko-KR" sz="3200" dirty="0"/>
          </a:p>
          <a:p>
            <a:r>
              <a:rPr lang="en-US" altLang="ko-KR" sz="3200" dirty="0">
                <a:hlinkClick r:id="rId3"/>
              </a:rPr>
              <a:t>http://kjhmatt.github.io/Score_Percent.exe</a:t>
            </a:r>
            <a:endParaRPr lang="en-US" altLang="ko-KR" sz="3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0D17A4-6FC5-4EA7-8422-24E86BB95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218" y="3279599"/>
            <a:ext cx="5412382" cy="335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75927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08103" y="-15159"/>
            <a:ext cx="4902679" cy="4616801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574554-84CF-4FF0-B1BF-553245CC6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tx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6C5E6D3-976B-41A7-B008-5BB4ADF4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7246" y="-12193"/>
            <a:ext cx="4902679" cy="4616801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5243" y="-12192"/>
            <a:ext cx="4902678" cy="4544235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D9E02D8-25C5-4197-8867-1CA369BE0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765" y="324937"/>
            <a:ext cx="4024032" cy="28857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cap="all" spc="1500" dirty="0">
                <a:ea typeface="Source Sans Pro SemiBold" panose="020B0603030403020204" pitchFamily="34" charset="0"/>
              </a:rPr>
              <a:t>감사합니다</a:t>
            </a:r>
            <a:endParaRPr lang="en-US" altLang="ko-KR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31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9933" y="15505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3" name="Graphic 212">
            <a:extLst>
              <a:ext uri="{FF2B5EF4-FFF2-40B4-BE49-F238E27FC236}">
                <a16:creationId xmlns:a16="http://schemas.microsoft.com/office/drawing/2014/main" id="{2A8D3863-50D5-4235-9082-36776BF4F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9933" y="15505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2B1429-F98B-4DDC-ABFD-B4E03410CA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25" r="27590" b="1"/>
          <a:stretch/>
        </p:blipFill>
        <p:spPr>
          <a:xfrm>
            <a:off x="6601854" y="2313765"/>
            <a:ext cx="4773089" cy="4544235"/>
          </a:xfrm>
          <a:custGeom>
            <a:avLst/>
            <a:gdLst/>
            <a:ahLst/>
            <a:cxnLst/>
            <a:rect l="l" t="t" r="r" b="b"/>
            <a:pathLst>
              <a:path w="4773089" h="4544235">
                <a:moveTo>
                  <a:pt x="2386544" y="0"/>
                </a:moveTo>
                <a:cubicBezTo>
                  <a:pt x="3704596" y="0"/>
                  <a:pt x="4773089" y="1068494"/>
                  <a:pt x="4773089" y="2386545"/>
                </a:cubicBezTo>
                <a:cubicBezTo>
                  <a:pt x="4773089" y="3292705"/>
                  <a:pt x="4268059" y="4080910"/>
                  <a:pt x="3524113" y="4485046"/>
                </a:cubicBezTo>
                <a:lnTo>
                  <a:pt x="3401244" y="4544235"/>
                </a:lnTo>
                <a:lnTo>
                  <a:pt x="1371845" y="4544235"/>
                </a:lnTo>
                <a:lnTo>
                  <a:pt x="1248976" y="4485046"/>
                </a:lnTo>
                <a:cubicBezTo>
                  <a:pt x="505030" y="4080910"/>
                  <a:pt x="0" y="3292705"/>
                  <a:pt x="0" y="2386545"/>
                </a:cubicBezTo>
                <a:cubicBezTo>
                  <a:pt x="0" y="1068494"/>
                  <a:pt x="1068494" y="0"/>
                  <a:pt x="2386544" y="0"/>
                </a:cubicBezTo>
                <a:close/>
              </a:path>
            </a:pathLst>
          </a:custGeom>
        </p:spPr>
      </p:pic>
      <p:grpSp>
        <p:nvGrpSpPr>
          <p:cNvPr id="35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49330" y="2740963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9124" y="5424608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9306212-88FA-45BF-ABA3-1454AC42D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9124" y="5424608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5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 thruBlk="1"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FunkyShapesVTI">
  <a:themeElements>
    <a:clrScheme name="Custom 15">
      <a:dk1>
        <a:sysClr val="windowText" lastClr="000000"/>
      </a:dk1>
      <a:lt1>
        <a:sysClr val="window" lastClr="FFFFFF"/>
      </a:lt1>
      <a:dk2>
        <a:srgbClr val="2D2D2D"/>
      </a:dk2>
      <a:lt2>
        <a:srgbClr val="F3FFF8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VTI" id="{A7F40C41-3FB2-45B0-B0D6-DFB7FDD9B7AD}" vid="{C49381A0-09CD-46EE-B141-E2CDD87ABFE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646</Words>
  <Application>Microsoft Office PowerPoint</Application>
  <PresentationFormat>와이드스크린</PresentationFormat>
  <Paragraphs>301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Microsoft GothicNeo</vt:lpstr>
      <vt:lpstr>맑은 고딕</vt:lpstr>
      <vt:lpstr>함초롬바탕</vt:lpstr>
      <vt:lpstr>Arial</vt:lpstr>
      <vt:lpstr>FunkyShapesVTI</vt:lpstr>
      <vt:lpstr>정규분포로 자신의 등수를 얻는 법</vt:lpstr>
      <vt:lpstr>1. 선정 동기</vt:lpstr>
      <vt:lpstr>2. 등수 추정 프로그램</vt:lpstr>
      <vt:lpstr>2. 이론적 배경</vt:lpstr>
      <vt:lpstr>3. 등수 추정 프로그램의 원리</vt:lpstr>
      <vt:lpstr>표준정규분포</vt:lpstr>
      <vt:lpstr>예시</vt:lpstr>
      <vt:lpstr>정규분포표</vt:lpstr>
      <vt:lpstr>결과 해석</vt:lpstr>
      <vt:lpstr>추가 탐구</vt:lpstr>
      <vt:lpstr>정규분포표</vt:lpstr>
      <vt:lpstr>결과해석(추가탐구)</vt:lpstr>
      <vt:lpstr>백분율 추정 프로그램 제작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정규분포로 자신의 등수를 얻는 법</dc:title>
  <dc:creator>김정훈</dc:creator>
  <cp:lastModifiedBy>김정훈</cp:lastModifiedBy>
  <cp:revision>22</cp:revision>
  <dcterms:created xsi:type="dcterms:W3CDTF">2021-10-13T15:14:15Z</dcterms:created>
  <dcterms:modified xsi:type="dcterms:W3CDTF">2021-10-23T15:16:41Z</dcterms:modified>
</cp:coreProperties>
</file>