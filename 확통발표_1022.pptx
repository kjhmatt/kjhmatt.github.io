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7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8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86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21AC64-CEFC-40C7-9B4B-64CE17B3EBB0}" type="datetimeFigureOut">
              <a:rPr lang="ko-KR" altLang="en-US" smtClean="0"/>
              <a:t>2021-10-23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5A19A7-9001-4F8C-B8E2-CAE042279B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0270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6847D-1CF6-46BA-B46B-48BED0604A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 b="1" cap="none" spc="130" baseline="0">
                <a:latin typeface="+mj-lt"/>
                <a:ea typeface="Source Sans Pro SemiBold" panose="020B0603030403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B4F5A5-C931-4A4C-B6B1-EF4C95965B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cap="all" spc="4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grpSp>
        <p:nvGrpSpPr>
          <p:cNvPr id="7" name="Graphic 185">
            <a:extLst>
              <a:ext uri="{FF2B5EF4-FFF2-40B4-BE49-F238E27FC236}">
                <a16:creationId xmlns:a16="http://schemas.microsoft.com/office/drawing/2014/main" id="{8A351602-3772-4279-B0D3-A523F6F6EAB3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A5AAAA75-5FFB-4C07-AD4A-3146773E6CDD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1479895E-3847-44BB-8404-28F14219FB70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0E02F68-8149-4236-8D9F-6B550F78B932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56FCAAB-F073-4561-A484-42C7DD10DC26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CF8DB94-87A3-43E9-9BBB-301CFF0FB05B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DE4AEC-B6E4-439C-B716-EBE3D4D1D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FF81C-1FCB-4DBA-8044-F1A0FCFD45A6}" type="datetime1">
              <a:rPr lang="en-US" smtClean="0"/>
              <a:t>10/23/2021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78BC18-102E-45BF-8FEA-801E9C59D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A8BF5F-B1F8-461F-9B3D-7D50D0242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D6BF779-0B8C-4CC2-9268-9506AD0C5331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66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9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88500-1605-41EA-A15F-9B79DF7E4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B14AC8-25A5-4D7F-BF23-CB20AA2ECF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grpSp>
        <p:nvGrpSpPr>
          <p:cNvPr id="8" name="Graphic 185">
            <a:extLst>
              <a:ext uri="{FF2B5EF4-FFF2-40B4-BE49-F238E27FC236}">
                <a16:creationId xmlns:a16="http://schemas.microsoft.com/office/drawing/2014/main" id="{8997F1B7-1EE7-4EA5-A5A4-866F9A810C9F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5E13483-2FB6-4753-8402-06FDC3498E06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8F0DF22-F640-4002-B783-DF1C6A9473F6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C2787B8-7984-4332-B611-D3D3DE898FE0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AF3646C-B3D7-4F57-8FD2-CD93CEB39214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65FA7DA-93A0-43A4-834C-0F1BB9806A8C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95D22-0146-4DE2-9E78-4C00333D4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7773D-8987-489A-A650-3D6F7D5C7C38}" type="datetime1">
              <a:rPr lang="en-US" smtClean="0"/>
              <a:t>10/23/2021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59717A-A1FE-485D-AFFF-2C7026C71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6DB88B-64CF-4100-8F07-D191DD793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04332FF-8349-42A5-B5C8-5EE3825CE252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60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3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9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BFE6C-EBF1-47DE-8468-E7125172B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104992-D139-48DC-BCCE-D71EA23CA2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7" name="Graphic 185">
            <a:extLst>
              <a:ext uri="{FF2B5EF4-FFF2-40B4-BE49-F238E27FC236}">
                <a16:creationId xmlns:a16="http://schemas.microsoft.com/office/drawing/2014/main" id="{A8C5E768-0E62-4DE7-A0AF-93121DA8439E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6402845F-9E8A-41E1-B051-1AAA46C997A2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A45C410-5FD0-4339-A3BC-A865DE4190AF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7B0B703-8BA8-483C-A433-C44C809687DE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CCFA03D-B879-419B-88B9-F4F3645C8AF5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B0260A-6B2D-4F54-8614-60BC3103E166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1AB8F6-0796-47E9-B1D4-760B7CCFC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150C1-1D78-4D80-810D-E9E86F6E88AB}" type="datetime1">
              <a:rPr lang="en-US" smtClean="0"/>
              <a:t>10/23/2021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886FC0-7327-44D9-B689-0AE73FD25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19D265-BFBA-4C93-9B1A-B9483AE6B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64F5FEB-DE92-47DA-8C46-DC088E8960A4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212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637BE-B22F-40EE-94F0-04549BC56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A71582-4BAF-4211-AD4A-476ED6EB11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9DCF6B-C800-4345-BAE9-EE9FA65903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grpSp>
        <p:nvGrpSpPr>
          <p:cNvPr id="8" name="Graphic 185">
            <a:extLst>
              <a:ext uri="{FF2B5EF4-FFF2-40B4-BE49-F238E27FC236}">
                <a16:creationId xmlns:a16="http://schemas.microsoft.com/office/drawing/2014/main" id="{E6190A1E-5381-43C4-B058-7758339984D6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7E35469-0BEA-4E5E-955F-1AA300A62DE5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8F650BE-565E-4A52-8143-7A87700FC5F5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286A3F89-AA2A-44E5-915E-C47A069EB685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C57F514-AB27-4489-8D3C-01DD1025DDAD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141169F-1C39-4D04-AF32-D0D14D004B05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087465-759F-4895-8FC6-DD464FB91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9CBD8-1588-4B6B-B74D-87480DDE94C0}" type="datetime1">
              <a:rPr lang="en-US" smtClean="0"/>
              <a:t>10/23/2021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F1AA18-D8A5-44D9-881C-522258ED5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1BA574-A76A-4F4C-8CBD-768278B66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793E083-ADC4-4391-83DD-781529A66110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539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1B666-D6BE-4FA8-9CF1-F15FD58B0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CE4B4A-DE64-4563-83CD-C40B1D681D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DA0314-0202-4E6D-8352-C28376A9C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B56083-87B4-4603-B6FF-A9EB68E3E6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3708CF-F028-4917-A9CB-59BF5248A2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grpSp>
        <p:nvGrpSpPr>
          <p:cNvPr id="10" name="Graphic 185">
            <a:extLst>
              <a:ext uri="{FF2B5EF4-FFF2-40B4-BE49-F238E27FC236}">
                <a16:creationId xmlns:a16="http://schemas.microsoft.com/office/drawing/2014/main" id="{81B934BF-E239-47E1-93E9-EA3182162D21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3BBF177-5044-426A-93ED-64BDC84BF184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4270648-77F5-4D28-B691-DA57AA28FD73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086B770-2F70-4B7B-9525-286BBD63AD72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7DDC14D-7AE3-41CD-ADFC-A3601D4F9DF3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2181834-8401-4B66-85EE-1CBF57807DAB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433C091-3B62-4087-9A97-63BBE28CF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94440-721C-4D75-BD4F-4CFB3D51CDCA}" type="datetime1">
              <a:rPr lang="en-US" smtClean="0"/>
              <a:t>10/23/2021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0710C3-2723-4847-BCAF-96D9FAE50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618B2C-95AC-4438-97FD-07ACF297B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6B0F5A7-6E8A-4BCD-8F1F-233ECD21B262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8456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9CF7F-748D-4598-983E-96A2BE269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6" name="Graphic 185">
            <a:extLst>
              <a:ext uri="{FF2B5EF4-FFF2-40B4-BE49-F238E27FC236}">
                <a16:creationId xmlns:a16="http://schemas.microsoft.com/office/drawing/2014/main" id="{DFD4D3BE-80D4-4E69-9C76-F0D8517DF690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A0B6E97F-00E1-4372-8978-8BCBDC9026E6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C7651B7-7A30-4AFA-A4D7-0B0C5D2DDAAF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D2FC5CA-556B-4409-B084-34753A1F04E6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3E63FB41-EE1F-4889-9096-3A38936330D5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DD19F3B-7B3E-4861-8FDA-D0116C96C16E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0A2C46-C908-4010-AAE2-9FA41B145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01A64-483B-4532-94FB-D8F90CB6DEE0}" type="datetime1">
              <a:rPr lang="en-US" smtClean="0"/>
              <a:t>10/23/2021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CF5279-7D37-4D98-9A70-987C84F62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96FAD0-59EF-49AA-BBC6-A0EC184DD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76EB399-18D2-46D5-8757-35FCFF8EA80D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2774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aphic 185">
            <a:extLst>
              <a:ext uri="{FF2B5EF4-FFF2-40B4-BE49-F238E27FC236}">
                <a16:creationId xmlns:a16="http://schemas.microsoft.com/office/drawing/2014/main" id="{773CCE17-EE0F-40E0-B7AE-CF7677B64709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B0AC6C4E-6EA5-454A-AB84-8B94D8B585EC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4329338-925B-4677-BA6E-4357D37DB545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334C0A08-043F-4818-BA1D-BCC9F811A873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CB185DD-ED0D-4633-8098-95C4A6F177CC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AD50526-B611-40B6-BB45-AE82F0EF5992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08C302-4224-4668-8CAC-3267172A0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18FB39-20FB-4E2E-B861-45B709B9C3C5}" type="datetime1">
              <a:rPr lang="en-US" smtClean="0"/>
              <a:t>10/23/2021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C8FC22-AEB6-4BAF-BF93-41A2C757C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2CA88A-5462-4F17-AFA0-52721ADDB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0CCC791-94D7-4BB8-9EDF-423CEA1F6215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873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6AC37-C5B5-462A-BE4A-E55CEBF2A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B007F-32A8-4688-BBEF-4FCB99DF5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F2E2EB-BF8A-44A4-8AE0-BD6C31B1D9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" name="Graphic 185">
            <a:extLst>
              <a:ext uri="{FF2B5EF4-FFF2-40B4-BE49-F238E27FC236}">
                <a16:creationId xmlns:a16="http://schemas.microsoft.com/office/drawing/2014/main" id="{FC9E188F-54C8-4547-9F8C-525712AD7DB6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99C4538-3939-47A9-A590-09FF21960653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7541CA75-5D05-4996-A26D-CE0C909CD5F7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86305856-26BC-4BCC-BEF3-5E9CED941775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C69651C-AC37-4CD2-8367-19297D7E2389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3E9031B-BA8D-4D9D-9BB3-A16F7A80F854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9840A2-CF60-4C47-B955-E65BC451F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8AC19-8BD6-476C-9770-8884373BCF00}" type="datetime1">
              <a:rPr lang="en-US" smtClean="0"/>
              <a:t>10/23/2021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79DC6E-CC55-47AB-A405-5FB7EE2D1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5D5E7D-EBA7-4DB0-8C78-7EB8A85FA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5B051DE-636E-4B3C-9886-2055CE23E49A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9367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1D355-3146-41D1-B7DC-20B8ACE39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AD4AAFB-E8F8-4FD1-8C6A-ED2C3FAD50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051AF1-B16F-43B9-95CC-C17B570DEC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" name="Graphic 185">
            <a:extLst>
              <a:ext uri="{FF2B5EF4-FFF2-40B4-BE49-F238E27FC236}">
                <a16:creationId xmlns:a16="http://schemas.microsoft.com/office/drawing/2014/main" id="{C8B77273-9FF7-4B93-8385-AD09A5F86AE5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117A673-3729-4EAD-9E8C-52BEBF74B857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E8DB752-94CD-4A94-BDE3-DD285EB89F3F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2F8DDFC-E5CA-4F36-B2BE-BCE49D4F6C95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BB589AE-2F9C-4C83-8DC7-1205CB037525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AC9A2DE-3C9E-4CD0-8C7A-CC5F9F9942E4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8C8714-2467-4715-934E-6787C84F7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68C53-8AD1-4F09-9486-FB3406B99CFA}" type="datetime1">
              <a:rPr lang="en-US" smtClean="0"/>
              <a:t>10/23/2021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6F13D6-03EC-4D31-8BB1-9FFDE3633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65D4DD-A2A4-4DF6-9527-E5F12FEB9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D202F3A-9FDE-4E11-B865-FBAEC415F880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9930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3A871-D377-4EC0-9ACF-86842F01E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D53202-92A9-45A3-B812-777DB9578B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grpSp>
        <p:nvGrpSpPr>
          <p:cNvPr id="7" name="Graphic 185">
            <a:extLst>
              <a:ext uri="{FF2B5EF4-FFF2-40B4-BE49-F238E27FC236}">
                <a16:creationId xmlns:a16="http://schemas.microsoft.com/office/drawing/2014/main" id="{7196FB0C-3A9D-4892-90C9-21F3459AAD9E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6938C96-CF0F-4B69-A695-913F11BFC6F0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CA7E6BB-6B60-4BF5-9D3E-A3FE782EF5B0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3F693EDA-57B3-4AEB-863B-B198C2A5A8E3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3A04A96-045F-4B6E-AEEE-11A2FA01B4FC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FB357DC-5AD3-44F4-879B-5AD6B18AC36F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2CA47F-83AD-4BE3-AC2F-6C17883F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092B3-2D87-4CDF-B84B-C46E5F5D31F7}" type="datetime1">
              <a:rPr lang="en-US" smtClean="0"/>
              <a:t>10/23/2021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118A72-3200-4597-A9C5-0D9ECFF3E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70055A-71D4-49B4-8A8F-19AFDB84E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B0E5D27-C447-432F-982D-B60FDD6F34AD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991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C59DBB-9256-464D-8A6A-8BDA71541D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25E310-E6CB-4838-8E9B-B288DA5527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grpSp>
        <p:nvGrpSpPr>
          <p:cNvPr id="7" name="Graphic 185">
            <a:extLst>
              <a:ext uri="{FF2B5EF4-FFF2-40B4-BE49-F238E27FC236}">
                <a16:creationId xmlns:a16="http://schemas.microsoft.com/office/drawing/2014/main" id="{BCF412A8-E798-47AD-ABD9-98D76A55D30B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E70160C5-475D-401A-AEE2-2C04E99A1518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07CC7CE9-9C7F-49C2-8609-47BF523390F5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726FD5F1-978C-45AF-9086-D5DBE1F01681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873AB1C-723A-4FB4-9B23-65BAF5074833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1DE5510-5094-4FA4-96E5-AD4841D1C38A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CE2202-679F-48B0-B2DD-F6F547112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69E57-47B1-47B0-B526-3153E4B1E729}" type="datetime1">
              <a:rPr lang="en-US" smtClean="0"/>
              <a:t>10/23/2021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7BC83D-E4C0-49E1-ADA1-1AF403984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BF211E-B2EA-4CDC-9E84-B68983949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FE2F5FD-5D31-4C1D-82F8-93624C7B0A3C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132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633F5C3-CD4B-4472-B59A-49D460CB1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lIns="109728" tIns="109728" rIns="109728" bIns="91440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72236B-AB2C-4D6F-AE15-700992DA91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lIns="109728" tIns="109728" rIns="109728" b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0F509-07BE-4446-8772-F44E09936B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200" b="1" cap="all" spc="100" baseline="0">
                <a:solidFill>
                  <a:schemeClr val="tx1">
                    <a:tint val="75000"/>
                  </a:schemeClr>
                </a:solidFill>
                <a:latin typeface="+mn-lt"/>
                <a:ea typeface="Source Sans Pro SemiBold" panose="020B0603030403020204" pitchFamily="34" charset="0"/>
              </a:defRPr>
            </a:lvl1pPr>
          </a:lstStyle>
          <a:p>
            <a:fld id="{BA543EDD-D0D2-447F-B24F-3717AF4B109D}" type="datetime1">
              <a:rPr lang="en-US" smtClean="0"/>
              <a:pPr/>
              <a:t>10/23/2021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1B927E-3833-4F85-99B5-56B5F1E540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ctr">
              <a:defRPr sz="1200" b="1" cap="none" spc="100" baseline="0">
                <a:solidFill>
                  <a:schemeClr val="tx1">
                    <a:tint val="75000"/>
                  </a:schemeClr>
                </a:solidFill>
                <a:latin typeface="+mn-lt"/>
                <a:ea typeface="Source Sans Pro SemiBold" panose="020B0603030403020204" pitchFamily="34" charset="0"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28CB64-4E98-43DE-B543-7BE5B329DB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200" b="1" cap="all" spc="100" baseline="0">
                <a:solidFill>
                  <a:schemeClr val="tx1">
                    <a:tint val="75000"/>
                  </a:schemeClr>
                </a:solidFill>
                <a:latin typeface="+mn-lt"/>
                <a:ea typeface="Source Sans Pro SemiBold" panose="020B0603030403020204" pitchFamily="34" charset="0"/>
              </a:defRPr>
            </a:lvl1pPr>
          </a:lstStyle>
          <a:p>
            <a:fld id="{F3450C42-9A0B-4425-92C2-70FCF7C457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218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748" r:id="rId2"/>
    <p:sldLayoutId id="2147483747" r:id="rId3"/>
    <p:sldLayoutId id="2147483746" r:id="rId4"/>
    <p:sldLayoutId id="2147483745" r:id="rId5"/>
    <p:sldLayoutId id="2147483744" r:id="rId6"/>
    <p:sldLayoutId id="2147483743" r:id="rId7"/>
    <p:sldLayoutId id="2147483742" r:id="rId8"/>
    <p:sldLayoutId id="2147483741" r:id="rId9"/>
    <p:sldLayoutId id="2147483740" r:id="rId10"/>
    <p:sldLayoutId id="2147483739" r:id="rId11"/>
  </p:sldLayoutIdLst>
  <p:hf sldNum="0" hdr="0" ftr="0" dt="0"/>
  <p:txStyles>
    <p:titleStyle>
      <a:lvl1pPr algn="l" defTabSz="914400" rtl="0" eaLnBrk="1" latinLnBrk="0" hangingPunct="1">
        <a:lnSpc>
          <a:spcPct val="105000"/>
        </a:lnSpc>
        <a:spcBef>
          <a:spcPct val="0"/>
        </a:spcBef>
        <a:buNone/>
        <a:defRPr sz="4400" b="1" kern="1200" spc="8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 spc="3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 spc="3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 spc="3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 spc="3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 spc="3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8B646C36-EEEC-4D52-8E8E-206F4CD8A3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08C40F4-6A24-4867-B726-B552DB0807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66550" y="555675"/>
            <a:ext cx="4860256" cy="5696169"/>
            <a:chOff x="1481312" y="743744"/>
            <a:chExt cx="4860256" cy="4589316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54BF10E-4559-4F28-91B0-3D0C2C4864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481312" y="743744"/>
              <a:ext cx="4860256" cy="4589316"/>
            </a:xfrm>
            <a:prstGeom prst="rect">
              <a:avLst/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accent1"/>
                </a:solidFill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DB0B5A20-FCFE-4AED-B5A3-91D3DE935C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481312" y="743744"/>
              <a:ext cx="4860256" cy="4589316"/>
            </a:xfrm>
            <a:prstGeom prst="rect">
              <a:avLst/>
            </a:prstGeom>
            <a:solidFill>
              <a:schemeClr val="accent3">
                <a:alpha val="2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D6CA2F4C-8E9E-4BCD-B6E8-A68A311CA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4967" y="460296"/>
            <a:ext cx="4860256" cy="5696169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1049185-56F1-4AC4-A31F-565E0D7748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7119" y="810623"/>
            <a:ext cx="4429556" cy="3570162"/>
          </a:xfrm>
        </p:spPr>
        <p:txBody>
          <a:bodyPr anchor="b">
            <a:normAutofit/>
          </a:bodyPr>
          <a:lstStyle/>
          <a:p>
            <a:pPr>
              <a:lnSpc>
                <a:spcPct val="95000"/>
              </a:lnSpc>
            </a:pPr>
            <a:r>
              <a:rPr lang="ko-KR" altLang="en-US" sz="5600" dirty="0">
                <a:gradFill flip="none" rotWithShape="1">
                  <a:gsLst>
                    <a:gs pos="0">
                      <a:schemeClr val="accent2">
                        <a:lumMod val="75000"/>
                        <a:shade val="30000"/>
                        <a:satMod val="115000"/>
                      </a:schemeClr>
                    </a:gs>
                    <a:gs pos="50000">
                      <a:schemeClr val="accent2">
                        <a:lumMod val="75000"/>
                        <a:shade val="67500"/>
                        <a:satMod val="115000"/>
                      </a:schemeClr>
                    </a:gs>
                    <a:gs pos="100000">
                      <a:schemeClr val="accent2">
                        <a:lumMod val="75000"/>
                        <a:shade val="100000"/>
                        <a:satMod val="115000"/>
                      </a:schemeClr>
                    </a:gs>
                  </a:gsLst>
                  <a:lin ang="10800000" scaled="1"/>
                  <a:tileRect/>
                </a:gradFill>
                <a:ea typeface="문체부 제목 돋음체" panose="020B0609000101010101" pitchFamily="49" charset="-127"/>
              </a:rPr>
              <a:t>정규분포로</a:t>
            </a:r>
            <a:br>
              <a:rPr lang="en-US" altLang="ko-KR" sz="5600" dirty="0">
                <a:gradFill flip="none" rotWithShape="1">
                  <a:gsLst>
                    <a:gs pos="0">
                      <a:schemeClr val="accent2">
                        <a:lumMod val="75000"/>
                        <a:shade val="30000"/>
                        <a:satMod val="115000"/>
                      </a:schemeClr>
                    </a:gs>
                    <a:gs pos="50000">
                      <a:schemeClr val="accent2">
                        <a:lumMod val="75000"/>
                        <a:shade val="67500"/>
                        <a:satMod val="115000"/>
                      </a:schemeClr>
                    </a:gs>
                    <a:gs pos="100000">
                      <a:schemeClr val="accent2">
                        <a:lumMod val="75000"/>
                        <a:shade val="100000"/>
                        <a:satMod val="115000"/>
                      </a:schemeClr>
                    </a:gs>
                  </a:gsLst>
                  <a:lin ang="10800000" scaled="1"/>
                  <a:tileRect/>
                </a:gradFill>
                <a:ea typeface="문체부 제목 돋음체" panose="020B0609000101010101" pitchFamily="49" charset="-127"/>
              </a:rPr>
            </a:br>
            <a:r>
              <a:rPr lang="ko-KR" altLang="en-US" sz="5600" dirty="0">
                <a:gradFill flip="none" rotWithShape="1">
                  <a:gsLst>
                    <a:gs pos="0">
                      <a:schemeClr val="accent2">
                        <a:lumMod val="75000"/>
                        <a:shade val="30000"/>
                        <a:satMod val="115000"/>
                      </a:schemeClr>
                    </a:gs>
                    <a:gs pos="50000">
                      <a:schemeClr val="accent2">
                        <a:lumMod val="75000"/>
                        <a:shade val="67500"/>
                        <a:satMod val="115000"/>
                      </a:schemeClr>
                    </a:gs>
                    <a:gs pos="100000">
                      <a:schemeClr val="accent2">
                        <a:lumMod val="75000"/>
                        <a:shade val="100000"/>
                        <a:satMod val="115000"/>
                      </a:schemeClr>
                    </a:gs>
                  </a:gsLst>
                  <a:lin ang="10800000" scaled="1"/>
                  <a:tileRect/>
                </a:gradFill>
                <a:ea typeface="문체부 제목 돋음체" panose="020B0609000101010101" pitchFamily="49" charset="-127"/>
              </a:rPr>
              <a:t>자신의 등수를</a:t>
            </a:r>
            <a:br>
              <a:rPr lang="en-US" altLang="ko-KR" sz="5600" dirty="0">
                <a:ea typeface="문체부 제목 돋음체" panose="020B0609000101010101" pitchFamily="49" charset="-127"/>
              </a:rPr>
            </a:br>
            <a:r>
              <a:rPr lang="ko-KR" altLang="en-US" sz="5600" dirty="0">
                <a:gradFill flip="none" rotWithShape="1">
                  <a:gsLst>
                    <a:gs pos="0">
                      <a:schemeClr val="accent1">
                        <a:lumMod val="50000"/>
                        <a:shade val="30000"/>
                        <a:satMod val="115000"/>
                      </a:schemeClr>
                    </a:gs>
                    <a:gs pos="50000">
                      <a:schemeClr val="accent1">
                        <a:lumMod val="50000"/>
                        <a:shade val="67500"/>
                        <a:satMod val="115000"/>
                      </a:schemeClr>
                    </a:gs>
                    <a:gs pos="100000">
                      <a:schemeClr val="accent1">
                        <a:lumMod val="50000"/>
                        <a:shade val="100000"/>
                        <a:satMod val="115000"/>
                      </a:schemeClr>
                    </a:gs>
                  </a:gsLst>
                  <a:lin ang="0" scaled="1"/>
                  <a:tileRect/>
                </a:gradFill>
                <a:ea typeface="문체부 제목 돋음체" panose="020B0609000101010101" pitchFamily="49" charset="-127"/>
              </a:rPr>
              <a:t>얻는 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F0EF335-E223-4F98-981A-B99F888B186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 radius="5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293" r="1" b="13454"/>
          <a:stretch/>
        </p:blipFill>
        <p:spPr>
          <a:xfrm>
            <a:off x="6359308" y="470930"/>
            <a:ext cx="4833901" cy="5696169"/>
          </a:xfrm>
          <a:prstGeom prst="rect">
            <a:avLst/>
          </a:prstGeom>
          <a:ln w="28575">
            <a:noFill/>
          </a:ln>
        </p:spPr>
      </p:pic>
      <p:sp>
        <p:nvSpPr>
          <p:cNvPr id="31" name="Graphic 212">
            <a:extLst>
              <a:ext uri="{FF2B5EF4-FFF2-40B4-BE49-F238E27FC236}">
                <a16:creationId xmlns:a16="http://schemas.microsoft.com/office/drawing/2014/main" id="{4FB204DF-284E-45F6-A017-79A4DF57BC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762917" y="937735"/>
            <a:ext cx="891066" cy="891066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33" name="Graphic 212">
            <a:extLst>
              <a:ext uri="{FF2B5EF4-FFF2-40B4-BE49-F238E27FC236}">
                <a16:creationId xmlns:a16="http://schemas.microsoft.com/office/drawing/2014/main" id="{96FD6442-EB7D-4992-8D41-0B7FFDCB43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762917" y="937735"/>
            <a:ext cx="891066" cy="891066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35" name="Graphic 185">
            <a:extLst>
              <a:ext uri="{FF2B5EF4-FFF2-40B4-BE49-F238E27FC236}">
                <a16:creationId xmlns:a16="http://schemas.microsoft.com/office/drawing/2014/main" id="{FB9739EB-7F66-433D-841F-AB3CD1870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58306" y="2360859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04F2BBD-A005-4DCB-9566-F2351050BE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8B00DEC7-198B-49D1-98FD-018F3ECFCF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F14DFC82-B3B3-468E-91B3-1302CFC684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D3250EFE-214E-4B8E-AF96-036A514FFB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AD058EBE-D4A5-4C43-B170-6A451F87A7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2" name="Oval 41">
            <a:extLst>
              <a:ext uri="{FF2B5EF4-FFF2-40B4-BE49-F238E27FC236}">
                <a16:creationId xmlns:a16="http://schemas.microsoft.com/office/drawing/2014/main" id="{4D1A5E71-B6B6-486A-8CDC-C7ABD9B903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62610" y="5308473"/>
            <a:ext cx="445835" cy="44583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6004781B-698F-46D5-AADD-8AE9211719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62610" y="5308473"/>
            <a:ext cx="445835" cy="445835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E26132-83DE-4A72-B784-101A58A6102A}"/>
              </a:ext>
            </a:extLst>
          </p:cNvPr>
          <p:cNvSpPr txBox="1"/>
          <p:nvPr/>
        </p:nvSpPr>
        <p:spPr>
          <a:xfrm>
            <a:off x="3926555" y="5678045"/>
            <a:ext cx="180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2604 </a:t>
            </a:r>
            <a:r>
              <a:rPr lang="ko-KR" altLang="en-US" dirty="0"/>
              <a:t>김정훈</a:t>
            </a:r>
          </a:p>
        </p:txBody>
      </p:sp>
    </p:spTree>
    <p:extLst>
      <p:ext uri="{BB962C8B-B14F-4D97-AF65-F5344CB8AC3E}">
        <p14:creationId xmlns:p14="http://schemas.microsoft.com/office/powerpoint/2010/main" val="48458158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6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1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2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3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4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500"/>
                            </p:stCondLst>
                            <p:childTnLst>
                              <p:par>
                                <p:cTn id="26" presetID="47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5C4DC3-E609-471F-9327-8A00A8A9E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ea typeface="문체부 제목 돋음체" panose="020B0609000101010101" pitchFamily="49" charset="-127"/>
              </a:rPr>
              <a:t>1. </a:t>
            </a:r>
            <a:r>
              <a:rPr lang="ko-KR" altLang="en-US" dirty="0">
                <a:ea typeface="문체부 제목 돋음체" panose="020B0609000101010101" pitchFamily="49" charset="-127"/>
              </a:rPr>
              <a:t>선정 동기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43EEFF-0544-46A8-9431-3EFE8219B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kern="0" spc="0" dirty="0">
                <a:solidFill>
                  <a:srgbClr val="000000"/>
                </a:solidFill>
                <a:effectLst/>
                <a:latin typeface="함초롬바탕" panose="02030604000101010101" pitchFamily="18" charset="-127"/>
                <a:ea typeface="문체부 돋음체" panose="020B0609000101010101" pitchFamily="49" charset="-127"/>
              </a:rPr>
              <a:t>중학교에 다닐 때</a:t>
            </a:r>
            <a:r>
              <a:rPr lang="en-US" altLang="ko-KR" kern="0" spc="0" dirty="0">
                <a:solidFill>
                  <a:srgbClr val="000000"/>
                </a:solidFill>
                <a:effectLst/>
                <a:latin typeface="함초롬바탕" panose="02030604000101010101" pitchFamily="18" charset="-127"/>
                <a:ea typeface="문체부 돋음체" panose="020B0609000101010101" pitchFamily="49" charset="-127"/>
              </a:rPr>
              <a:t>, </a:t>
            </a:r>
            <a:r>
              <a:rPr lang="ko-KR" altLang="en-US" kern="0" spc="0" dirty="0">
                <a:solidFill>
                  <a:srgbClr val="000000"/>
                </a:solidFill>
                <a:effectLst/>
                <a:latin typeface="함초롬바탕" panose="02030604000101010101" pitchFamily="18" charset="-127"/>
                <a:ea typeface="문체부 돋음체" panose="020B0609000101010101" pitchFamily="49" charset="-127"/>
              </a:rPr>
              <a:t>성적표에 과목의 평균점수와 해당 과목 표준편차만이 제시되어 있었는데</a:t>
            </a:r>
            <a:r>
              <a:rPr lang="en-US" altLang="ko-KR" kern="0" spc="0" dirty="0">
                <a:solidFill>
                  <a:srgbClr val="000000"/>
                </a:solidFill>
                <a:effectLst/>
                <a:latin typeface="함초롬바탕" panose="02030604000101010101" pitchFamily="18" charset="-127"/>
                <a:ea typeface="문체부 돋음체" panose="020B0609000101010101" pitchFamily="49" charset="-127"/>
              </a:rPr>
              <a:t>, </a:t>
            </a:r>
            <a:r>
              <a:rPr lang="ko-KR" altLang="en-US" kern="0" spc="0" dirty="0">
                <a:solidFill>
                  <a:srgbClr val="000000"/>
                </a:solidFill>
                <a:effectLst/>
                <a:latin typeface="함초롬바탕" panose="02030604000101010101" pitchFamily="18" charset="-127"/>
                <a:ea typeface="문체부 돋음체" panose="020B0609000101010101" pitchFamily="49" charset="-127"/>
              </a:rPr>
              <a:t>그럴 때도 나의 등수가 어느 정도인지 알고 싶을 때가 종종 있었다</a:t>
            </a:r>
            <a:r>
              <a:rPr lang="en-US" altLang="ko-KR" kern="0" spc="0" dirty="0">
                <a:solidFill>
                  <a:srgbClr val="000000"/>
                </a:solidFill>
                <a:effectLst/>
                <a:latin typeface="함초롬바탕" panose="02030604000101010101" pitchFamily="18" charset="-127"/>
                <a:ea typeface="문체부 돋음체" panose="020B0609000101010101" pitchFamily="49" charset="-127"/>
              </a:rPr>
              <a:t>. </a:t>
            </a:r>
            <a:r>
              <a:rPr lang="ko-KR" altLang="en-US" kern="0" spc="0" dirty="0">
                <a:solidFill>
                  <a:srgbClr val="000000"/>
                </a:solidFill>
                <a:effectLst/>
                <a:latin typeface="함초롬바탕" panose="02030604000101010101" pitchFamily="18" charset="-127"/>
                <a:ea typeface="문체부 돋음체" panose="020B0609000101010101" pitchFamily="49" charset="-127"/>
              </a:rPr>
              <a:t>그럴 때 학생들의 성적이 표준정규분포를 </a:t>
            </a:r>
            <a:r>
              <a:rPr lang="ko-KR" altLang="en-US" kern="0" spc="0" dirty="0" err="1">
                <a:solidFill>
                  <a:srgbClr val="000000"/>
                </a:solidFill>
                <a:effectLst/>
                <a:latin typeface="함초롬바탕" panose="02030604000101010101" pitchFamily="18" charset="-127"/>
                <a:ea typeface="문체부 돋음체" panose="020B0609000101010101" pitchFamily="49" charset="-127"/>
              </a:rPr>
              <a:t>따른다고</a:t>
            </a:r>
            <a:r>
              <a:rPr lang="ko-KR" altLang="en-US" kern="0" spc="0" dirty="0">
                <a:solidFill>
                  <a:srgbClr val="000000"/>
                </a:solidFill>
                <a:effectLst/>
                <a:latin typeface="함초롬바탕" panose="02030604000101010101" pitchFamily="18" charset="-127"/>
                <a:ea typeface="문체부 돋음체" panose="020B0609000101010101" pitchFamily="49" charset="-127"/>
              </a:rPr>
              <a:t> 했을 때</a:t>
            </a:r>
            <a:r>
              <a:rPr lang="en-US" altLang="ko-KR" kern="0" spc="0" dirty="0">
                <a:solidFill>
                  <a:srgbClr val="000000"/>
                </a:solidFill>
                <a:effectLst/>
                <a:latin typeface="함초롬바탕" panose="02030604000101010101" pitchFamily="18" charset="-127"/>
                <a:ea typeface="문체부 돋음체" panose="020B0609000101010101" pitchFamily="49" charset="-127"/>
              </a:rPr>
              <a:t>, </a:t>
            </a:r>
            <a:r>
              <a:rPr lang="ko-KR" altLang="en-US" kern="0" spc="0" dirty="0">
                <a:solidFill>
                  <a:srgbClr val="000000"/>
                </a:solidFill>
                <a:effectLst/>
                <a:latin typeface="함초롬바탕" panose="02030604000101010101" pitchFamily="18" charset="-127"/>
                <a:ea typeface="문체부 돋음체" panose="020B0609000101010101" pitchFamily="49" charset="-127"/>
              </a:rPr>
              <a:t>대략적인 등수를 계산해주는 프로그램을 활용하곤 했다</a:t>
            </a:r>
            <a:r>
              <a:rPr lang="en-US" altLang="ko-KR" kern="0" spc="0" dirty="0">
                <a:solidFill>
                  <a:srgbClr val="000000"/>
                </a:solidFill>
                <a:effectLst/>
                <a:latin typeface="함초롬바탕" panose="02030604000101010101" pitchFamily="18" charset="-127"/>
                <a:ea typeface="문체부 돋음체" panose="020B0609000101010101" pitchFamily="49" charset="-127"/>
              </a:rPr>
              <a:t>. </a:t>
            </a:r>
            <a:r>
              <a:rPr lang="ko-KR" altLang="en-US" kern="0" spc="0" dirty="0">
                <a:solidFill>
                  <a:srgbClr val="000000"/>
                </a:solidFill>
                <a:effectLst/>
                <a:latin typeface="함초롬바탕" panose="02030604000101010101" pitchFamily="18" charset="-127"/>
                <a:ea typeface="문체부 돋음체" panose="020B0609000101010101" pitchFamily="49" charset="-127"/>
              </a:rPr>
              <a:t>그 원리를 좀 더 깊이 조사해보고 싶었다</a:t>
            </a:r>
            <a:r>
              <a:rPr lang="en-US" altLang="ko-KR" kern="0" spc="0" dirty="0">
                <a:solidFill>
                  <a:srgbClr val="000000"/>
                </a:solidFill>
                <a:effectLst/>
                <a:latin typeface="함초롬바탕" panose="02030604000101010101" pitchFamily="18" charset="-127"/>
                <a:ea typeface="문체부 돋음체" panose="020B0609000101010101" pitchFamily="49" charset="-127"/>
              </a:rPr>
              <a:t>.</a:t>
            </a:r>
            <a:endParaRPr lang="ko-KR" altLang="en-US" kern="0" spc="0" dirty="0">
              <a:solidFill>
                <a:srgbClr val="000000"/>
              </a:solidFill>
              <a:effectLst/>
              <a:latin typeface="함초롬바탕" panose="02030604000101010101" pitchFamily="18" charset="-127"/>
              <a:ea typeface="문체부 돋음체" panose="020B060900010101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3335665"/>
      </p:ext>
    </p:extLst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31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C23223-B720-4768-BEB8-19438445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6784" y="396117"/>
            <a:ext cx="5217172" cy="1158857"/>
          </a:xfrm>
        </p:spPr>
        <p:txBody>
          <a:bodyPr anchor="b">
            <a:normAutofit/>
          </a:bodyPr>
          <a:lstStyle/>
          <a:p>
            <a:r>
              <a:rPr lang="en-US" altLang="ko-KR" sz="4100"/>
              <a:t>2. </a:t>
            </a:r>
            <a:r>
              <a:rPr lang="ko-KR" altLang="en-US" sz="4100"/>
              <a:t>등수 추정 프로그램</a:t>
            </a:r>
          </a:p>
        </p:txBody>
      </p:sp>
      <p:grpSp>
        <p:nvGrpSpPr>
          <p:cNvPr id="30" name="Graphic 38">
            <a:extLst>
              <a:ext uri="{FF2B5EF4-FFF2-40B4-BE49-F238E27FC236}">
                <a16:creationId xmlns:a16="http://schemas.microsoft.com/office/drawing/2014/main" id="{9742E72B-7FDB-4BC3-84CE-9A86756476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96583" y="975545"/>
            <a:ext cx="1910252" cy="709660"/>
            <a:chOff x="2267504" y="2540250"/>
            <a:chExt cx="1990951" cy="739640"/>
          </a:xfrm>
          <a:solidFill>
            <a:schemeClr val="tx1"/>
          </a:solidFill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9E41CB4E-1ACC-413B-9806-FF276C0F01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" name="Freeform: Shape 35">
              <a:extLst>
                <a:ext uri="{FF2B5EF4-FFF2-40B4-BE49-F238E27FC236}">
                  <a16:creationId xmlns:a16="http://schemas.microsoft.com/office/drawing/2014/main" id="{29B54E44-06C0-461C-A803-0F535321AD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3" name="Oval 37">
            <a:extLst>
              <a:ext uri="{FF2B5EF4-FFF2-40B4-BE49-F238E27FC236}">
                <a16:creationId xmlns:a16="http://schemas.microsoft.com/office/drawing/2014/main" id="{09645E15-CD1B-4EAA-B2F2-D41E53CA4E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9959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7" name="Oval 39">
            <a:extLst>
              <a:ext uri="{FF2B5EF4-FFF2-40B4-BE49-F238E27FC236}">
                <a16:creationId xmlns:a16="http://schemas.microsoft.com/office/drawing/2014/main" id="{0C571069-A359-469A-98CD-9458DBAA0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9959" y="4752208"/>
            <a:ext cx="365021" cy="365021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내용 개체 틀 4" descr="텍스트이(가) 표시된 사진&#10;&#10;자동 생성된 설명">
            <a:extLst>
              <a:ext uri="{FF2B5EF4-FFF2-40B4-BE49-F238E27FC236}">
                <a16:creationId xmlns:a16="http://schemas.microsoft.com/office/drawing/2014/main" id="{A14FA282-0DB2-4D33-BE8B-D07082EE9C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305" y="1993870"/>
            <a:ext cx="4324174" cy="2626935"/>
          </a:xfrm>
          <a:prstGeom prst="rect">
            <a:avLst/>
          </a:prstGeom>
        </p:spPr>
      </p:pic>
      <p:grpSp>
        <p:nvGrpSpPr>
          <p:cNvPr id="39" name="Graphic 4">
            <a:extLst>
              <a:ext uri="{FF2B5EF4-FFF2-40B4-BE49-F238E27FC236}">
                <a16:creationId xmlns:a16="http://schemas.microsoft.com/office/drawing/2014/main" id="{A61BDD87-32CE-4DE2-AAE1-62C2F47938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4903343"/>
            <a:ext cx="975169" cy="975171"/>
            <a:chOff x="5829300" y="3162300"/>
            <a:chExt cx="532256" cy="532257"/>
          </a:xfrm>
          <a:solidFill>
            <a:schemeClr val="tx1"/>
          </a:solidFill>
        </p:grpSpPr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EF0F3645-6645-44FD-A4C7-06D41C0991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: Shape 43">
              <a:extLst>
                <a:ext uri="{FF2B5EF4-FFF2-40B4-BE49-F238E27FC236}">
                  <a16:creationId xmlns:a16="http://schemas.microsoft.com/office/drawing/2014/main" id="{65458736-D4A2-40D4-9420-C40AEB2AB5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768FA6A4-209B-443A-9CF2-FFDC90EC3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: Shape 45">
              <a:extLst>
                <a:ext uri="{FF2B5EF4-FFF2-40B4-BE49-F238E27FC236}">
                  <a16:creationId xmlns:a16="http://schemas.microsoft.com/office/drawing/2014/main" id="{EEB0A6C9-E0F4-403E-8FB7-5FF4F1F646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: Shape 46">
              <a:extLst>
                <a:ext uri="{FF2B5EF4-FFF2-40B4-BE49-F238E27FC236}">
                  <a16:creationId xmlns:a16="http://schemas.microsoft.com/office/drawing/2014/main" id="{6DA5950E-75DA-4E34-99EB-8982548700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: Shape 47">
              <a:extLst>
                <a:ext uri="{FF2B5EF4-FFF2-40B4-BE49-F238E27FC236}">
                  <a16:creationId xmlns:a16="http://schemas.microsoft.com/office/drawing/2014/main" id="{6F609E6F-709D-42D6-8E54-91E37E2B1B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: Shape 48">
              <a:extLst>
                <a:ext uri="{FF2B5EF4-FFF2-40B4-BE49-F238E27FC236}">
                  <a16:creationId xmlns:a16="http://schemas.microsoft.com/office/drawing/2014/main" id="{0C4707FB-9E68-4EBA-A4E0-4516F15061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: Shape 49">
              <a:extLst>
                <a:ext uri="{FF2B5EF4-FFF2-40B4-BE49-F238E27FC236}">
                  <a16:creationId xmlns:a16="http://schemas.microsoft.com/office/drawing/2014/main" id="{A799771A-5CA8-4CCE-B4F5-FE8C20379A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: Shape 50">
              <a:extLst>
                <a:ext uri="{FF2B5EF4-FFF2-40B4-BE49-F238E27FC236}">
                  <a16:creationId xmlns:a16="http://schemas.microsoft.com/office/drawing/2014/main" id="{461D636C-9A38-466B-BD92-39795F493B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399F3BD6-49A2-4D64-A3C0-8EFCEF9D9D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4ABC753B-C028-4FCD-9D53-2BDBB26446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DA8F316F-3B46-4F37-AB8C-E69368303B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2636F8A8-BD35-4E0B-901B-1589A0534D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C1151EC-DD8B-4E58-831E-B6687E6069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6783" y="1747592"/>
            <a:ext cx="5217173" cy="4351338"/>
          </a:xfrm>
        </p:spPr>
        <p:txBody>
          <a:bodyPr>
            <a:normAutofit/>
          </a:bodyPr>
          <a:lstStyle/>
          <a:p>
            <a:r>
              <a:rPr lang="ko-KR" altLang="en-US" dirty="0" err="1"/>
              <a:t>원점수</a:t>
            </a:r>
            <a:r>
              <a:rPr lang="en-US" altLang="ko-KR" dirty="0"/>
              <a:t>, </a:t>
            </a:r>
            <a:r>
              <a:rPr lang="ko-KR" altLang="en-US" dirty="0"/>
              <a:t>과목평균</a:t>
            </a:r>
            <a:r>
              <a:rPr lang="en-US" altLang="ko-KR" dirty="0"/>
              <a:t>, </a:t>
            </a:r>
            <a:r>
              <a:rPr lang="ko-KR" altLang="en-US" dirty="0"/>
              <a:t>표준편차</a:t>
            </a:r>
            <a:r>
              <a:rPr lang="en-US" altLang="ko-KR" dirty="0"/>
              <a:t>, </a:t>
            </a:r>
            <a:r>
              <a:rPr lang="ko-KR" altLang="en-US" dirty="0"/>
              <a:t>학생 수를 통해서 구할 수 있음</a:t>
            </a:r>
            <a:endParaRPr lang="en-US" altLang="ko-KR" dirty="0"/>
          </a:p>
          <a:p>
            <a:r>
              <a:rPr lang="ko-KR" altLang="en-US" dirty="0"/>
              <a:t>완전히 정확한 값은 구하기 힘드나</a:t>
            </a:r>
            <a:r>
              <a:rPr lang="en-US" altLang="ko-KR" dirty="0"/>
              <a:t>, </a:t>
            </a:r>
            <a:r>
              <a:rPr lang="ko-KR" altLang="en-US" dirty="0"/>
              <a:t>비슷한 값을 </a:t>
            </a:r>
            <a:r>
              <a:rPr lang="ko-KR" altLang="en-US" dirty="0" err="1"/>
              <a:t>도출해냄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5570A0-9C9A-4A9E-8F98-58724FB33E00}"/>
              </a:ext>
            </a:extLst>
          </p:cNvPr>
          <p:cNvSpPr txBox="1"/>
          <p:nvPr/>
        </p:nvSpPr>
        <p:spPr>
          <a:xfrm>
            <a:off x="2833180" y="4480529"/>
            <a:ext cx="24694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출처</a:t>
            </a:r>
            <a:r>
              <a:rPr lang="en-US" altLang="ko-KR" sz="1400" dirty="0"/>
              <a:t>: https://blog.iqtest.kr/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1011163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6994DB-C852-4899-B296-43B797648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등수 추정 프로그램의 원리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D32FD87-D2D2-49E4-80A8-B1026E3616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정규분포를 이용한다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73BF2BB-C68D-4CD4-AE66-F892FCB195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325" y="2445602"/>
            <a:ext cx="4587193" cy="111963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ACA328-C010-4C12-AED6-3CEB6D4A5369}"/>
              </a:ext>
            </a:extLst>
          </p:cNvPr>
          <p:cNvSpPr txBox="1"/>
          <p:nvPr/>
        </p:nvSpPr>
        <p:spPr>
          <a:xfrm>
            <a:off x="5833533" y="2235646"/>
            <a:ext cx="343746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/>
              <a:t>σ: </a:t>
            </a:r>
            <a:r>
              <a:rPr lang="ko-KR" altLang="en-US" sz="3200" dirty="0"/>
              <a:t>표준편차</a:t>
            </a:r>
            <a:endParaRPr lang="en-US" altLang="ko-KR" sz="3200" dirty="0"/>
          </a:p>
          <a:p>
            <a:r>
              <a:rPr lang="en-US" altLang="ko-KR" sz="3200" dirty="0"/>
              <a:t>μ: </a:t>
            </a:r>
            <a:r>
              <a:rPr lang="ko-KR" altLang="en-US" sz="3200" dirty="0"/>
              <a:t>평균</a:t>
            </a:r>
          </a:p>
        </p:txBody>
      </p:sp>
    </p:spTree>
    <p:extLst>
      <p:ext uri="{BB962C8B-B14F-4D97-AF65-F5344CB8AC3E}">
        <p14:creationId xmlns:p14="http://schemas.microsoft.com/office/powerpoint/2010/main" val="4053509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75CFDF-285F-4250-A97A-26638120C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표준정규분포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6BCD02-5D1E-40EF-AE2F-0A54774D23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정규분포를 따르는 확률변수 </a:t>
            </a:r>
            <a:r>
              <a:rPr lang="en-US" altLang="ko-KR" dirty="0"/>
              <a:t>X</a:t>
            </a:r>
            <a:r>
              <a:rPr lang="ko-KR" altLang="en-US" dirty="0"/>
              <a:t>는 연속확률변수의 한 종류이므로 정규분포곡선과 </a:t>
            </a:r>
            <a:r>
              <a:rPr lang="en-US" altLang="ko-KR" dirty="0"/>
              <a:t>x</a:t>
            </a:r>
            <a:r>
              <a:rPr lang="ko-KR" altLang="en-US" dirty="0"/>
              <a:t>축 사이의 넓이를 이용해서 확률을 구하게 되는데</a:t>
            </a:r>
            <a:r>
              <a:rPr lang="en-US" altLang="ko-KR" dirty="0"/>
              <a:t>, </a:t>
            </a:r>
            <a:r>
              <a:rPr lang="ko-KR" altLang="en-US" dirty="0"/>
              <a:t>앞 페이지의 수식과 같이 정규분포의 확률함수는 매우 복잡한 형태를 가지고 있다</a:t>
            </a:r>
            <a:r>
              <a:rPr lang="en-US" altLang="ko-KR" dirty="0"/>
              <a:t>. </a:t>
            </a:r>
            <a:r>
              <a:rPr lang="ko-KR" altLang="en-US" dirty="0"/>
              <a:t>이를 편하게 계산하기 위해서 </a:t>
            </a:r>
            <a:r>
              <a:rPr lang="en-US" altLang="ko-KR" dirty="0"/>
              <a:t>“</a:t>
            </a:r>
            <a:r>
              <a:rPr lang="ko-KR" altLang="en-US" dirty="0"/>
              <a:t>표준정규분포표</a:t>
            </a:r>
            <a:r>
              <a:rPr lang="en-US" altLang="ko-KR" dirty="0"/>
              <a:t>＂</a:t>
            </a:r>
            <a:r>
              <a:rPr lang="ko-KR" altLang="en-US" dirty="0"/>
              <a:t>를 사용하는데</a:t>
            </a:r>
            <a:r>
              <a:rPr lang="en-US" altLang="ko-KR" dirty="0"/>
              <a:t>, </a:t>
            </a:r>
            <a:r>
              <a:rPr lang="ko-KR" altLang="en-US" dirty="0"/>
              <a:t>이를 통하여 정규분포를 표준정규분포로 변형해서 확률을 쉽게 구할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2383904"/>
      </p:ext>
    </p:extLst>
  </p:cSld>
  <p:clrMapOvr>
    <a:masterClrMapping/>
  </p:clrMapOvr>
  <p:transition spd="slow">
    <p:randomBar dir="vert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3CAF93-11EC-4D42-839A-794A3FF6D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7BADAC-601E-4E81-9089-56353C15B5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82733" cy="2483908"/>
          </a:xfrm>
        </p:spPr>
        <p:txBody>
          <a:bodyPr/>
          <a:lstStyle/>
          <a:p>
            <a:r>
              <a:rPr lang="ko-KR" altLang="en-US" dirty="0"/>
              <a:t>지난 </a:t>
            </a:r>
            <a:r>
              <a:rPr lang="en-US" altLang="ko-KR" dirty="0"/>
              <a:t>2021</a:t>
            </a:r>
            <a:r>
              <a:rPr lang="ko-KR" altLang="en-US" dirty="0"/>
              <a:t>년 </a:t>
            </a:r>
            <a:r>
              <a:rPr lang="en-US" altLang="ko-KR" dirty="0"/>
              <a:t>6</a:t>
            </a:r>
            <a:r>
              <a:rPr lang="ko-KR" altLang="en-US" dirty="0"/>
              <a:t>월 고</a:t>
            </a:r>
            <a:r>
              <a:rPr lang="en-US" altLang="ko-KR" dirty="0"/>
              <a:t>2 </a:t>
            </a:r>
            <a:r>
              <a:rPr lang="ko-KR" altLang="en-US" dirty="0"/>
              <a:t>국어 학력평가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평균 </a:t>
            </a:r>
            <a:r>
              <a:rPr lang="ko-KR" altLang="en-US" dirty="0" err="1"/>
              <a:t>원점수</a:t>
            </a:r>
            <a:r>
              <a:rPr lang="ko-KR" altLang="en-US" dirty="0"/>
              <a:t> </a:t>
            </a:r>
            <a:r>
              <a:rPr lang="en-US" altLang="ko-KR" dirty="0"/>
              <a:t>52.64</a:t>
            </a:r>
          </a:p>
          <a:p>
            <a:r>
              <a:rPr lang="ko-KR" altLang="en-US" dirty="0"/>
              <a:t>표준편차 </a:t>
            </a:r>
            <a:r>
              <a:rPr lang="en-US" altLang="ko-KR" dirty="0"/>
              <a:t>22.73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E30847-A9F2-4407-BF16-9D09AFD11E1F}"/>
              </a:ext>
            </a:extLst>
          </p:cNvPr>
          <p:cNvSpPr txBox="1"/>
          <p:nvPr/>
        </p:nvSpPr>
        <p:spPr>
          <a:xfrm>
            <a:off x="7603067" y="1303867"/>
            <a:ext cx="3081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N(52.64, 22.73)</a:t>
            </a:r>
            <a:r>
              <a:rPr lang="ko-KR" altLang="en-US" dirty="0"/>
              <a:t>을 따른다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9CA6587-C46B-4220-9D84-49856B8C4B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3066" y="1690688"/>
            <a:ext cx="1692771" cy="92333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FD74EDC-EBD5-4B12-AF7D-CEE26A3D0F0D}"/>
              </a:ext>
            </a:extLst>
          </p:cNvPr>
          <p:cNvSpPr txBox="1"/>
          <p:nvPr/>
        </p:nvSpPr>
        <p:spPr>
          <a:xfrm>
            <a:off x="7713134" y="2605914"/>
            <a:ext cx="36406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에서</a:t>
            </a:r>
            <a:r>
              <a:rPr lang="en-US" altLang="ko-KR" dirty="0"/>
              <a:t>,</a:t>
            </a:r>
          </a:p>
          <a:p>
            <a:r>
              <a:rPr lang="en-US" altLang="ko-KR" dirty="0"/>
              <a:t>Z=(98-52.64)/22.73</a:t>
            </a:r>
          </a:p>
          <a:p>
            <a:r>
              <a:rPr lang="en-US" altLang="ko-KR" dirty="0"/>
              <a:t>=1.995600……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03737124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FC0F09-9933-45E4-8602-6CDA7497E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정규분포표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AF05CF47-3429-4235-91DD-4AB243DC0B6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7307697"/>
              </p:ext>
            </p:extLst>
          </p:nvPr>
        </p:nvGraphicFramePr>
        <p:xfrm>
          <a:off x="1199122" y="1817951"/>
          <a:ext cx="9849873" cy="4363770"/>
        </p:xfrm>
        <a:graphic>
          <a:graphicData uri="http://schemas.openxmlformats.org/drawingml/2006/table">
            <a:tbl>
              <a:tblPr/>
              <a:tblGrid>
                <a:gridCol w="895443">
                  <a:extLst>
                    <a:ext uri="{9D8B030D-6E8A-4147-A177-3AD203B41FA5}">
                      <a16:colId xmlns:a16="http://schemas.microsoft.com/office/drawing/2014/main" val="3669103318"/>
                    </a:ext>
                  </a:extLst>
                </a:gridCol>
                <a:gridCol w="895443">
                  <a:extLst>
                    <a:ext uri="{9D8B030D-6E8A-4147-A177-3AD203B41FA5}">
                      <a16:colId xmlns:a16="http://schemas.microsoft.com/office/drawing/2014/main" val="3096394496"/>
                    </a:ext>
                  </a:extLst>
                </a:gridCol>
                <a:gridCol w="895443">
                  <a:extLst>
                    <a:ext uri="{9D8B030D-6E8A-4147-A177-3AD203B41FA5}">
                      <a16:colId xmlns:a16="http://schemas.microsoft.com/office/drawing/2014/main" val="871679277"/>
                    </a:ext>
                  </a:extLst>
                </a:gridCol>
                <a:gridCol w="895443">
                  <a:extLst>
                    <a:ext uri="{9D8B030D-6E8A-4147-A177-3AD203B41FA5}">
                      <a16:colId xmlns:a16="http://schemas.microsoft.com/office/drawing/2014/main" val="461981266"/>
                    </a:ext>
                  </a:extLst>
                </a:gridCol>
                <a:gridCol w="895443">
                  <a:extLst>
                    <a:ext uri="{9D8B030D-6E8A-4147-A177-3AD203B41FA5}">
                      <a16:colId xmlns:a16="http://schemas.microsoft.com/office/drawing/2014/main" val="2593674962"/>
                    </a:ext>
                  </a:extLst>
                </a:gridCol>
                <a:gridCol w="895443">
                  <a:extLst>
                    <a:ext uri="{9D8B030D-6E8A-4147-A177-3AD203B41FA5}">
                      <a16:colId xmlns:a16="http://schemas.microsoft.com/office/drawing/2014/main" val="1943305078"/>
                    </a:ext>
                  </a:extLst>
                </a:gridCol>
                <a:gridCol w="895443">
                  <a:extLst>
                    <a:ext uri="{9D8B030D-6E8A-4147-A177-3AD203B41FA5}">
                      <a16:colId xmlns:a16="http://schemas.microsoft.com/office/drawing/2014/main" val="1131619489"/>
                    </a:ext>
                  </a:extLst>
                </a:gridCol>
                <a:gridCol w="895443">
                  <a:extLst>
                    <a:ext uri="{9D8B030D-6E8A-4147-A177-3AD203B41FA5}">
                      <a16:colId xmlns:a16="http://schemas.microsoft.com/office/drawing/2014/main" val="4236073228"/>
                    </a:ext>
                  </a:extLst>
                </a:gridCol>
                <a:gridCol w="895443">
                  <a:extLst>
                    <a:ext uri="{9D8B030D-6E8A-4147-A177-3AD203B41FA5}">
                      <a16:colId xmlns:a16="http://schemas.microsoft.com/office/drawing/2014/main" val="3830993148"/>
                    </a:ext>
                  </a:extLst>
                </a:gridCol>
                <a:gridCol w="895443">
                  <a:extLst>
                    <a:ext uri="{9D8B030D-6E8A-4147-A177-3AD203B41FA5}">
                      <a16:colId xmlns:a16="http://schemas.microsoft.com/office/drawing/2014/main" val="3492213977"/>
                    </a:ext>
                  </a:extLst>
                </a:gridCol>
                <a:gridCol w="895443">
                  <a:extLst>
                    <a:ext uri="{9D8B030D-6E8A-4147-A177-3AD203B41FA5}">
                      <a16:colId xmlns:a16="http://schemas.microsoft.com/office/drawing/2014/main" val="1196551515"/>
                    </a:ext>
                  </a:extLst>
                </a:gridCol>
              </a:tblGrid>
              <a:tr h="320430">
                <a:tc>
                  <a:txBody>
                    <a:bodyPr/>
                    <a:lstStyle/>
                    <a:p>
                      <a:pPr algn="ctr"/>
                      <a:r>
                        <a:rPr lang="en-US" sz="1500" i="1">
                          <a:effectLst/>
                        </a:rPr>
                        <a:t>z</a:t>
                      </a:r>
                      <a:endParaRPr lang="en-US" sz="1500">
                        <a:effectLst/>
                      </a:endParaRP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+ 0.00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+ 0.01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+ 0.02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+ 0.03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+ 0.04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+ 0.05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+ 0.06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+ 0.07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+ 0.08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+ 0.09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714301"/>
                  </a:ext>
                </a:extLst>
              </a:tr>
              <a:tr h="32043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1.5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0.93319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 dirty="0">
                          <a:effectLst/>
                        </a:rPr>
                        <a:t>0.93448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0.93574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0.93699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0.93822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0.93943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0.94062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0.94179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0.94295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 dirty="0">
                          <a:effectLst/>
                        </a:rPr>
                        <a:t>0.94408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6953067"/>
                  </a:ext>
                </a:extLst>
              </a:tr>
              <a:tr h="32043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1.6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0.94520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0.94630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0.94738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0.94845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0.94950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0.95053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0.95154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0.95254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0.95352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0.95449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2889834"/>
                  </a:ext>
                </a:extLst>
              </a:tr>
              <a:tr h="32043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1.7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0.95543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0.95637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0.95728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0.95818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0.95907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0.95994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0.96080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0.96164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0.96246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0.96327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7917128"/>
                  </a:ext>
                </a:extLst>
              </a:tr>
              <a:tr h="32043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1.8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0.96407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0.96485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0.96562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0.96638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0.96712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0.96784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0.96856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0.96926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0.96995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0.97062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123512"/>
                  </a:ext>
                </a:extLst>
              </a:tr>
              <a:tr h="32043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1.9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0.97128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0.97193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0.97257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0.97320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0.97381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0.97441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0.97500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 dirty="0">
                          <a:effectLst/>
                        </a:rPr>
                        <a:t>0.97558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0.97615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0.97670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1341537"/>
                  </a:ext>
                </a:extLst>
              </a:tr>
              <a:tr h="259305">
                <a:tc>
                  <a:txBody>
                    <a:bodyPr/>
                    <a:lstStyle/>
                    <a:p>
                      <a:endParaRPr lang="ko-KR" altLang="en-US" sz="1500">
                        <a:effectLst/>
                      </a:endParaRP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13307" marR="13307" marT="6653" marB="6653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13307" marR="13307" marT="6653" marB="6653"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13307" marR="13307" marT="6653" marB="6653"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13307" marR="13307" marT="6653" marB="6653"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13307" marR="13307" marT="6653" marB="6653"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13307" marR="13307" marT="6653" marB="6653"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13307" marR="13307" marT="6653" marB="6653"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13307" marR="13307" marT="6653" marB="6653"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13307" marR="13307" marT="6653" marB="6653"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13307" marR="13307" marT="6653" marB="6653"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6595917"/>
                  </a:ext>
                </a:extLst>
              </a:tr>
              <a:tr h="32043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2.0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0.97725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0.97778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0.97831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0.97882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0.97932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0.97982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0.98030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0.98077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0.98124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0.98169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4154140"/>
                  </a:ext>
                </a:extLst>
              </a:tr>
              <a:tr h="32043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2.1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0.98214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0.98257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0.98300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0.98341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0.98382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0.98422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0.98461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0.98500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0.98537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0.98574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6056513"/>
                  </a:ext>
                </a:extLst>
              </a:tr>
              <a:tr h="32043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2.2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0.98610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0.98645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0.98679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0.98713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0.98745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0.98778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0.98809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0.98840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0.98870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0.98899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8015657"/>
                  </a:ext>
                </a:extLst>
              </a:tr>
              <a:tr h="32043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2.3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0.98928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0.98956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0.98983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0.99010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0.99036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0.99061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0.99086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0.99111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0.99134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0.99158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66273"/>
                  </a:ext>
                </a:extLst>
              </a:tr>
              <a:tr h="32043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2.4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0.99180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0.99202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0.99224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0.99245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0.99266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0.99286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0.99305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0.99324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0.99343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0.99361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3103123"/>
                  </a:ext>
                </a:extLst>
              </a:tr>
              <a:tr h="259305">
                <a:tc>
                  <a:txBody>
                    <a:bodyPr/>
                    <a:lstStyle/>
                    <a:p>
                      <a:endParaRPr lang="ko-KR" altLang="en-US" sz="1500">
                        <a:effectLst/>
                      </a:endParaRP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13307" marR="13307" marT="6653" marB="6653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13307" marR="13307" marT="6653" marB="6653"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13307" marR="13307" marT="6653" marB="6653"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13307" marR="13307" marT="6653" marB="6653"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13307" marR="13307" marT="6653" marB="6653"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13307" marR="13307" marT="6653" marB="6653"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13307" marR="13307" marT="6653" marB="6653"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13307" marR="13307" marT="6653" marB="6653"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13307" marR="13307" marT="6653" marB="6653"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13307" marR="13307" marT="6653" marB="6653"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0676047"/>
                  </a:ext>
                </a:extLst>
              </a:tr>
              <a:tr h="320430">
                <a:tc>
                  <a:txBody>
                    <a:bodyPr/>
                    <a:lstStyle/>
                    <a:p>
                      <a:pPr algn="ctr"/>
                      <a:r>
                        <a:rPr lang="en-US" sz="1500" i="1">
                          <a:effectLst/>
                        </a:rPr>
                        <a:t>z</a:t>
                      </a:r>
                      <a:endParaRPr lang="en-US" sz="1500">
                        <a:effectLst/>
                      </a:endParaRP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+ 0.00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+ 0.01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+ 0.02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+ 0.03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+ 0.04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+ 0.05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+ 0.06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+ 0.07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+ 0.08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 dirty="0">
                          <a:effectLst/>
                        </a:rPr>
                        <a:t>+ 0.09</a:t>
                      </a:r>
                    </a:p>
                  </a:txBody>
                  <a:tcPr marL="13307" marR="13307" marT="6653" marB="665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5174344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A57D776A-BDD3-4CB3-BAD6-9269EEC207DD}"/>
              </a:ext>
            </a:extLst>
          </p:cNvPr>
          <p:cNvSpPr/>
          <p:nvPr/>
        </p:nvSpPr>
        <p:spPr>
          <a:xfrm>
            <a:off x="1199122" y="4009361"/>
            <a:ext cx="9849873" cy="3048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247F99F-2CF3-4048-A401-F4A13AC4F779}"/>
              </a:ext>
            </a:extLst>
          </p:cNvPr>
          <p:cNvSpPr/>
          <p:nvPr/>
        </p:nvSpPr>
        <p:spPr>
          <a:xfrm>
            <a:off x="2076450" y="1817951"/>
            <a:ext cx="904870" cy="249621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5C97A12-9DE9-4CC1-BA61-31ACAB378F17}"/>
              </a:ext>
            </a:extLst>
          </p:cNvPr>
          <p:cNvSpPr/>
          <p:nvPr/>
        </p:nvSpPr>
        <p:spPr>
          <a:xfrm>
            <a:off x="2076450" y="4009361"/>
            <a:ext cx="904870" cy="304800"/>
          </a:xfrm>
          <a:prstGeom prst="rect">
            <a:avLst/>
          </a:prstGeom>
          <a:noFill/>
          <a:ln w="57150"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7999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07A90A-945C-4F9C-9ACC-3515A2153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결과 해석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87F24E-7617-4582-8DC2-20F6FA1616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구한 값</a:t>
            </a:r>
            <a:r>
              <a:rPr lang="en-US" altLang="ko-KR" dirty="0"/>
              <a:t>: 0.97725, </a:t>
            </a:r>
            <a:r>
              <a:rPr lang="ko-KR" altLang="en-US" dirty="0"/>
              <a:t>즉 </a:t>
            </a:r>
            <a:r>
              <a:rPr lang="en-US" altLang="ko-KR" dirty="0"/>
              <a:t>97.72%</a:t>
            </a:r>
          </a:p>
          <a:p>
            <a:r>
              <a:rPr lang="ko-KR" altLang="en-US" dirty="0"/>
              <a:t>실제 값</a:t>
            </a:r>
            <a:r>
              <a:rPr lang="en-US" altLang="ko-KR" dirty="0"/>
              <a:t>: 98.91%</a:t>
            </a:r>
          </a:p>
          <a:p>
            <a:endParaRPr lang="en-US" altLang="ko-KR" dirty="0"/>
          </a:p>
          <a:p>
            <a:r>
              <a:rPr lang="ko-KR" altLang="en-US" dirty="0"/>
              <a:t>점수가 </a:t>
            </a:r>
            <a:r>
              <a:rPr lang="en-US" altLang="ko-KR" dirty="0"/>
              <a:t>1</a:t>
            </a:r>
            <a:r>
              <a:rPr lang="ko-KR" altLang="en-US" dirty="0"/>
              <a:t>점식 떨어져 있으므로 완전한 연속확률변수가 아니라 이산확률변수여서 오차가 발생한 것으로 추정됨</a:t>
            </a:r>
          </a:p>
        </p:txBody>
      </p:sp>
    </p:spTree>
    <p:extLst>
      <p:ext uri="{BB962C8B-B14F-4D97-AF65-F5344CB8AC3E}">
        <p14:creationId xmlns:p14="http://schemas.microsoft.com/office/powerpoint/2010/main" val="904419349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EF53C2-071D-47ED-A392-0ECE5B105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추가 탐구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D923AD-CBA9-4FC3-8106-020FBF9510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양 </a:t>
            </a:r>
            <a:r>
              <a:rPr lang="ko-KR" altLang="en-US" dirty="0" err="1"/>
              <a:t>끝값이</a:t>
            </a:r>
            <a:r>
              <a:rPr lang="ko-KR" altLang="en-US" dirty="0"/>
              <a:t> 아니라 평균 근처에서의 오차는 얼마나 클까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en-US" altLang="ko-KR" dirty="0"/>
              <a:t>4</a:t>
            </a:r>
            <a:r>
              <a:rPr lang="ko-KR" altLang="en-US" dirty="0"/>
              <a:t>등급 컷</a:t>
            </a:r>
            <a:r>
              <a:rPr lang="en-US" altLang="ko-KR" dirty="0"/>
              <a:t>: 62</a:t>
            </a:r>
            <a:r>
              <a:rPr lang="ko-KR" altLang="en-US" dirty="0"/>
              <a:t>점</a:t>
            </a:r>
            <a:r>
              <a:rPr lang="en-US" altLang="ko-KR" dirty="0"/>
              <a:t>, </a:t>
            </a:r>
            <a:r>
              <a:rPr lang="ko-KR" altLang="en-US" dirty="0"/>
              <a:t>백분율 </a:t>
            </a:r>
            <a:r>
              <a:rPr lang="en-US" altLang="ko-KR" dirty="0"/>
              <a:t>61%</a:t>
            </a:r>
          </a:p>
          <a:p>
            <a:r>
              <a:rPr lang="ko-KR" altLang="en-US" dirty="0"/>
              <a:t>이때 </a:t>
            </a:r>
            <a:r>
              <a:rPr lang="en-US" altLang="ko-KR" dirty="0"/>
              <a:t>Z=(62-52.64)/22.73=0.411790</a:t>
            </a:r>
          </a:p>
        </p:txBody>
      </p:sp>
    </p:spTree>
    <p:extLst>
      <p:ext uri="{BB962C8B-B14F-4D97-AF65-F5344CB8AC3E}">
        <p14:creationId xmlns:p14="http://schemas.microsoft.com/office/powerpoint/2010/main" val="3656462369"/>
      </p:ext>
    </p:extLst>
  </p:cSld>
  <p:clrMapOvr>
    <a:masterClrMapping/>
  </p:clrMapOvr>
  <p:transition spd="slow">
    <p:push dir="r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47FE72BE-79BD-4A96-A3C5-B5768F2025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842962"/>
              </p:ext>
            </p:extLst>
          </p:nvPr>
        </p:nvGraphicFramePr>
        <p:xfrm>
          <a:off x="973699" y="1858832"/>
          <a:ext cx="10030856" cy="4191660"/>
        </p:xfrm>
        <a:graphic>
          <a:graphicData uri="http://schemas.openxmlformats.org/drawingml/2006/table">
            <a:tbl>
              <a:tblPr/>
              <a:tblGrid>
                <a:gridCol w="911896">
                  <a:extLst>
                    <a:ext uri="{9D8B030D-6E8A-4147-A177-3AD203B41FA5}">
                      <a16:colId xmlns:a16="http://schemas.microsoft.com/office/drawing/2014/main" val="2787738505"/>
                    </a:ext>
                  </a:extLst>
                </a:gridCol>
                <a:gridCol w="911896">
                  <a:extLst>
                    <a:ext uri="{9D8B030D-6E8A-4147-A177-3AD203B41FA5}">
                      <a16:colId xmlns:a16="http://schemas.microsoft.com/office/drawing/2014/main" val="1215923738"/>
                    </a:ext>
                  </a:extLst>
                </a:gridCol>
                <a:gridCol w="911896">
                  <a:extLst>
                    <a:ext uri="{9D8B030D-6E8A-4147-A177-3AD203B41FA5}">
                      <a16:colId xmlns:a16="http://schemas.microsoft.com/office/drawing/2014/main" val="3423031327"/>
                    </a:ext>
                  </a:extLst>
                </a:gridCol>
                <a:gridCol w="911896">
                  <a:extLst>
                    <a:ext uri="{9D8B030D-6E8A-4147-A177-3AD203B41FA5}">
                      <a16:colId xmlns:a16="http://schemas.microsoft.com/office/drawing/2014/main" val="3262290479"/>
                    </a:ext>
                  </a:extLst>
                </a:gridCol>
                <a:gridCol w="911896">
                  <a:extLst>
                    <a:ext uri="{9D8B030D-6E8A-4147-A177-3AD203B41FA5}">
                      <a16:colId xmlns:a16="http://schemas.microsoft.com/office/drawing/2014/main" val="254612386"/>
                    </a:ext>
                  </a:extLst>
                </a:gridCol>
                <a:gridCol w="911896">
                  <a:extLst>
                    <a:ext uri="{9D8B030D-6E8A-4147-A177-3AD203B41FA5}">
                      <a16:colId xmlns:a16="http://schemas.microsoft.com/office/drawing/2014/main" val="838091302"/>
                    </a:ext>
                  </a:extLst>
                </a:gridCol>
                <a:gridCol w="911896">
                  <a:extLst>
                    <a:ext uri="{9D8B030D-6E8A-4147-A177-3AD203B41FA5}">
                      <a16:colId xmlns:a16="http://schemas.microsoft.com/office/drawing/2014/main" val="1608833053"/>
                    </a:ext>
                  </a:extLst>
                </a:gridCol>
                <a:gridCol w="911896">
                  <a:extLst>
                    <a:ext uri="{9D8B030D-6E8A-4147-A177-3AD203B41FA5}">
                      <a16:colId xmlns:a16="http://schemas.microsoft.com/office/drawing/2014/main" val="968295828"/>
                    </a:ext>
                  </a:extLst>
                </a:gridCol>
                <a:gridCol w="911896">
                  <a:extLst>
                    <a:ext uri="{9D8B030D-6E8A-4147-A177-3AD203B41FA5}">
                      <a16:colId xmlns:a16="http://schemas.microsoft.com/office/drawing/2014/main" val="3658882799"/>
                    </a:ext>
                  </a:extLst>
                </a:gridCol>
                <a:gridCol w="911896">
                  <a:extLst>
                    <a:ext uri="{9D8B030D-6E8A-4147-A177-3AD203B41FA5}">
                      <a16:colId xmlns:a16="http://schemas.microsoft.com/office/drawing/2014/main" val="7178244"/>
                    </a:ext>
                  </a:extLst>
                </a:gridCol>
                <a:gridCol w="911896">
                  <a:extLst>
                    <a:ext uri="{9D8B030D-6E8A-4147-A177-3AD203B41FA5}">
                      <a16:colId xmlns:a16="http://schemas.microsoft.com/office/drawing/2014/main" val="1861306466"/>
                    </a:ext>
                  </a:extLst>
                </a:gridCol>
              </a:tblGrid>
              <a:tr h="288600">
                <a:tc>
                  <a:txBody>
                    <a:bodyPr/>
                    <a:lstStyle/>
                    <a:p>
                      <a:pPr algn="ctr"/>
                      <a:r>
                        <a:rPr lang="en-US" sz="1500" i="1">
                          <a:effectLst/>
                        </a:rPr>
                        <a:t>z</a:t>
                      </a:r>
                      <a:endParaRPr lang="en-US" sz="1500">
                        <a:effectLst/>
                      </a:endParaRP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+ 0.00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+ 0.01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+ 0.02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+ 0.03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+ 0.04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+ 0.05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+ 0.06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+ 0.07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+ 0.08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+ 0.09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2043105"/>
                  </a:ext>
                </a:extLst>
              </a:tr>
              <a:tr h="361446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0.0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0.50000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0.50399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0.50798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0.51197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0.51595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0.51994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0.52392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0.52790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0.53188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0.53586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4354290"/>
                  </a:ext>
                </a:extLst>
              </a:tr>
              <a:tr h="361446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0.1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0.53983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 dirty="0">
                          <a:effectLst/>
                        </a:rPr>
                        <a:t>0.54380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0.54776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0.55172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0.55567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0.55962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0.56360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0.56749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0.57142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0.57535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9884063"/>
                  </a:ext>
                </a:extLst>
              </a:tr>
              <a:tr h="361446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0.2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0.57926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0.58317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0.58706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0.59095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0.59483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0.59871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0.60257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0.60642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0.61026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0.61409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7806679"/>
                  </a:ext>
                </a:extLst>
              </a:tr>
              <a:tr h="361446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0.3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0.61791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0.62172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0.62552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0.62930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0.63307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0.63683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0.64058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0.64431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0.64803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0.65173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6256476"/>
                  </a:ext>
                </a:extLst>
              </a:tr>
              <a:tr h="361446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0.4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0.65542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0.65910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0.66276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0.66640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0.67003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0.67364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0.67724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0.68082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0.68439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0.68793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185577"/>
                  </a:ext>
                </a:extLst>
              </a:tr>
              <a:tr h="288600">
                <a:tc>
                  <a:txBody>
                    <a:bodyPr/>
                    <a:lstStyle/>
                    <a:p>
                      <a:endParaRPr lang="ko-KR" altLang="en-US" sz="1500">
                        <a:effectLst/>
                      </a:endParaRP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55786" marR="55786" marT="27893" marB="27893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55786" marR="55786" marT="27893" marB="27893"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55786" marR="55786" marT="27893" marB="27893"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55786" marR="55786" marT="27893" marB="27893"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55786" marR="55786" marT="27893" marB="27893"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55786" marR="55786" marT="27893" marB="27893"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55786" marR="55786" marT="27893" marB="27893"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55786" marR="55786" marT="27893" marB="27893"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55786" marR="55786" marT="27893" marB="27893"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55786" marR="55786" marT="27893" marB="27893"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7067612"/>
                  </a:ext>
                </a:extLst>
              </a:tr>
              <a:tr h="361446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0.5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0.69146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0.69497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0.69847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0.70194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0.70540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0.70884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0.71226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0.71566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0.71904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0.72240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8421555"/>
                  </a:ext>
                </a:extLst>
              </a:tr>
              <a:tr h="361446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0.6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0.72575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0.72907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0.73237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0.73565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0.73891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0.74215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0.74537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0.74857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0.75175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0.75490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8081663"/>
                  </a:ext>
                </a:extLst>
              </a:tr>
              <a:tr h="361446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0.7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0.75804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0.76115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0.76424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0.76730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0.77035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0.77337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0.77637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0.77935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0.78230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0.78524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3391727"/>
                  </a:ext>
                </a:extLst>
              </a:tr>
              <a:tr h="361446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0.8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0.78814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0.79103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0.79389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0.79673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0.79955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0.80234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0.80511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0.80785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0.81057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0.81327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052623"/>
                  </a:ext>
                </a:extLst>
              </a:tr>
              <a:tr h="361446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500">
                          <a:effectLst/>
                        </a:rPr>
                        <a:t>0.9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0.81594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0.81859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0.82121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0.82381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0.82639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0.82894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0.83147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0.83398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>
                          <a:effectLst/>
                        </a:rPr>
                        <a:t>0.83646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 dirty="0">
                          <a:effectLst/>
                        </a:rPr>
                        <a:t>0.83891</a:t>
                      </a:r>
                    </a:p>
                  </a:txBody>
                  <a:tcPr marL="55786" marR="55786" marT="27893" marB="27893" anchor="ctr"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8316730"/>
                  </a:ext>
                </a:extLst>
              </a:tr>
            </a:tbl>
          </a:graphicData>
        </a:graphic>
      </p:graphicFrame>
      <p:sp>
        <p:nvSpPr>
          <p:cNvPr id="5" name="직사각형 4">
            <a:extLst>
              <a:ext uri="{FF2B5EF4-FFF2-40B4-BE49-F238E27FC236}">
                <a16:creationId xmlns:a16="http://schemas.microsoft.com/office/drawing/2014/main" id="{86080D7C-065D-4B26-A932-96C8F71ED29B}"/>
              </a:ext>
            </a:extLst>
          </p:cNvPr>
          <p:cNvSpPr/>
          <p:nvPr/>
        </p:nvSpPr>
        <p:spPr>
          <a:xfrm>
            <a:off x="973699" y="3606799"/>
            <a:ext cx="2715641" cy="338668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F7CBBDC-3CD8-4D0D-81BB-92C775CDC108}"/>
              </a:ext>
            </a:extLst>
          </p:cNvPr>
          <p:cNvSpPr/>
          <p:nvPr/>
        </p:nvSpPr>
        <p:spPr>
          <a:xfrm>
            <a:off x="2792937" y="1877222"/>
            <a:ext cx="904870" cy="2068245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3284DFC-2D36-408D-A54B-5C805DE29D62}"/>
              </a:ext>
            </a:extLst>
          </p:cNvPr>
          <p:cNvSpPr/>
          <p:nvPr/>
        </p:nvSpPr>
        <p:spPr>
          <a:xfrm>
            <a:off x="2784470" y="3616721"/>
            <a:ext cx="904870" cy="347135"/>
          </a:xfrm>
          <a:prstGeom prst="rect">
            <a:avLst/>
          </a:prstGeom>
          <a:noFill/>
          <a:ln w="57150"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A290D010-1548-4CE7-9762-246EA665F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ko-KR" altLang="en-US" dirty="0"/>
              <a:t>정규분포표</a:t>
            </a:r>
          </a:p>
        </p:txBody>
      </p:sp>
    </p:spTree>
    <p:extLst>
      <p:ext uri="{BB962C8B-B14F-4D97-AF65-F5344CB8AC3E}">
        <p14:creationId xmlns:p14="http://schemas.microsoft.com/office/powerpoint/2010/main" val="3834171548"/>
      </p:ext>
    </p:extLst>
  </p:cSld>
  <p:clrMapOvr>
    <a:masterClrMapping/>
  </p:clrMapOvr>
  <p:transition spd="slow">
    <p:push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E98C1D-0482-40DD-86EC-13EFF5DCF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결과해석</a:t>
            </a:r>
            <a:r>
              <a:rPr lang="en-US" altLang="ko-KR" dirty="0"/>
              <a:t>(</a:t>
            </a:r>
            <a:r>
              <a:rPr lang="ko-KR" altLang="en-US" dirty="0"/>
              <a:t>추가탐구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CA9ECE-9063-4D39-A841-0D5C284738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구한 값</a:t>
            </a:r>
            <a:r>
              <a:rPr lang="en-US" altLang="ko-KR" dirty="0"/>
              <a:t>: 0.65542 </a:t>
            </a:r>
            <a:r>
              <a:rPr lang="ko-KR" altLang="en-US" dirty="0"/>
              <a:t>즉</a:t>
            </a:r>
            <a:r>
              <a:rPr lang="en-US" altLang="ko-KR" dirty="0"/>
              <a:t>, 65.5%</a:t>
            </a:r>
          </a:p>
          <a:p>
            <a:r>
              <a:rPr lang="ko-KR" altLang="en-US" dirty="0"/>
              <a:t>실제 값</a:t>
            </a:r>
            <a:r>
              <a:rPr lang="en-US" altLang="ko-KR" dirty="0"/>
              <a:t>: 61%</a:t>
            </a:r>
          </a:p>
          <a:p>
            <a:endParaRPr lang="en-US" altLang="ko-KR" dirty="0"/>
          </a:p>
          <a:p>
            <a:r>
              <a:rPr lang="ko-KR" altLang="en-US" dirty="0"/>
              <a:t>오차가 앞에서 </a:t>
            </a:r>
            <a:r>
              <a:rPr lang="en-US" altLang="ko-KR" dirty="0"/>
              <a:t>1.2%</a:t>
            </a:r>
            <a:r>
              <a:rPr lang="ko-KR" altLang="en-US" dirty="0"/>
              <a:t>에 비해 </a:t>
            </a:r>
            <a:r>
              <a:rPr lang="en-US" altLang="ko-KR" dirty="0"/>
              <a:t>4.5%</a:t>
            </a:r>
            <a:r>
              <a:rPr lang="ko-KR" altLang="en-US" dirty="0"/>
              <a:t>로 증가했음</a:t>
            </a:r>
            <a:endParaRPr lang="en-US" altLang="ko-KR" dirty="0"/>
          </a:p>
          <a:p>
            <a:r>
              <a:rPr lang="en-US" altLang="ko-KR" dirty="0"/>
              <a:t>=&gt;</a:t>
            </a:r>
            <a:r>
              <a:rPr lang="ko-KR" altLang="en-US" dirty="0">
                <a:solidFill>
                  <a:srgbClr val="FF0000"/>
                </a:solidFill>
              </a:rPr>
              <a:t>평균에 가까울수록 오차가 커진다</a:t>
            </a:r>
            <a:r>
              <a:rPr lang="en-US" altLang="ko-KR" dirty="0">
                <a:solidFill>
                  <a:srgbClr val="FF0000"/>
                </a:solidFill>
              </a:rPr>
              <a:t>.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2768169"/>
      </p:ext>
    </p:extLst>
  </p:cSld>
  <p:clrMapOvr>
    <a:masterClrMapping/>
  </p:clrMapOvr>
  <p:transition spd="slow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CD5FFF-B55E-4E85-811E-3B2826CFD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백분율 추정 프로그램 제작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EB87826-B003-4899-9E56-4375DDA61B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3200" dirty="0"/>
              <a:t>http://kjhmatt.github.io/Score_Percent.py</a:t>
            </a:r>
            <a:endParaRPr lang="ko-KR" altLang="en-US" sz="32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40D17A4-6FC5-4EA7-8422-24E86BB95E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951" y="2625021"/>
            <a:ext cx="5412382" cy="3357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759279"/>
      </p:ext>
    </p:extLst>
  </p:cSld>
  <p:clrMapOvr>
    <a:masterClrMapping/>
  </p:clrMapOvr>
  <p:transition spd="slow">
    <p:cover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aphic 185">
            <a:extLst>
              <a:ext uri="{FF2B5EF4-FFF2-40B4-BE49-F238E27FC236}">
                <a16:creationId xmlns:a16="http://schemas.microsoft.com/office/drawing/2014/main" id="{8A351602-3772-4279-B0D3-A523F6F6E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999576" y="5987064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5AAAA75-5FFB-4C07-AD4A-3146773E6C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479895E-3847-44BB-8404-28F14219FB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50E02F68-8149-4236-8D9F-6B550F78B9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56FCAAB-F073-4561-A484-42C7DD10DC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CF8DB94-87A3-43E9-9BBB-301CFF0FB0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7D6BF779-0B8C-4CC2-9268-9506AD0C53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489B7BFD-8F45-4093-AD9C-91B15B050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498F8FF6-43B4-494A-AF8F-123A4983ED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08103" y="-15159"/>
            <a:ext cx="4902679" cy="4616801"/>
          </a:xfrm>
          <a:custGeom>
            <a:avLst/>
            <a:gdLst>
              <a:gd name="connsiteX0" fmla="*/ 1825048 w 6355652"/>
              <a:gd name="connsiteY0" fmla="*/ 0 h 6050127"/>
              <a:gd name="connsiteX1" fmla="*/ 4530604 w 6355652"/>
              <a:gd name="connsiteY1" fmla="*/ 0 h 6050127"/>
              <a:gd name="connsiteX2" fmla="*/ 4692567 w 6355652"/>
              <a:gd name="connsiteY2" fmla="*/ 78022 h 6050127"/>
              <a:gd name="connsiteX3" fmla="*/ 6355652 w 6355652"/>
              <a:gd name="connsiteY3" fmla="*/ 2872301 h 6050127"/>
              <a:gd name="connsiteX4" fmla="*/ 3177826 w 6355652"/>
              <a:gd name="connsiteY4" fmla="*/ 6050127 h 6050127"/>
              <a:gd name="connsiteX5" fmla="*/ 0 w 6355652"/>
              <a:gd name="connsiteY5" fmla="*/ 2872301 h 6050127"/>
              <a:gd name="connsiteX6" fmla="*/ 1663086 w 6355652"/>
              <a:gd name="connsiteY6" fmla="*/ 78022 h 605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55652" h="6050127">
                <a:moveTo>
                  <a:pt x="1825048" y="0"/>
                </a:moveTo>
                <a:lnTo>
                  <a:pt x="4530604" y="0"/>
                </a:lnTo>
                <a:lnTo>
                  <a:pt x="4692567" y="78022"/>
                </a:lnTo>
                <a:cubicBezTo>
                  <a:pt x="5683175" y="616152"/>
                  <a:pt x="6355652" y="1665694"/>
                  <a:pt x="6355652" y="2872301"/>
                </a:cubicBezTo>
                <a:cubicBezTo>
                  <a:pt x="6355652" y="4627366"/>
                  <a:pt x="4932891" y="6050127"/>
                  <a:pt x="3177826" y="6050127"/>
                </a:cubicBezTo>
                <a:cubicBezTo>
                  <a:pt x="1422761" y="6050127"/>
                  <a:pt x="0" y="4627366"/>
                  <a:pt x="0" y="2872301"/>
                </a:cubicBezTo>
                <a:cubicBezTo>
                  <a:pt x="0" y="1665694"/>
                  <a:pt x="672477" y="616152"/>
                  <a:pt x="1663086" y="78022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3574554-84CF-4FF0-B1BF-553245CC6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479558"/>
            <a:ext cx="1861854" cy="717514"/>
            <a:chOff x="0" y="1479558"/>
            <a:chExt cx="1861854" cy="717514"/>
          </a:xfrm>
          <a:solidFill>
            <a:schemeClr val="tx1"/>
          </a:solidFill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E16C8D8F-10E9-4498-ABDB-0F923F8B68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1479558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7963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283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7963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283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1E5A83E3-8A11-4492-BB6E-F5F2240316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1919293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8208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475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8208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475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</p:grp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76C5E6D3-976B-41A7-B008-5BB4ADF444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17246" y="-12193"/>
            <a:ext cx="4902679" cy="4616801"/>
          </a:xfrm>
          <a:custGeom>
            <a:avLst/>
            <a:gdLst>
              <a:gd name="connsiteX0" fmla="*/ 1825048 w 6355652"/>
              <a:gd name="connsiteY0" fmla="*/ 0 h 6050127"/>
              <a:gd name="connsiteX1" fmla="*/ 4530604 w 6355652"/>
              <a:gd name="connsiteY1" fmla="*/ 0 h 6050127"/>
              <a:gd name="connsiteX2" fmla="*/ 4692567 w 6355652"/>
              <a:gd name="connsiteY2" fmla="*/ 78022 h 6050127"/>
              <a:gd name="connsiteX3" fmla="*/ 6355652 w 6355652"/>
              <a:gd name="connsiteY3" fmla="*/ 2872301 h 6050127"/>
              <a:gd name="connsiteX4" fmla="*/ 3177826 w 6355652"/>
              <a:gd name="connsiteY4" fmla="*/ 6050127 h 6050127"/>
              <a:gd name="connsiteX5" fmla="*/ 0 w 6355652"/>
              <a:gd name="connsiteY5" fmla="*/ 2872301 h 6050127"/>
              <a:gd name="connsiteX6" fmla="*/ 1663086 w 6355652"/>
              <a:gd name="connsiteY6" fmla="*/ 78022 h 605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55652" h="6050127">
                <a:moveTo>
                  <a:pt x="1825048" y="0"/>
                </a:moveTo>
                <a:lnTo>
                  <a:pt x="4530604" y="0"/>
                </a:lnTo>
                <a:lnTo>
                  <a:pt x="4692567" y="78022"/>
                </a:lnTo>
                <a:cubicBezTo>
                  <a:pt x="5683175" y="616152"/>
                  <a:pt x="6355652" y="1665694"/>
                  <a:pt x="6355652" y="2872301"/>
                </a:cubicBezTo>
                <a:cubicBezTo>
                  <a:pt x="6355652" y="4627366"/>
                  <a:pt x="4932891" y="6050127"/>
                  <a:pt x="3177826" y="6050127"/>
                </a:cubicBezTo>
                <a:cubicBezTo>
                  <a:pt x="1422761" y="6050127"/>
                  <a:pt x="0" y="4627366"/>
                  <a:pt x="0" y="2872301"/>
                </a:cubicBezTo>
                <a:cubicBezTo>
                  <a:pt x="0" y="1665694"/>
                  <a:pt x="672477" y="616152"/>
                  <a:pt x="1663086" y="78022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9" name="Freeform: Shape 28">
            <a:extLst>
              <a:ext uri="{FF2B5EF4-FFF2-40B4-BE49-F238E27FC236}">
                <a16:creationId xmlns:a16="http://schemas.microsoft.com/office/drawing/2014/main" id="{5AFEC601-A132-47EE-B0C2-B38ACD9FCE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05243" y="-12192"/>
            <a:ext cx="4902678" cy="4544235"/>
          </a:xfrm>
          <a:custGeom>
            <a:avLst/>
            <a:gdLst>
              <a:gd name="connsiteX0" fmla="*/ 1529549 w 6355652"/>
              <a:gd name="connsiteY0" fmla="*/ 0 h 5890980"/>
              <a:gd name="connsiteX1" fmla="*/ 4826104 w 6355652"/>
              <a:gd name="connsiteY1" fmla="*/ 0 h 5890980"/>
              <a:gd name="connsiteX2" fmla="*/ 4954579 w 6355652"/>
              <a:gd name="connsiteY2" fmla="*/ 78051 h 5890980"/>
              <a:gd name="connsiteX3" fmla="*/ 6355652 w 6355652"/>
              <a:gd name="connsiteY3" fmla="*/ 2713154 h 5890980"/>
              <a:gd name="connsiteX4" fmla="*/ 3177826 w 6355652"/>
              <a:gd name="connsiteY4" fmla="*/ 5890980 h 5890980"/>
              <a:gd name="connsiteX5" fmla="*/ 0 w 6355652"/>
              <a:gd name="connsiteY5" fmla="*/ 2713154 h 5890980"/>
              <a:gd name="connsiteX6" fmla="*/ 1401073 w 6355652"/>
              <a:gd name="connsiteY6" fmla="*/ 78051 h 5890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55652" h="5890980">
                <a:moveTo>
                  <a:pt x="1529549" y="0"/>
                </a:moveTo>
                <a:lnTo>
                  <a:pt x="4826104" y="0"/>
                </a:lnTo>
                <a:lnTo>
                  <a:pt x="4954579" y="78051"/>
                </a:lnTo>
                <a:cubicBezTo>
                  <a:pt x="5799886" y="649129"/>
                  <a:pt x="6355652" y="1616239"/>
                  <a:pt x="6355652" y="2713154"/>
                </a:cubicBezTo>
                <a:cubicBezTo>
                  <a:pt x="6355652" y="4468219"/>
                  <a:pt x="4932891" y="5890980"/>
                  <a:pt x="3177826" y="5890980"/>
                </a:cubicBezTo>
                <a:cubicBezTo>
                  <a:pt x="1422761" y="5890980"/>
                  <a:pt x="0" y="4468219"/>
                  <a:pt x="0" y="2713154"/>
                </a:cubicBezTo>
                <a:cubicBezTo>
                  <a:pt x="0" y="1616239"/>
                  <a:pt x="555766" y="649129"/>
                  <a:pt x="1401073" y="78051"/>
                </a:cubicBezTo>
                <a:close/>
              </a:path>
            </a:pathLst>
          </a:custGeom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D9E02D8-25C5-4197-8867-1CA369BE0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0765" y="324937"/>
            <a:ext cx="4024032" cy="288571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ko-KR" altLang="en-US" cap="all" spc="1500" dirty="0">
                <a:ea typeface="Source Sans Pro SemiBold" panose="020B0603030403020204" pitchFamily="34" charset="0"/>
              </a:rPr>
              <a:t>감사합니다</a:t>
            </a:r>
            <a:endParaRPr lang="en-US" altLang="ko-KR" cap="all" spc="1500" dirty="0">
              <a:ea typeface="Source Sans Pro SemiBold" panose="020B0603030403020204" pitchFamily="34" charset="0"/>
            </a:endParaRPr>
          </a:p>
        </p:txBody>
      </p:sp>
      <p:sp>
        <p:nvSpPr>
          <p:cNvPr id="31" name="Graphic 212">
            <a:extLst>
              <a:ext uri="{FF2B5EF4-FFF2-40B4-BE49-F238E27FC236}">
                <a16:creationId xmlns:a16="http://schemas.microsoft.com/office/drawing/2014/main" id="{279CAF82-0ECF-42BE-8F37-F71941E5D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49933" y="1550555"/>
            <a:ext cx="413564" cy="4135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33" name="Graphic 212">
            <a:extLst>
              <a:ext uri="{FF2B5EF4-FFF2-40B4-BE49-F238E27FC236}">
                <a16:creationId xmlns:a16="http://schemas.microsoft.com/office/drawing/2014/main" id="{2A8D3863-50D5-4235-9082-36776BF4F0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49933" y="1550555"/>
            <a:ext cx="413564" cy="4135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3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2B1429-F98B-4DDC-ABFD-B4E03410CA4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25" r="27590" b="1"/>
          <a:stretch/>
        </p:blipFill>
        <p:spPr>
          <a:xfrm>
            <a:off x="6601854" y="2313765"/>
            <a:ext cx="4773089" cy="4544235"/>
          </a:xfrm>
          <a:custGeom>
            <a:avLst/>
            <a:gdLst/>
            <a:ahLst/>
            <a:cxnLst/>
            <a:rect l="l" t="t" r="r" b="b"/>
            <a:pathLst>
              <a:path w="4773089" h="4544235">
                <a:moveTo>
                  <a:pt x="2386544" y="0"/>
                </a:moveTo>
                <a:cubicBezTo>
                  <a:pt x="3704596" y="0"/>
                  <a:pt x="4773089" y="1068494"/>
                  <a:pt x="4773089" y="2386545"/>
                </a:cubicBezTo>
                <a:cubicBezTo>
                  <a:pt x="4773089" y="3292705"/>
                  <a:pt x="4268059" y="4080910"/>
                  <a:pt x="3524113" y="4485046"/>
                </a:cubicBezTo>
                <a:lnTo>
                  <a:pt x="3401244" y="4544235"/>
                </a:lnTo>
                <a:lnTo>
                  <a:pt x="1371845" y="4544235"/>
                </a:lnTo>
                <a:lnTo>
                  <a:pt x="1248976" y="4485046"/>
                </a:lnTo>
                <a:cubicBezTo>
                  <a:pt x="505030" y="4080910"/>
                  <a:pt x="0" y="3292705"/>
                  <a:pt x="0" y="2386545"/>
                </a:cubicBezTo>
                <a:cubicBezTo>
                  <a:pt x="0" y="1068494"/>
                  <a:pt x="1068494" y="0"/>
                  <a:pt x="2386544" y="0"/>
                </a:cubicBezTo>
                <a:close/>
              </a:path>
            </a:pathLst>
          </a:custGeom>
        </p:spPr>
      </p:pic>
      <p:grpSp>
        <p:nvGrpSpPr>
          <p:cNvPr id="35" name="Graphic 185">
            <a:extLst>
              <a:ext uri="{FF2B5EF4-FFF2-40B4-BE49-F238E27FC236}">
                <a16:creationId xmlns:a16="http://schemas.microsoft.com/office/drawing/2014/main" id="{FB9739EB-7F66-433D-841F-AB3CD1870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549330" y="2740963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04F2BBD-A005-4DCB-9566-F2351050BE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8B00DEC7-198B-49D1-98FD-018F3ECFCF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F14DFC82-B3B3-468E-91B3-1302CFC684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D3250EFE-214E-4B8E-AF96-036A514FFB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AD058EBE-D4A5-4C43-B170-6A451F87A7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2" name="Oval 41">
            <a:extLst>
              <a:ext uri="{FF2B5EF4-FFF2-40B4-BE49-F238E27FC236}">
                <a16:creationId xmlns:a16="http://schemas.microsoft.com/office/drawing/2014/main" id="{033BC44A-0661-43B4-9C14-FD5963C226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69124" y="5424608"/>
            <a:ext cx="319941" cy="319941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9306212-88FA-45BF-ABA3-1454AC42D9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69124" y="5424608"/>
            <a:ext cx="319941" cy="319941"/>
          </a:xfrm>
          <a:prstGeom prst="ellipse">
            <a:avLst/>
          </a:prstGeom>
          <a:solidFill>
            <a:schemeClr val="accent3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55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 thruBlk="1"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5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FunkyShapesVTI">
  <a:themeElements>
    <a:clrScheme name="Custom 15">
      <a:dk1>
        <a:sysClr val="windowText" lastClr="000000"/>
      </a:dk1>
      <a:lt1>
        <a:sysClr val="window" lastClr="FFFFFF"/>
      </a:lt1>
      <a:dk2>
        <a:srgbClr val="2D2D2D"/>
      </a:dk2>
      <a:lt2>
        <a:srgbClr val="F3FFF8"/>
      </a:lt2>
      <a:accent1>
        <a:srgbClr val="FF80BD"/>
      </a:accent1>
      <a:accent2>
        <a:srgbClr val="1EB9D3"/>
      </a:accent2>
      <a:accent3>
        <a:srgbClr val="21C46B"/>
      </a:accent3>
      <a:accent4>
        <a:srgbClr val="EA9600"/>
      </a:accent4>
      <a:accent5>
        <a:srgbClr val="F43B56"/>
      </a:accent5>
      <a:accent6>
        <a:srgbClr val="4B56E8"/>
      </a:accent6>
      <a:hlink>
        <a:srgbClr val="8F61FF"/>
      </a:hlink>
      <a:folHlink>
        <a:srgbClr val="F900A0"/>
      </a:folHlink>
    </a:clrScheme>
    <a:fontScheme name="Source Sans Pro">
      <a:majorFont>
        <a:latin typeface="Microsoft GothicNeo"/>
        <a:ea typeface=""/>
        <a:cs typeface=""/>
      </a:majorFont>
      <a:minorFont>
        <a:latin typeface="Microsoft GothicNe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unkyShapesVTI" id="{A7F40C41-3FB2-45B0-B0D6-DFB7FDD9B7AD}" vid="{C49381A0-09CD-46EE-B141-E2CDD87ABFE3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</TotalTime>
  <Words>590</Words>
  <Application>Microsoft Office PowerPoint</Application>
  <PresentationFormat>와이드스크린</PresentationFormat>
  <Paragraphs>297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8" baseType="lpstr">
      <vt:lpstr>Microsoft GothicNeo</vt:lpstr>
      <vt:lpstr>맑은 고딕</vt:lpstr>
      <vt:lpstr>함초롬바탕</vt:lpstr>
      <vt:lpstr>Arial</vt:lpstr>
      <vt:lpstr>FunkyShapesVTI</vt:lpstr>
      <vt:lpstr>정규분포로 자신의 등수를 얻는 법</vt:lpstr>
      <vt:lpstr>1. 선정 동기</vt:lpstr>
      <vt:lpstr>2. 등수 추정 프로그램</vt:lpstr>
      <vt:lpstr>3. 등수 추정 프로그램의 원리</vt:lpstr>
      <vt:lpstr>표준정규분포</vt:lpstr>
      <vt:lpstr>예시</vt:lpstr>
      <vt:lpstr>정규분포표</vt:lpstr>
      <vt:lpstr>결과 해석</vt:lpstr>
      <vt:lpstr>추가 탐구</vt:lpstr>
      <vt:lpstr>정규분포표</vt:lpstr>
      <vt:lpstr>결과해석(추가탐구)</vt:lpstr>
      <vt:lpstr>백분율 추정 프로그램 제작</vt:lpstr>
      <vt:lpstr>감사합니다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정규분포로 자신의 등수를 얻는 법</dc:title>
  <dc:creator>김정훈</dc:creator>
  <cp:lastModifiedBy>김정훈</cp:lastModifiedBy>
  <cp:revision>19</cp:revision>
  <dcterms:created xsi:type="dcterms:W3CDTF">2021-10-13T15:14:15Z</dcterms:created>
  <dcterms:modified xsi:type="dcterms:W3CDTF">2021-10-22T16:36:33Z</dcterms:modified>
</cp:coreProperties>
</file>