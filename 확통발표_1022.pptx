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7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8" r:id="rId14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6E6E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510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6" d="100"/>
          <a:sy n="86" d="100"/>
        </p:scale>
        <p:origin x="3864" y="7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E21AC64-CEFC-40C7-9B4B-64CE17B3EBB0}" type="datetimeFigureOut">
              <a:rPr lang="ko-KR" altLang="en-US" smtClean="0"/>
              <a:t>2021-10-22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E5A19A7-9001-4F8C-B8E2-CAE042279B9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550270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86847D-1CF6-46BA-B46B-48BED0604A2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 b="1" cap="none" spc="130" baseline="0">
                <a:latin typeface="+mj-lt"/>
                <a:ea typeface="Source Sans Pro SemiBold" panose="020B0603030403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FB4F5A5-C931-4A4C-B6B1-EF4C95965BF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 cap="all" spc="40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grpSp>
        <p:nvGrpSpPr>
          <p:cNvPr id="7" name="Graphic 185">
            <a:extLst>
              <a:ext uri="{FF2B5EF4-FFF2-40B4-BE49-F238E27FC236}">
                <a16:creationId xmlns:a16="http://schemas.microsoft.com/office/drawing/2014/main" id="{8A351602-3772-4279-B0D3-A523F6F6EAB3}"/>
              </a:ext>
            </a:extLst>
          </p:cNvPr>
          <p:cNvGrpSpPr/>
          <p:nvPr/>
        </p:nvGrpSpPr>
        <p:grpSpPr>
          <a:xfrm>
            <a:off x="10999563" y="5987064"/>
            <a:ext cx="1054467" cy="469689"/>
            <a:chOff x="9841624" y="4115729"/>
            <a:chExt cx="602170" cy="268223"/>
          </a:xfrm>
          <a:solidFill>
            <a:schemeClr val="tx1"/>
          </a:solidFill>
        </p:grpSpPr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A5AAAA75-5FFB-4C07-AD4A-3146773E6CDD}"/>
                </a:ext>
              </a:extLst>
            </p:cNvPr>
            <p:cNvSpPr/>
            <p:nvPr/>
          </p:nvSpPr>
          <p:spPr>
            <a:xfrm>
              <a:off x="9841624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1479895E-3847-44BB-8404-28F14219FB70}"/>
                </a:ext>
              </a:extLst>
            </p:cNvPr>
            <p:cNvSpPr/>
            <p:nvPr/>
          </p:nvSpPr>
          <p:spPr>
            <a:xfrm>
              <a:off x="9941445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50E02F68-8149-4236-8D9F-6B550F78B932}"/>
                </a:ext>
              </a:extLst>
            </p:cNvPr>
            <p:cNvSpPr/>
            <p:nvPr/>
          </p:nvSpPr>
          <p:spPr>
            <a:xfrm>
              <a:off x="10041267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956FCAAB-F073-4561-A484-42C7DD10DC26}"/>
                </a:ext>
              </a:extLst>
            </p:cNvPr>
            <p:cNvSpPr/>
            <p:nvPr/>
          </p:nvSpPr>
          <p:spPr>
            <a:xfrm>
              <a:off x="10141090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6CF8DB94-87A3-43E9-9BBB-301CFF0FB05B}"/>
                </a:ext>
              </a:extLst>
            </p:cNvPr>
            <p:cNvSpPr/>
            <p:nvPr/>
          </p:nvSpPr>
          <p:spPr>
            <a:xfrm>
              <a:off x="10240911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DE4AEC-B6E4-439C-B716-EBE3D4D1DC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BFF81C-1FCB-4DBA-8044-F1A0FCFD45A6}" type="datetime1">
              <a:rPr lang="en-US" smtClean="0"/>
              <a:t>10/21/2021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78BC18-102E-45BF-8FEA-801E9C59D1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A8BF5F-B1F8-461F-9B3D-7D50D02423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450C42-9A0B-4425-92C2-70FCF7C457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7D6BF779-0B8C-4CC2-9268-9506AD0C5331}"/>
              </a:ext>
            </a:extLst>
          </p:cNvPr>
          <p:cNvSpPr/>
          <p:nvPr/>
        </p:nvSpPr>
        <p:spPr>
          <a:xfrm>
            <a:off x="320736" y="652894"/>
            <a:ext cx="319941" cy="319941"/>
          </a:xfrm>
          <a:prstGeom prst="ellipse">
            <a:avLst/>
          </a:prstGeom>
          <a:solidFill>
            <a:schemeClr val="accent3">
              <a:lumMod val="20000"/>
              <a:lumOff val="8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3664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900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</p:bld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F88500-1605-41EA-A15F-9B79DF7E40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B14AC8-25A5-4D7F-BF23-CB20AA2ECF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grpSp>
        <p:nvGrpSpPr>
          <p:cNvPr id="8" name="Graphic 185">
            <a:extLst>
              <a:ext uri="{FF2B5EF4-FFF2-40B4-BE49-F238E27FC236}">
                <a16:creationId xmlns:a16="http://schemas.microsoft.com/office/drawing/2014/main" id="{8997F1B7-1EE7-4EA5-A5A4-866F9A810C9F}"/>
              </a:ext>
            </a:extLst>
          </p:cNvPr>
          <p:cNvGrpSpPr/>
          <p:nvPr/>
        </p:nvGrpSpPr>
        <p:grpSpPr>
          <a:xfrm>
            <a:off x="10999563" y="5987064"/>
            <a:ext cx="1054467" cy="469689"/>
            <a:chOff x="9841624" y="4115729"/>
            <a:chExt cx="602170" cy="268223"/>
          </a:xfrm>
          <a:solidFill>
            <a:schemeClr val="tx1"/>
          </a:solidFill>
        </p:grpSpPr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B5E13483-2FB6-4753-8402-06FDC3498E06}"/>
                </a:ext>
              </a:extLst>
            </p:cNvPr>
            <p:cNvSpPr/>
            <p:nvPr/>
          </p:nvSpPr>
          <p:spPr>
            <a:xfrm>
              <a:off x="9841624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88F0DF22-F640-4002-B783-DF1C6A9473F6}"/>
                </a:ext>
              </a:extLst>
            </p:cNvPr>
            <p:cNvSpPr/>
            <p:nvPr/>
          </p:nvSpPr>
          <p:spPr>
            <a:xfrm>
              <a:off x="9941445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9C2787B8-7984-4332-B611-D3D3DE898FE0}"/>
                </a:ext>
              </a:extLst>
            </p:cNvPr>
            <p:cNvSpPr/>
            <p:nvPr/>
          </p:nvSpPr>
          <p:spPr>
            <a:xfrm>
              <a:off x="10041267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5AF3646C-B3D7-4F57-8FD2-CD93CEB39214}"/>
                </a:ext>
              </a:extLst>
            </p:cNvPr>
            <p:cNvSpPr/>
            <p:nvPr/>
          </p:nvSpPr>
          <p:spPr>
            <a:xfrm>
              <a:off x="10141090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C65FA7DA-93A0-43A4-834C-0F1BB9806A8C}"/>
                </a:ext>
              </a:extLst>
            </p:cNvPr>
            <p:cNvSpPr/>
            <p:nvPr/>
          </p:nvSpPr>
          <p:spPr>
            <a:xfrm>
              <a:off x="10240911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995D22-0146-4DE2-9E78-4C00333D49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87773D-8987-489A-A650-3D6F7D5C7C38}" type="datetime1">
              <a:rPr lang="en-US" smtClean="0"/>
              <a:t>10/21/2021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59717A-A1FE-485D-AFFF-2C7026C710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6DB88B-64CF-4100-8F07-D191DD7939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450C42-9A0B-4425-92C2-70FCF7C457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104332FF-8349-42A5-B5C8-5EE3825CE252}"/>
              </a:ext>
            </a:extLst>
          </p:cNvPr>
          <p:cNvSpPr/>
          <p:nvPr/>
        </p:nvSpPr>
        <p:spPr>
          <a:xfrm>
            <a:off x="320736" y="652894"/>
            <a:ext cx="319941" cy="319941"/>
          </a:xfrm>
          <a:prstGeom prst="ellipse">
            <a:avLst/>
          </a:prstGeom>
          <a:solidFill>
            <a:schemeClr val="accent3">
              <a:lumMod val="20000"/>
              <a:lumOff val="8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2604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3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900" decel="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</p:bld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2BFE6C-EBF1-47DE-8468-E7125172B7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4104992-D139-48DC-BCCE-D71EA23CA2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7" name="Graphic 185">
            <a:extLst>
              <a:ext uri="{FF2B5EF4-FFF2-40B4-BE49-F238E27FC236}">
                <a16:creationId xmlns:a16="http://schemas.microsoft.com/office/drawing/2014/main" id="{A8C5E768-0E62-4DE7-A0AF-93121DA8439E}"/>
              </a:ext>
            </a:extLst>
          </p:cNvPr>
          <p:cNvGrpSpPr/>
          <p:nvPr/>
        </p:nvGrpSpPr>
        <p:grpSpPr>
          <a:xfrm>
            <a:off x="10999563" y="5987064"/>
            <a:ext cx="1054467" cy="469689"/>
            <a:chOff x="9841624" y="4115729"/>
            <a:chExt cx="602170" cy="268223"/>
          </a:xfrm>
          <a:solidFill>
            <a:schemeClr val="tx1"/>
          </a:solidFill>
        </p:grpSpPr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6402845F-9E8A-41E1-B051-1AAA46C997A2}"/>
                </a:ext>
              </a:extLst>
            </p:cNvPr>
            <p:cNvSpPr/>
            <p:nvPr/>
          </p:nvSpPr>
          <p:spPr>
            <a:xfrm>
              <a:off x="9841624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AA45C410-5FD0-4339-A3BC-A865DE4190AF}"/>
                </a:ext>
              </a:extLst>
            </p:cNvPr>
            <p:cNvSpPr/>
            <p:nvPr/>
          </p:nvSpPr>
          <p:spPr>
            <a:xfrm>
              <a:off x="9941445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C7B0B703-8BA8-483C-A433-C44C809687DE}"/>
                </a:ext>
              </a:extLst>
            </p:cNvPr>
            <p:cNvSpPr/>
            <p:nvPr/>
          </p:nvSpPr>
          <p:spPr>
            <a:xfrm>
              <a:off x="10041267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ECCFA03D-B879-419B-88B9-F4F3645C8AF5}"/>
                </a:ext>
              </a:extLst>
            </p:cNvPr>
            <p:cNvSpPr/>
            <p:nvPr/>
          </p:nvSpPr>
          <p:spPr>
            <a:xfrm>
              <a:off x="10141090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B6B0260A-6B2D-4F54-8614-60BC3103E166}"/>
                </a:ext>
              </a:extLst>
            </p:cNvPr>
            <p:cNvSpPr/>
            <p:nvPr/>
          </p:nvSpPr>
          <p:spPr>
            <a:xfrm>
              <a:off x="10240911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1AB8F6-0796-47E9-B1D4-760B7CCFC7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E150C1-1D78-4D80-810D-E9E86F6E88AB}" type="datetime1">
              <a:rPr lang="en-US" smtClean="0"/>
              <a:t>10/21/2021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886FC0-7327-44D9-B689-0AE73FD255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19D265-BFBA-4C93-9B1A-B9483AE6BF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450C42-9A0B-4425-92C2-70FCF7C457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464F5FEB-DE92-47DA-8C46-DC088E8960A4}"/>
              </a:ext>
            </a:extLst>
          </p:cNvPr>
          <p:cNvSpPr/>
          <p:nvPr/>
        </p:nvSpPr>
        <p:spPr>
          <a:xfrm>
            <a:off x="320736" y="652894"/>
            <a:ext cx="319941" cy="319941"/>
          </a:xfrm>
          <a:prstGeom prst="ellipse">
            <a:avLst/>
          </a:prstGeom>
          <a:solidFill>
            <a:schemeClr val="accent3">
              <a:lumMod val="20000"/>
              <a:lumOff val="8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92121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7637BE-B22F-40EE-94F0-04549BC562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A71582-4BAF-4211-AD4A-476ED6EB115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99DCF6B-C800-4345-BAE9-EE9FA65903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grpSp>
        <p:nvGrpSpPr>
          <p:cNvPr id="8" name="Graphic 185">
            <a:extLst>
              <a:ext uri="{FF2B5EF4-FFF2-40B4-BE49-F238E27FC236}">
                <a16:creationId xmlns:a16="http://schemas.microsoft.com/office/drawing/2014/main" id="{E6190A1E-5381-43C4-B058-7758339984D6}"/>
              </a:ext>
            </a:extLst>
          </p:cNvPr>
          <p:cNvGrpSpPr/>
          <p:nvPr/>
        </p:nvGrpSpPr>
        <p:grpSpPr>
          <a:xfrm>
            <a:off x="10999563" y="5987064"/>
            <a:ext cx="1054467" cy="469689"/>
            <a:chOff x="9841624" y="4115729"/>
            <a:chExt cx="602170" cy="268223"/>
          </a:xfrm>
          <a:solidFill>
            <a:schemeClr val="tx1"/>
          </a:solidFill>
        </p:grpSpPr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F7E35469-0BEA-4E5E-955F-1AA300A62DE5}"/>
                </a:ext>
              </a:extLst>
            </p:cNvPr>
            <p:cNvSpPr/>
            <p:nvPr/>
          </p:nvSpPr>
          <p:spPr>
            <a:xfrm>
              <a:off x="9841624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58F650BE-565E-4A52-8143-7A87700FC5F5}"/>
                </a:ext>
              </a:extLst>
            </p:cNvPr>
            <p:cNvSpPr/>
            <p:nvPr/>
          </p:nvSpPr>
          <p:spPr>
            <a:xfrm>
              <a:off x="9941445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286A3F89-AA2A-44E5-915E-C47A069EB685}"/>
                </a:ext>
              </a:extLst>
            </p:cNvPr>
            <p:cNvSpPr/>
            <p:nvPr/>
          </p:nvSpPr>
          <p:spPr>
            <a:xfrm>
              <a:off x="10041267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5C57F514-AB27-4489-8D3C-01DD1025DDAD}"/>
                </a:ext>
              </a:extLst>
            </p:cNvPr>
            <p:cNvSpPr/>
            <p:nvPr/>
          </p:nvSpPr>
          <p:spPr>
            <a:xfrm>
              <a:off x="10141090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0141169F-1C39-4D04-AF32-D0D14D004B05}"/>
                </a:ext>
              </a:extLst>
            </p:cNvPr>
            <p:cNvSpPr/>
            <p:nvPr/>
          </p:nvSpPr>
          <p:spPr>
            <a:xfrm>
              <a:off x="10240911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087465-759F-4895-8FC6-DD464FB918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E9CBD8-1588-4B6B-B74D-87480DDE94C0}" type="datetime1">
              <a:rPr lang="en-US" smtClean="0"/>
              <a:t>10/21/2021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2F1AA18-D8A5-44D9-881C-522258ED54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C1BA574-A76A-4F4C-8CBD-768278B66E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450C42-9A0B-4425-92C2-70FCF7C457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2793E083-ADC4-4391-83DD-781529A66110}"/>
              </a:ext>
            </a:extLst>
          </p:cNvPr>
          <p:cNvSpPr/>
          <p:nvPr/>
        </p:nvSpPr>
        <p:spPr>
          <a:xfrm>
            <a:off x="320736" y="652894"/>
            <a:ext cx="319941" cy="319941"/>
          </a:xfrm>
          <a:prstGeom prst="ellipse">
            <a:avLst/>
          </a:prstGeom>
          <a:solidFill>
            <a:schemeClr val="accent3">
              <a:lumMod val="20000"/>
              <a:lumOff val="8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95398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31B666-D6BE-4FA8-9CF1-F15FD58B0C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BCE4B4A-DE64-4563-83CD-C40B1D681D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1DA0314-0202-4E6D-8352-C28376A9C08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7B56083-87B4-4603-B6FF-A9EB68E3E69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33708CF-F028-4917-A9CB-59BF5248A20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grpSp>
        <p:nvGrpSpPr>
          <p:cNvPr id="10" name="Graphic 185">
            <a:extLst>
              <a:ext uri="{FF2B5EF4-FFF2-40B4-BE49-F238E27FC236}">
                <a16:creationId xmlns:a16="http://schemas.microsoft.com/office/drawing/2014/main" id="{81B934BF-E239-47E1-93E9-EA3182162D21}"/>
              </a:ext>
            </a:extLst>
          </p:cNvPr>
          <p:cNvGrpSpPr/>
          <p:nvPr/>
        </p:nvGrpSpPr>
        <p:grpSpPr>
          <a:xfrm>
            <a:off x="10999563" y="5987064"/>
            <a:ext cx="1054467" cy="469689"/>
            <a:chOff x="9841624" y="4115729"/>
            <a:chExt cx="602170" cy="268223"/>
          </a:xfrm>
          <a:solidFill>
            <a:schemeClr val="tx1"/>
          </a:solidFill>
        </p:grpSpPr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C3BBF177-5044-426A-93ED-64BDC84BF184}"/>
                </a:ext>
              </a:extLst>
            </p:cNvPr>
            <p:cNvSpPr/>
            <p:nvPr/>
          </p:nvSpPr>
          <p:spPr>
            <a:xfrm>
              <a:off x="9841624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74270648-77F5-4D28-B691-DA57AA28FD73}"/>
                </a:ext>
              </a:extLst>
            </p:cNvPr>
            <p:cNvSpPr/>
            <p:nvPr/>
          </p:nvSpPr>
          <p:spPr>
            <a:xfrm>
              <a:off x="9941445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6086B770-2F70-4B7B-9525-286BBD63AD72}"/>
                </a:ext>
              </a:extLst>
            </p:cNvPr>
            <p:cNvSpPr/>
            <p:nvPr/>
          </p:nvSpPr>
          <p:spPr>
            <a:xfrm>
              <a:off x="10041267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57DDC14D-7AE3-41CD-ADFC-A3601D4F9DF3}"/>
                </a:ext>
              </a:extLst>
            </p:cNvPr>
            <p:cNvSpPr/>
            <p:nvPr/>
          </p:nvSpPr>
          <p:spPr>
            <a:xfrm>
              <a:off x="10141090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42181834-8401-4B66-85EE-1CBF57807DAB}"/>
                </a:ext>
              </a:extLst>
            </p:cNvPr>
            <p:cNvSpPr/>
            <p:nvPr/>
          </p:nvSpPr>
          <p:spPr>
            <a:xfrm>
              <a:off x="10240911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433C091-3B62-4087-9A97-63BBE28CFF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794440-721C-4D75-BD4F-4CFB3D51CDCA}" type="datetime1">
              <a:rPr lang="en-US" smtClean="0"/>
              <a:t>10/21/2021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70710C3-2723-4847-BCAF-96D9FAE505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6618B2C-95AC-4438-97FD-07ACF297B8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450C42-9A0B-4425-92C2-70FCF7C457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D6B0F5A7-6E8A-4BCD-8F1F-233ECD21B262}"/>
              </a:ext>
            </a:extLst>
          </p:cNvPr>
          <p:cNvSpPr/>
          <p:nvPr/>
        </p:nvSpPr>
        <p:spPr>
          <a:xfrm>
            <a:off x="320736" y="652894"/>
            <a:ext cx="319941" cy="319941"/>
          </a:xfrm>
          <a:prstGeom prst="ellipse">
            <a:avLst/>
          </a:prstGeom>
          <a:solidFill>
            <a:schemeClr val="accent3">
              <a:lumMod val="20000"/>
              <a:lumOff val="8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38456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9CF7F-748D-4598-983E-96A2BE2693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grpSp>
        <p:nvGrpSpPr>
          <p:cNvPr id="6" name="Graphic 185">
            <a:extLst>
              <a:ext uri="{FF2B5EF4-FFF2-40B4-BE49-F238E27FC236}">
                <a16:creationId xmlns:a16="http://schemas.microsoft.com/office/drawing/2014/main" id="{DFD4D3BE-80D4-4E69-9C76-F0D8517DF690}"/>
              </a:ext>
            </a:extLst>
          </p:cNvPr>
          <p:cNvGrpSpPr/>
          <p:nvPr/>
        </p:nvGrpSpPr>
        <p:grpSpPr>
          <a:xfrm>
            <a:off x="10999563" y="5987064"/>
            <a:ext cx="1054467" cy="469689"/>
            <a:chOff x="9841624" y="4115729"/>
            <a:chExt cx="602170" cy="268223"/>
          </a:xfrm>
          <a:solidFill>
            <a:schemeClr val="tx1"/>
          </a:solidFill>
        </p:grpSpPr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A0B6E97F-00E1-4372-8978-8BCBDC9026E6}"/>
                </a:ext>
              </a:extLst>
            </p:cNvPr>
            <p:cNvSpPr/>
            <p:nvPr/>
          </p:nvSpPr>
          <p:spPr>
            <a:xfrm>
              <a:off x="9841624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CC7651B7-7A30-4AFA-A4D7-0B0C5D2DDAAF}"/>
                </a:ext>
              </a:extLst>
            </p:cNvPr>
            <p:cNvSpPr/>
            <p:nvPr/>
          </p:nvSpPr>
          <p:spPr>
            <a:xfrm>
              <a:off x="9941445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FD2FC5CA-556B-4409-B084-34753A1F04E6}"/>
                </a:ext>
              </a:extLst>
            </p:cNvPr>
            <p:cNvSpPr/>
            <p:nvPr/>
          </p:nvSpPr>
          <p:spPr>
            <a:xfrm>
              <a:off x="10041267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3E63FB41-EE1F-4889-9096-3A38936330D5}"/>
                </a:ext>
              </a:extLst>
            </p:cNvPr>
            <p:cNvSpPr/>
            <p:nvPr/>
          </p:nvSpPr>
          <p:spPr>
            <a:xfrm>
              <a:off x="10141090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0DD19F3B-7B3E-4861-8FDA-D0116C96C16E}"/>
                </a:ext>
              </a:extLst>
            </p:cNvPr>
            <p:cNvSpPr/>
            <p:nvPr/>
          </p:nvSpPr>
          <p:spPr>
            <a:xfrm>
              <a:off x="10240911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10A2C46-C908-4010-AAE2-9FA41B145C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701A64-483B-4532-94FB-D8F90CB6DEE0}" type="datetime1">
              <a:rPr lang="en-US" smtClean="0"/>
              <a:t>10/21/2021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7CF5279-7D37-4D98-9A70-987C84F62C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896FAD0-59EF-49AA-BBC6-A0EC184DD2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450C42-9A0B-4425-92C2-70FCF7C457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876EB399-18D2-46D5-8757-35FCFF8EA80D}"/>
              </a:ext>
            </a:extLst>
          </p:cNvPr>
          <p:cNvSpPr/>
          <p:nvPr/>
        </p:nvSpPr>
        <p:spPr>
          <a:xfrm>
            <a:off x="320736" y="652894"/>
            <a:ext cx="319941" cy="319941"/>
          </a:xfrm>
          <a:prstGeom prst="ellipse">
            <a:avLst/>
          </a:prstGeom>
          <a:solidFill>
            <a:schemeClr val="accent3">
              <a:lumMod val="20000"/>
              <a:lumOff val="8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72774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aphic 185">
            <a:extLst>
              <a:ext uri="{FF2B5EF4-FFF2-40B4-BE49-F238E27FC236}">
                <a16:creationId xmlns:a16="http://schemas.microsoft.com/office/drawing/2014/main" id="{773CCE17-EE0F-40E0-B7AE-CF7677B64709}"/>
              </a:ext>
            </a:extLst>
          </p:cNvPr>
          <p:cNvGrpSpPr/>
          <p:nvPr/>
        </p:nvGrpSpPr>
        <p:grpSpPr>
          <a:xfrm>
            <a:off x="10999563" y="5987064"/>
            <a:ext cx="1054467" cy="469689"/>
            <a:chOff x="9841624" y="4115729"/>
            <a:chExt cx="602170" cy="268223"/>
          </a:xfrm>
          <a:solidFill>
            <a:schemeClr val="tx1"/>
          </a:solidFill>
        </p:grpSpPr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B0AC6C4E-6EA5-454A-AB84-8B94D8B585EC}"/>
                </a:ext>
              </a:extLst>
            </p:cNvPr>
            <p:cNvSpPr/>
            <p:nvPr/>
          </p:nvSpPr>
          <p:spPr>
            <a:xfrm>
              <a:off x="9841624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B4329338-925B-4677-BA6E-4357D37DB545}"/>
                </a:ext>
              </a:extLst>
            </p:cNvPr>
            <p:cNvSpPr/>
            <p:nvPr/>
          </p:nvSpPr>
          <p:spPr>
            <a:xfrm>
              <a:off x="9941445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334C0A08-043F-4818-BA1D-BCC9F811A873}"/>
                </a:ext>
              </a:extLst>
            </p:cNvPr>
            <p:cNvSpPr/>
            <p:nvPr/>
          </p:nvSpPr>
          <p:spPr>
            <a:xfrm>
              <a:off x="10041267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DCB185DD-ED0D-4633-8098-95C4A6F177CC}"/>
                </a:ext>
              </a:extLst>
            </p:cNvPr>
            <p:cNvSpPr/>
            <p:nvPr/>
          </p:nvSpPr>
          <p:spPr>
            <a:xfrm>
              <a:off x="10141090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2AD50526-B611-40B6-BB45-AE82F0EF5992}"/>
                </a:ext>
              </a:extLst>
            </p:cNvPr>
            <p:cNvSpPr/>
            <p:nvPr/>
          </p:nvSpPr>
          <p:spPr>
            <a:xfrm>
              <a:off x="10240911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708C302-4224-4668-8CAC-3267172A0C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18FB39-20FB-4E2E-B861-45B709B9C3C5}" type="datetime1">
              <a:rPr lang="en-US" smtClean="0"/>
              <a:t>10/21/2021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0C8FC22-AEB6-4BAF-BF93-41A2C757CC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52CA88A-5462-4F17-AFA0-52721ADDBB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450C42-9A0B-4425-92C2-70FCF7C457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70CCC791-94D7-4BB8-9EDF-423CEA1F6215}"/>
              </a:ext>
            </a:extLst>
          </p:cNvPr>
          <p:cNvSpPr/>
          <p:nvPr/>
        </p:nvSpPr>
        <p:spPr>
          <a:xfrm>
            <a:off x="320736" y="652894"/>
            <a:ext cx="319941" cy="319941"/>
          </a:xfrm>
          <a:prstGeom prst="ellipse">
            <a:avLst/>
          </a:prstGeom>
          <a:solidFill>
            <a:schemeClr val="accent3">
              <a:lumMod val="20000"/>
              <a:lumOff val="8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18738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E6AC37-C5B5-462A-BE4A-E55CEBF2A3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4B007F-32A8-4688-BBEF-4FCB99DF5E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DF2E2EB-BF8A-44A4-8AE0-BD6C31B1D92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8" name="Graphic 185">
            <a:extLst>
              <a:ext uri="{FF2B5EF4-FFF2-40B4-BE49-F238E27FC236}">
                <a16:creationId xmlns:a16="http://schemas.microsoft.com/office/drawing/2014/main" id="{FC9E188F-54C8-4547-9F8C-525712AD7DB6}"/>
              </a:ext>
            </a:extLst>
          </p:cNvPr>
          <p:cNvGrpSpPr/>
          <p:nvPr/>
        </p:nvGrpSpPr>
        <p:grpSpPr>
          <a:xfrm>
            <a:off x="10999563" y="5987064"/>
            <a:ext cx="1054467" cy="469689"/>
            <a:chOff x="9841624" y="4115729"/>
            <a:chExt cx="602170" cy="268223"/>
          </a:xfrm>
          <a:solidFill>
            <a:schemeClr val="tx1"/>
          </a:solidFill>
        </p:grpSpPr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B99C4538-3939-47A9-A590-09FF21960653}"/>
                </a:ext>
              </a:extLst>
            </p:cNvPr>
            <p:cNvSpPr/>
            <p:nvPr/>
          </p:nvSpPr>
          <p:spPr>
            <a:xfrm>
              <a:off x="9841624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7541CA75-5D05-4996-A26D-CE0C909CD5F7}"/>
                </a:ext>
              </a:extLst>
            </p:cNvPr>
            <p:cNvSpPr/>
            <p:nvPr/>
          </p:nvSpPr>
          <p:spPr>
            <a:xfrm>
              <a:off x="9941445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86305856-26BC-4BCC-BEF3-5E9CED941775}"/>
                </a:ext>
              </a:extLst>
            </p:cNvPr>
            <p:cNvSpPr/>
            <p:nvPr/>
          </p:nvSpPr>
          <p:spPr>
            <a:xfrm>
              <a:off x="10041267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BC69651C-AC37-4CD2-8367-19297D7E2389}"/>
                </a:ext>
              </a:extLst>
            </p:cNvPr>
            <p:cNvSpPr/>
            <p:nvPr/>
          </p:nvSpPr>
          <p:spPr>
            <a:xfrm>
              <a:off x="10141090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C3E9031B-BA8D-4D9D-9BB3-A16F7A80F854}"/>
                </a:ext>
              </a:extLst>
            </p:cNvPr>
            <p:cNvSpPr/>
            <p:nvPr/>
          </p:nvSpPr>
          <p:spPr>
            <a:xfrm>
              <a:off x="10240911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69840A2-CF60-4C47-B955-E65BC451FE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48AC19-8BD6-476C-9770-8884373BCF00}" type="datetime1">
              <a:rPr lang="en-US" smtClean="0"/>
              <a:t>10/21/2021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179DC6E-CC55-47AB-A405-5FB7EE2D19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D5D5E7D-EBA7-4DB0-8C78-7EB8A85FA4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450C42-9A0B-4425-92C2-70FCF7C457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C5B051DE-636E-4B3C-9886-2055CE23E49A}"/>
              </a:ext>
            </a:extLst>
          </p:cNvPr>
          <p:cNvSpPr/>
          <p:nvPr/>
        </p:nvSpPr>
        <p:spPr>
          <a:xfrm>
            <a:off x="320736" y="652894"/>
            <a:ext cx="319941" cy="319941"/>
          </a:xfrm>
          <a:prstGeom prst="ellipse">
            <a:avLst/>
          </a:prstGeom>
          <a:solidFill>
            <a:schemeClr val="accent3">
              <a:lumMod val="20000"/>
              <a:lumOff val="8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19367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F1D355-3146-41D1-B7DC-20B8ACE390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AD4AAFB-E8F8-4FD1-8C6A-ED2C3FAD503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E051AF1-B16F-43B9-95CC-C17B570DEC8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8" name="Graphic 185">
            <a:extLst>
              <a:ext uri="{FF2B5EF4-FFF2-40B4-BE49-F238E27FC236}">
                <a16:creationId xmlns:a16="http://schemas.microsoft.com/office/drawing/2014/main" id="{C8B77273-9FF7-4B93-8385-AD09A5F86AE5}"/>
              </a:ext>
            </a:extLst>
          </p:cNvPr>
          <p:cNvGrpSpPr/>
          <p:nvPr/>
        </p:nvGrpSpPr>
        <p:grpSpPr>
          <a:xfrm>
            <a:off x="10999563" y="5987064"/>
            <a:ext cx="1054467" cy="469689"/>
            <a:chOff x="9841624" y="4115729"/>
            <a:chExt cx="602170" cy="268223"/>
          </a:xfrm>
          <a:solidFill>
            <a:schemeClr val="tx1"/>
          </a:solidFill>
        </p:grpSpPr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3117A673-3729-4EAD-9E8C-52BEBF74B857}"/>
                </a:ext>
              </a:extLst>
            </p:cNvPr>
            <p:cNvSpPr/>
            <p:nvPr/>
          </p:nvSpPr>
          <p:spPr>
            <a:xfrm>
              <a:off x="9841624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EE8DB752-94CD-4A94-BDE3-DD285EB89F3F}"/>
                </a:ext>
              </a:extLst>
            </p:cNvPr>
            <p:cNvSpPr/>
            <p:nvPr/>
          </p:nvSpPr>
          <p:spPr>
            <a:xfrm>
              <a:off x="9941445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32F8DDFC-E5CA-4F36-B2BE-BCE49D4F6C95}"/>
                </a:ext>
              </a:extLst>
            </p:cNvPr>
            <p:cNvSpPr/>
            <p:nvPr/>
          </p:nvSpPr>
          <p:spPr>
            <a:xfrm>
              <a:off x="10041267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0BB589AE-2F9C-4C83-8DC7-1205CB037525}"/>
                </a:ext>
              </a:extLst>
            </p:cNvPr>
            <p:cNvSpPr/>
            <p:nvPr/>
          </p:nvSpPr>
          <p:spPr>
            <a:xfrm>
              <a:off x="10141090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7AC9A2DE-3C9E-4CD0-8C7A-CC5F9F9942E4}"/>
                </a:ext>
              </a:extLst>
            </p:cNvPr>
            <p:cNvSpPr/>
            <p:nvPr/>
          </p:nvSpPr>
          <p:spPr>
            <a:xfrm>
              <a:off x="10240911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68C8714-2467-4715-934E-6787C84F79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F68C53-8AD1-4F09-9486-FB3406B99CFA}" type="datetime1">
              <a:rPr lang="en-US" smtClean="0"/>
              <a:t>10/21/2021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46F13D6-03EC-4D31-8BB1-9FFDE3633C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C65D4DD-A2A4-4DF6-9527-E5F12FEB93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450C42-9A0B-4425-92C2-70FCF7C457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FD202F3A-9FDE-4E11-B865-FBAEC415F880}"/>
              </a:ext>
            </a:extLst>
          </p:cNvPr>
          <p:cNvSpPr/>
          <p:nvPr/>
        </p:nvSpPr>
        <p:spPr>
          <a:xfrm>
            <a:off x="320736" y="652894"/>
            <a:ext cx="319941" cy="319941"/>
          </a:xfrm>
          <a:prstGeom prst="ellipse">
            <a:avLst/>
          </a:prstGeom>
          <a:solidFill>
            <a:schemeClr val="accent3">
              <a:lumMod val="20000"/>
              <a:lumOff val="8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59930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F3A871-D377-4EC0-9ACF-86842F01E1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3D53202-92A9-45A3-B812-777DB9578B4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grpSp>
        <p:nvGrpSpPr>
          <p:cNvPr id="7" name="Graphic 185">
            <a:extLst>
              <a:ext uri="{FF2B5EF4-FFF2-40B4-BE49-F238E27FC236}">
                <a16:creationId xmlns:a16="http://schemas.microsoft.com/office/drawing/2014/main" id="{7196FB0C-3A9D-4892-90C9-21F3459AAD9E}"/>
              </a:ext>
            </a:extLst>
          </p:cNvPr>
          <p:cNvGrpSpPr/>
          <p:nvPr/>
        </p:nvGrpSpPr>
        <p:grpSpPr>
          <a:xfrm>
            <a:off x="10999563" y="5987064"/>
            <a:ext cx="1054467" cy="469689"/>
            <a:chOff x="9841624" y="4115729"/>
            <a:chExt cx="602170" cy="268223"/>
          </a:xfrm>
          <a:solidFill>
            <a:schemeClr val="tx1"/>
          </a:solidFill>
        </p:grpSpPr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16938C96-CF0F-4B69-A695-913F11BFC6F0}"/>
                </a:ext>
              </a:extLst>
            </p:cNvPr>
            <p:cNvSpPr/>
            <p:nvPr/>
          </p:nvSpPr>
          <p:spPr>
            <a:xfrm>
              <a:off x="9841624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3CA7E6BB-6B60-4BF5-9D3E-A3FE782EF5B0}"/>
                </a:ext>
              </a:extLst>
            </p:cNvPr>
            <p:cNvSpPr/>
            <p:nvPr/>
          </p:nvSpPr>
          <p:spPr>
            <a:xfrm>
              <a:off x="9941445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3F693EDA-57B3-4AEB-863B-B198C2A5A8E3}"/>
                </a:ext>
              </a:extLst>
            </p:cNvPr>
            <p:cNvSpPr/>
            <p:nvPr/>
          </p:nvSpPr>
          <p:spPr>
            <a:xfrm>
              <a:off x="10041267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B3A04A96-045F-4B6E-AEEE-11A2FA01B4FC}"/>
                </a:ext>
              </a:extLst>
            </p:cNvPr>
            <p:cNvSpPr/>
            <p:nvPr/>
          </p:nvSpPr>
          <p:spPr>
            <a:xfrm>
              <a:off x="10141090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7FB357DC-5AD3-44F4-879B-5AD6B18AC36F}"/>
                </a:ext>
              </a:extLst>
            </p:cNvPr>
            <p:cNvSpPr/>
            <p:nvPr/>
          </p:nvSpPr>
          <p:spPr>
            <a:xfrm>
              <a:off x="10240911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2CA47F-83AD-4BE3-AC2F-6C17883F78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9092B3-2D87-4CDF-B84B-C46E5F5D31F7}" type="datetime1">
              <a:rPr lang="en-US" smtClean="0"/>
              <a:t>10/21/2021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118A72-3200-4597-A9C5-0D9ECFF3E8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70055A-71D4-49B4-8A8F-19AFDB84E9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450C42-9A0B-4425-92C2-70FCF7C457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0B0E5D27-C447-432F-982D-B60FDD6F34AD}"/>
              </a:ext>
            </a:extLst>
          </p:cNvPr>
          <p:cNvSpPr/>
          <p:nvPr/>
        </p:nvSpPr>
        <p:spPr>
          <a:xfrm>
            <a:off x="320736" y="652894"/>
            <a:ext cx="319941" cy="319941"/>
          </a:xfrm>
          <a:prstGeom prst="ellipse">
            <a:avLst/>
          </a:prstGeom>
          <a:solidFill>
            <a:schemeClr val="accent3">
              <a:lumMod val="20000"/>
              <a:lumOff val="8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29913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8C59DBB-9256-464D-8A6A-8BDA71541D6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A25E310-E6CB-4838-8E9B-B288DA55277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grpSp>
        <p:nvGrpSpPr>
          <p:cNvPr id="7" name="Graphic 185">
            <a:extLst>
              <a:ext uri="{FF2B5EF4-FFF2-40B4-BE49-F238E27FC236}">
                <a16:creationId xmlns:a16="http://schemas.microsoft.com/office/drawing/2014/main" id="{BCF412A8-E798-47AD-ABD9-98D76A55D30B}"/>
              </a:ext>
            </a:extLst>
          </p:cNvPr>
          <p:cNvGrpSpPr/>
          <p:nvPr/>
        </p:nvGrpSpPr>
        <p:grpSpPr>
          <a:xfrm>
            <a:off x="10999563" y="5987064"/>
            <a:ext cx="1054467" cy="469689"/>
            <a:chOff x="9841624" y="4115729"/>
            <a:chExt cx="602170" cy="268223"/>
          </a:xfrm>
          <a:solidFill>
            <a:schemeClr val="tx1"/>
          </a:solidFill>
        </p:grpSpPr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E70160C5-475D-401A-AEE2-2C04E99A1518}"/>
                </a:ext>
              </a:extLst>
            </p:cNvPr>
            <p:cNvSpPr/>
            <p:nvPr/>
          </p:nvSpPr>
          <p:spPr>
            <a:xfrm>
              <a:off x="9841624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07CC7CE9-9C7F-49C2-8609-47BF523390F5}"/>
                </a:ext>
              </a:extLst>
            </p:cNvPr>
            <p:cNvSpPr/>
            <p:nvPr/>
          </p:nvSpPr>
          <p:spPr>
            <a:xfrm>
              <a:off x="9941445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726FD5F1-978C-45AF-9086-D5DBE1F01681}"/>
                </a:ext>
              </a:extLst>
            </p:cNvPr>
            <p:cNvSpPr/>
            <p:nvPr/>
          </p:nvSpPr>
          <p:spPr>
            <a:xfrm>
              <a:off x="10041267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3873AB1C-723A-4FB4-9B23-65BAF5074833}"/>
                </a:ext>
              </a:extLst>
            </p:cNvPr>
            <p:cNvSpPr/>
            <p:nvPr/>
          </p:nvSpPr>
          <p:spPr>
            <a:xfrm>
              <a:off x="10141090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61DE5510-5094-4FA4-96E5-AD4841D1C38A}"/>
                </a:ext>
              </a:extLst>
            </p:cNvPr>
            <p:cNvSpPr/>
            <p:nvPr/>
          </p:nvSpPr>
          <p:spPr>
            <a:xfrm>
              <a:off x="10240911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CE2202-679F-48B0-B2DD-F6F5471122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769E57-47B1-47B0-B526-3153E4B1E729}" type="datetime1">
              <a:rPr lang="en-US" smtClean="0"/>
              <a:t>10/21/2021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7BC83D-E4C0-49E1-ADA1-1AF403984B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BF211E-B2EA-4CDC-9E84-B689839492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450C42-9A0B-4425-92C2-70FCF7C457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1FE2F5FD-5D31-4C1D-82F8-93624C7B0A3C}"/>
              </a:ext>
            </a:extLst>
          </p:cNvPr>
          <p:cNvSpPr/>
          <p:nvPr/>
        </p:nvSpPr>
        <p:spPr>
          <a:xfrm>
            <a:off x="320736" y="652894"/>
            <a:ext cx="319941" cy="319941"/>
          </a:xfrm>
          <a:prstGeom prst="ellipse">
            <a:avLst/>
          </a:prstGeom>
          <a:solidFill>
            <a:schemeClr val="accent3">
              <a:lumMod val="20000"/>
              <a:lumOff val="8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41323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633F5C3-CD4B-4472-B59A-49D460CB1C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lIns="109728" tIns="109728" rIns="109728" bIns="91440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772236B-AB2C-4D6F-AE15-700992DA91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lIns="109728" tIns="109728" rIns="109728" bIns="9144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90F509-07BE-4446-8772-F44E09936B7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lIns="109728" tIns="109728" rIns="109728" bIns="91440" anchor="ctr"/>
          <a:lstStyle>
            <a:lvl1pPr algn="l">
              <a:defRPr sz="1200" b="1" cap="all" spc="100" baseline="0">
                <a:solidFill>
                  <a:schemeClr val="tx1">
                    <a:tint val="75000"/>
                  </a:schemeClr>
                </a:solidFill>
                <a:latin typeface="+mn-lt"/>
                <a:ea typeface="Source Sans Pro SemiBold" panose="020B0603030403020204" pitchFamily="34" charset="0"/>
              </a:defRPr>
            </a:lvl1pPr>
          </a:lstStyle>
          <a:p>
            <a:fld id="{BA543EDD-D0D2-447F-B24F-3717AF4B109D}" type="datetime1">
              <a:rPr lang="en-US" smtClean="0"/>
              <a:pPr/>
              <a:t>10/21/2021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1B927E-3833-4F85-99B5-56B5F1E540D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lIns="109728" tIns="109728" rIns="109728" bIns="91440" anchor="ctr"/>
          <a:lstStyle>
            <a:lvl1pPr algn="ctr">
              <a:defRPr sz="1200" b="1" cap="none" spc="100" baseline="0">
                <a:solidFill>
                  <a:schemeClr val="tx1">
                    <a:tint val="75000"/>
                  </a:schemeClr>
                </a:solidFill>
                <a:latin typeface="+mn-lt"/>
                <a:ea typeface="Source Sans Pro SemiBold" panose="020B0603030403020204" pitchFamily="34" charset="0"/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28CB64-4E98-43DE-B543-7BE5B329DBA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lIns="109728" tIns="109728" rIns="109728" bIns="91440" anchor="ctr"/>
          <a:lstStyle>
            <a:lvl1pPr algn="r">
              <a:defRPr sz="1200" b="1" cap="all" spc="100" baseline="0">
                <a:solidFill>
                  <a:schemeClr val="tx1">
                    <a:tint val="75000"/>
                  </a:schemeClr>
                </a:solidFill>
                <a:latin typeface="+mn-lt"/>
                <a:ea typeface="Source Sans Pro SemiBold" panose="020B0603030403020204" pitchFamily="34" charset="0"/>
              </a:defRPr>
            </a:lvl1pPr>
          </a:lstStyle>
          <a:p>
            <a:fld id="{F3450C42-9A0B-4425-92C2-70FCF7C457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52183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9" r:id="rId1"/>
    <p:sldLayoutId id="2147483748" r:id="rId2"/>
    <p:sldLayoutId id="2147483747" r:id="rId3"/>
    <p:sldLayoutId id="2147483746" r:id="rId4"/>
    <p:sldLayoutId id="2147483745" r:id="rId5"/>
    <p:sldLayoutId id="2147483744" r:id="rId6"/>
    <p:sldLayoutId id="2147483743" r:id="rId7"/>
    <p:sldLayoutId id="2147483742" r:id="rId8"/>
    <p:sldLayoutId id="2147483741" r:id="rId9"/>
    <p:sldLayoutId id="2147483740" r:id="rId10"/>
    <p:sldLayoutId id="2147483739" r:id="rId11"/>
  </p:sldLayoutIdLst>
  <p:hf sldNum="0" hdr="0" ftr="0" dt="0"/>
  <p:txStyles>
    <p:titleStyle>
      <a:lvl1pPr algn="l" defTabSz="914400" rtl="0" eaLnBrk="1" latinLnBrk="0" hangingPunct="1">
        <a:lnSpc>
          <a:spcPct val="105000"/>
        </a:lnSpc>
        <a:spcBef>
          <a:spcPct val="0"/>
        </a:spcBef>
        <a:buNone/>
        <a:defRPr sz="4400" b="1" kern="1200" spc="8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2800" kern="1200" spc="3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2400" kern="1200" spc="3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2000" kern="1200" spc="3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800" kern="1200" spc="3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800" kern="1200" spc="3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8B646C36-EEEC-4D52-8E8E-206F4CD8A3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308C40F4-6A24-4867-B726-B552DB0807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66550" y="555675"/>
            <a:ext cx="4860256" cy="5696169"/>
            <a:chOff x="1481312" y="743744"/>
            <a:chExt cx="4860256" cy="4589316"/>
          </a:xfrm>
        </p:grpSpPr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954BF10E-4559-4F28-91B0-3D0C2C4864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481312" y="743744"/>
              <a:ext cx="4860256" cy="4589316"/>
            </a:xfrm>
            <a:prstGeom prst="rect">
              <a:avLst/>
            </a:prstGeom>
            <a:solidFill>
              <a:srgbClr val="FFFFFF"/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>
                <a:solidFill>
                  <a:schemeClr val="accent1"/>
                </a:solidFill>
              </a:endParaRPr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DB0B5A20-FCFE-4AED-B5A3-91D3DE935CD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481312" y="743744"/>
              <a:ext cx="4860256" cy="4589316"/>
            </a:xfrm>
            <a:prstGeom prst="rect">
              <a:avLst/>
            </a:prstGeom>
            <a:solidFill>
              <a:schemeClr val="accent3">
                <a:alpha val="20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 useBgFill="1">
        <p:nvSpPr>
          <p:cNvPr id="29" name="Rectangle 28">
            <a:extLst>
              <a:ext uri="{FF2B5EF4-FFF2-40B4-BE49-F238E27FC236}">
                <a16:creationId xmlns:a16="http://schemas.microsoft.com/office/drawing/2014/main" id="{D6CA2F4C-8E9E-4BCD-B6E8-A68A311CA6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4967" y="460296"/>
            <a:ext cx="4860256" cy="5696169"/>
          </a:xfrm>
          <a:prstGeom prst="rect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11049185-56F1-4AC4-A31F-565E0D77484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7119" y="810623"/>
            <a:ext cx="4429556" cy="3570162"/>
          </a:xfrm>
        </p:spPr>
        <p:txBody>
          <a:bodyPr anchor="b">
            <a:normAutofit/>
          </a:bodyPr>
          <a:lstStyle/>
          <a:p>
            <a:pPr>
              <a:lnSpc>
                <a:spcPct val="95000"/>
              </a:lnSpc>
            </a:pPr>
            <a:r>
              <a:rPr lang="ko-KR" altLang="en-US" sz="5600" dirty="0">
                <a:gradFill flip="none" rotWithShape="1">
                  <a:gsLst>
                    <a:gs pos="0">
                      <a:schemeClr val="accent2">
                        <a:lumMod val="75000"/>
                        <a:shade val="30000"/>
                        <a:satMod val="115000"/>
                      </a:schemeClr>
                    </a:gs>
                    <a:gs pos="50000">
                      <a:schemeClr val="accent2">
                        <a:lumMod val="75000"/>
                        <a:shade val="67500"/>
                        <a:satMod val="115000"/>
                      </a:schemeClr>
                    </a:gs>
                    <a:gs pos="100000">
                      <a:schemeClr val="accent2">
                        <a:lumMod val="75000"/>
                        <a:shade val="100000"/>
                        <a:satMod val="115000"/>
                      </a:schemeClr>
                    </a:gs>
                  </a:gsLst>
                  <a:lin ang="10800000" scaled="1"/>
                  <a:tileRect/>
                </a:gradFill>
                <a:ea typeface="문체부 제목 돋음체" panose="020B0609000101010101" pitchFamily="49" charset="-127"/>
              </a:rPr>
              <a:t>정규분포로</a:t>
            </a:r>
            <a:br>
              <a:rPr lang="en-US" altLang="ko-KR" sz="5600" dirty="0">
                <a:gradFill flip="none" rotWithShape="1">
                  <a:gsLst>
                    <a:gs pos="0">
                      <a:schemeClr val="accent2">
                        <a:lumMod val="75000"/>
                        <a:shade val="30000"/>
                        <a:satMod val="115000"/>
                      </a:schemeClr>
                    </a:gs>
                    <a:gs pos="50000">
                      <a:schemeClr val="accent2">
                        <a:lumMod val="75000"/>
                        <a:shade val="67500"/>
                        <a:satMod val="115000"/>
                      </a:schemeClr>
                    </a:gs>
                    <a:gs pos="100000">
                      <a:schemeClr val="accent2">
                        <a:lumMod val="75000"/>
                        <a:shade val="100000"/>
                        <a:satMod val="115000"/>
                      </a:schemeClr>
                    </a:gs>
                  </a:gsLst>
                  <a:lin ang="10800000" scaled="1"/>
                  <a:tileRect/>
                </a:gradFill>
                <a:ea typeface="문체부 제목 돋음체" panose="020B0609000101010101" pitchFamily="49" charset="-127"/>
              </a:rPr>
            </a:br>
            <a:r>
              <a:rPr lang="ko-KR" altLang="en-US" sz="5600" dirty="0">
                <a:gradFill flip="none" rotWithShape="1">
                  <a:gsLst>
                    <a:gs pos="0">
                      <a:schemeClr val="accent2">
                        <a:lumMod val="75000"/>
                        <a:shade val="30000"/>
                        <a:satMod val="115000"/>
                      </a:schemeClr>
                    </a:gs>
                    <a:gs pos="50000">
                      <a:schemeClr val="accent2">
                        <a:lumMod val="75000"/>
                        <a:shade val="67500"/>
                        <a:satMod val="115000"/>
                      </a:schemeClr>
                    </a:gs>
                    <a:gs pos="100000">
                      <a:schemeClr val="accent2">
                        <a:lumMod val="75000"/>
                        <a:shade val="100000"/>
                        <a:satMod val="115000"/>
                      </a:schemeClr>
                    </a:gs>
                  </a:gsLst>
                  <a:lin ang="10800000" scaled="1"/>
                  <a:tileRect/>
                </a:gradFill>
                <a:ea typeface="문체부 제목 돋음체" panose="020B0609000101010101" pitchFamily="49" charset="-127"/>
              </a:rPr>
              <a:t>자신의 등수를</a:t>
            </a:r>
            <a:br>
              <a:rPr lang="en-US" altLang="ko-KR" sz="5600" dirty="0">
                <a:ea typeface="문체부 제목 돋음체" panose="020B0609000101010101" pitchFamily="49" charset="-127"/>
              </a:rPr>
            </a:br>
            <a:r>
              <a:rPr lang="ko-KR" altLang="en-US" sz="5600" dirty="0">
                <a:gradFill flip="none" rotWithShape="1">
                  <a:gsLst>
                    <a:gs pos="0">
                      <a:schemeClr val="accent1">
                        <a:lumMod val="50000"/>
                        <a:shade val="30000"/>
                        <a:satMod val="115000"/>
                      </a:schemeClr>
                    </a:gs>
                    <a:gs pos="50000">
                      <a:schemeClr val="accent1">
                        <a:lumMod val="50000"/>
                        <a:shade val="67500"/>
                        <a:satMod val="115000"/>
                      </a:schemeClr>
                    </a:gs>
                    <a:gs pos="100000">
                      <a:schemeClr val="accent1">
                        <a:lumMod val="50000"/>
                        <a:shade val="100000"/>
                        <a:satMod val="115000"/>
                      </a:schemeClr>
                    </a:gs>
                  </a:gsLst>
                  <a:lin ang="0" scaled="1"/>
                  <a:tileRect/>
                </a:gradFill>
                <a:ea typeface="문체부 제목 돋음체" panose="020B0609000101010101" pitchFamily="49" charset="-127"/>
              </a:rPr>
              <a:t>얻는 법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9F0EF335-E223-4F98-981A-B99F888B186E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Blur radius="5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2293" r="1" b="13454"/>
          <a:stretch/>
        </p:blipFill>
        <p:spPr>
          <a:xfrm>
            <a:off x="6359308" y="470930"/>
            <a:ext cx="4833901" cy="5696169"/>
          </a:xfrm>
          <a:prstGeom prst="rect">
            <a:avLst/>
          </a:prstGeom>
          <a:ln w="28575">
            <a:noFill/>
          </a:ln>
        </p:spPr>
      </p:pic>
      <p:sp>
        <p:nvSpPr>
          <p:cNvPr id="31" name="Graphic 212">
            <a:extLst>
              <a:ext uri="{FF2B5EF4-FFF2-40B4-BE49-F238E27FC236}">
                <a16:creationId xmlns:a16="http://schemas.microsoft.com/office/drawing/2014/main" id="{4FB204DF-284E-45F6-A017-79A4DF57BC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762917" y="937735"/>
            <a:ext cx="891066" cy="891066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rgbClr val="FFFFFF"/>
          </a:solidFill>
          <a:ln w="28575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33" name="Graphic 212">
            <a:extLst>
              <a:ext uri="{FF2B5EF4-FFF2-40B4-BE49-F238E27FC236}">
                <a16:creationId xmlns:a16="http://schemas.microsoft.com/office/drawing/2014/main" id="{96FD6442-EB7D-4992-8D41-0B7FFDCB43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762917" y="937735"/>
            <a:ext cx="891066" cy="891066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chemeClr val="accent1">
              <a:alpha val="2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grpSp>
        <p:nvGrpSpPr>
          <p:cNvPr id="35" name="Graphic 185">
            <a:extLst>
              <a:ext uri="{FF2B5EF4-FFF2-40B4-BE49-F238E27FC236}">
                <a16:creationId xmlns:a16="http://schemas.microsoft.com/office/drawing/2014/main" id="{FB9739EB-7F66-433D-841F-AB3CD18700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858306" y="2360859"/>
            <a:ext cx="1054466" cy="469689"/>
            <a:chOff x="9841624" y="4115729"/>
            <a:chExt cx="602169" cy="268223"/>
          </a:xfrm>
          <a:solidFill>
            <a:schemeClr val="tx1"/>
          </a:solidFill>
        </p:grpSpPr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104F2BBD-A005-4DCB-9566-F2351050BEE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841624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8B00DEC7-198B-49D1-98FD-018F3ECFCF4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941445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F14DFC82-B3B3-468E-91B3-1302CFC684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041267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D3250EFE-214E-4B8E-AF96-036A514FFB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141090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AD058EBE-D4A5-4C43-B170-6A451F87A7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40911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42" name="Oval 41">
            <a:extLst>
              <a:ext uri="{FF2B5EF4-FFF2-40B4-BE49-F238E27FC236}">
                <a16:creationId xmlns:a16="http://schemas.microsoft.com/office/drawing/2014/main" id="{4D1A5E71-B6B6-486A-8CDC-C7ABD9B903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162610" y="5308473"/>
            <a:ext cx="445835" cy="445835"/>
          </a:xfrm>
          <a:prstGeom prst="ellipse">
            <a:avLst/>
          </a:prstGeom>
          <a:solidFill>
            <a:srgbClr val="FFFFFF"/>
          </a:solidFill>
          <a:ln w="28575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6004781B-698F-46D5-AADD-8AE9211719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162610" y="5308473"/>
            <a:ext cx="445835" cy="445835"/>
          </a:xfrm>
          <a:prstGeom prst="ellipse">
            <a:avLst/>
          </a:prstGeom>
          <a:solidFill>
            <a:schemeClr val="accent1">
              <a:alpha val="2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FE26132-83DE-4A72-B784-101A58A6102A}"/>
              </a:ext>
            </a:extLst>
          </p:cNvPr>
          <p:cNvSpPr txBox="1"/>
          <p:nvPr/>
        </p:nvSpPr>
        <p:spPr>
          <a:xfrm>
            <a:off x="3926555" y="5678045"/>
            <a:ext cx="1803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2604 </a:t>
            </a:r>
            <a:r>
              <a:rPr lang="ko-KR" altLang="en-US" dirty="0"/>
              <a:t>김정훈</a:t>
            </a:r>
          </a:p>
        </p:txBody>
      </p:sp>
    </p:spTree>
    <p:extLst>
      <p:ext uri="{BB962C8B-B14F-4D97-AF65-F5344CB8AC3E}">
        <p14:creationId xmlns:p14="http://schemas.microsoft.com/office/powerpoint/2010/main" val="48458158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6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1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2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3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4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2500"/>
                            </p:stCondLst>
                            <p:childTnLst>
                              <p:par>
                                <p:cTn id="26" presetID="47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B5C4DC3-E609-471F-9327-8A00A8A9E1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ea typeface="문체부 제목 돋음체" panose="020B0609000101010101" pitchFamily="49" charset="-127"/>
              </a:rPr>
              <a:t>1. </a:t>
            </a:r>
            <a:r>
              <a:rPr lang="ko-KR" altLang="en-US" dirty="0">
                <a:ea typeface="문체부 제목 돋음체" panose="020B0609000101010101" pitchFamily="49" charset="-127"/>
              </a:rPr>
              <a:t>선정 동기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143EEFF-0544-46A8-9431-3EFE8219B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ko-KR" altLang="en-US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문체부 돋음체" panose="020B0609000101010101" pitchFamily="49" charset="-127"/>
              </a:rPr>
              <a:t>중학교에 다닐 때</a:t>
            </a:r>
            <a:r>
              <a:rPr lang="en-US" altLang="ko-KR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문체부 돋음체" panose="020B0609000101010101" pitchFamily="49" charset="-127"/>
              </a:rPr>
              <a:t>, </a:t>
            </a:r>
            <a:r>
              <a:rPr lang="ko-KR" altLang="en-US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문체부 돋음체" panose="020B0609000101010101" pitchFamily="49" charset="-127"/>
              </a:rPr>
              <a:t>성적표에 과목의 평균점수와 해당 과목 표준편차만이 제시되어 있었는데</a:t>
            </a:r>
            <a:r>
              <a:rPr lang="en-US" altLang="ko-KR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문체부 돋음체" panose="020B0609000101010101" pitchFamily="49" charset="-127"/>
              </a:rPr>
              <a:t>, </a:t>
            </a:r>
            <a:r>
              <a:rPr lang="ko-KR" altLang="en-US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문체부 돋음체" panose="020B0609000101010101" pitchFamily="49" charset="-127"/>
              </a:rPr>
              <a:t>그럴 때도 나의 등수가 어느 정도인지 알고 싶을 때가 종종 있었다</a:t>
            </a:r>
            <a:r>
              <a:rPr lang="en-US" altLang="ko-KR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문체부 돋음체" panose="020B0609000101010101" pitchFamily="49" charset="-127"/>
              </a:rPr>
              <a:t>. </a:t>
            </a:r>
            <a:r>
              <a:rPr lang="ko-KR" altLang="en-US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문체부 돋음체" panose="020B0609000101010101" pitchFamily="49" charset="-127"/>
              </a:rPr>
              <a:t>그럴 때 학생들의 성적이 표준정규분포를 </a:t>
            </a:r>
            <a:r>
              <a:rPr lang="ko-KR" altLang="en-US" kern="0" spc="0" dirty="0" err="1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문체부 돋음체" panose="020B0609000101010101" pitchFamily="49" charset="-127"/>
              </a:rPr>
              <a:t>따른다고</a:t>
            </a:r>
            <a:r>
              <a:rPr lang="ko-KR" altLang="en-US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문체부 돋음체" panose="020B0609000101010101" pitchFamily="49" charset="-127"/>
              </a:rPr>
              <a:t> 했을 때</a:t>
            </a:r>
            <a:r>
              <a:rPr lang="en-US" altLang="ko-KR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문체부 돋음체" panose="020B0609000101010101" pitchFamily="49" charset="-127"/>
              </a:rPr>
              <a:t>, </a:t>
            </a:r>
            <a:r>
              <a:rPr lang="ko-KR" altLang="en-US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문체부 돋음체" panose="020B0609000101010101" pitchFamily="49" charset="-127"/>
              </a:rPr>
              <a:t>대략적인 등수를 계산해주는 프로그램을 활용하곤 했다</a:t>
            </a:r>
            <a:r>
              <a:rPr lang="en-US" altLang="ko-KR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문체부 돋음체" panose="020B0609000101010101" pitchFamily="49" charset="-127"/>
              </a:rPr>
              <a:t>. </a:t>
            </a:r>
            <a:r>
              <a:rPr lang="ko-KR" altLang="en-US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문체부 돋음체" panose="020B0609000101010101" pitchFamily="49" charset="-127"/>
              </a:rPr>
              <a:t>그 원리를 좀 더 깊이 조사해보고 싶었다</a:t>
            </a:r>
            <a:r>
              <a:rPr lang="en-US" altLang="ko-KR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문체부 돋음체" panose="020B0609000101010101" pitchFamily="49" charset="-127"/>
              </a:rPr>
              <a:t>.</a:t>
            </a:r>
            <a:endParaRPr lang="ko-KR" altLang="en-US" kern="0" spc="0" dirty="0">
              <a:solidFill>
                <a:srgbClr val="000000"/>
              </a:solidFill>
              <a:effectLst/>
              <a:latin typeface="함초롬바탕" panose="02030604000101010101" pitchFamily="18" charset="-127"/>
              <a:ea typeface="문체부 돋음체" panose="020B0609000101010101" pitchFamily="49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323335665"/>
      </p:ext>
    </p:extLst>
  </p:cSld>
  <p:clrMapOvr>
    <a:masterClrMapping/>
  </p:clrMapOvr>
  <p:transition spd="med">
    <p:pull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9" name="Rectangle 31">
            <a:extLst>
              <a:ext uri="{FF2B5EF4-FFF2-40B4-BE49-F238E27FC236}">
                <a16:creationId xmlns:a16="http://schemas.microsoft.com/office/drawing/2014/main" id="{5A0118C5-4F8D-4CF4-BADD-53FEACC6C4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90C23223-B720-4768-BEB8-19438445C6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56784" y="396117"/>
            <a:ext cx="5217172" cy="1158857"/>
          </a:xfrm>
        </p:spPr>
        <p:txBody>
          <a:bodyPr anchor="b">
            <a:normAutofit/>
          </a:bodyPr>
          <a:lstStyle/>
          <a:p>
            <a:r>
              <a:rPr lang="en-US" altLang="ko-KR" sz="4100"/>
              <a:t>2. </a:t>
            </a:r>
            <a:r>
              <a:rPr lang="ko-KR" altLang="en-US" sz="4100"/>
              <a:t>등수 추정 프로그램</a:t>
            </a:r>
          </a:p>
        </p:txBody>
      </p:sp>
      <p:grpSp>
        <p:nvGrpSpPr>
          <p:cNvPr id="30" name="Graphic 38">
            <a:extLst>
              <a:ext uri="{FF2B5EF4-FFF2-40B4-BE49-F238E27FC236}">
                <a16:creationId xmlns:a16="http://schemas.microsoft.com/office/drawing/2014/main" id="{9742E72B-7FDB-4BC3-84CE-9A86756476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96583" y="975545"/>
            <a:ext cx="1910252" cy="709660"/>
            <a:chOff x="2267504" y="2540250"/>
            <a:chExt cx="1990951" cy="739640"/>
          </a:xfrm>
          <a:solidFill>
            <a:schemeClr val="tx1"/>
          </a:solidFill>
        </p:grpSpPr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9E41CB4E-1ACC-413B-9806-FF276C0F010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54025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5835 h 286230"/>
                <a:gd name="connsiteX8" fmla="*/ 255835 w 1990951"/>
                <a:gd name="connsiteY8" fmla="*/ 0 h 286230"/>
                <a:gd name="connsiteX9" fmla="*/ 504071 w 1990951"/>
                <a:gd name="connsiteY9" fmla="*/ 245703 h 286230"/>
                <a:gd name="connsiteX10" fmla="*/ 749773 w 1990951"/>
                <a:gd name="connsiteY10" fmla="*/ 0 h 286230"/>
                <a:gd name="connsiteX11" fmla="*/ 995476 w 1990951"/>
                <a:gd name="connsiteY11" fmla="*/ 245703 h 286230"/>
                <a:gd name="connsiteX12" fmla="*/ 1243712 w 1990951"/>
                <a:gd name="connsiteY12" fmla="*/ 0 h 286230"/>
                <a:gd name="connsiteX13" fmla="*/ 1489414 w 1990951"/>
                <a:gd name="connsiteY13" fmla="*/ 245703 h 286230"/>
                <a:gd name="connsiteX14" fmla="*/ 1735117 w 1990951"/>
                <a:gd name="connsiteY14" fmla="*/ 0 h 286230"/>
                <a:gd name="connsiteX15" fmla="*/ 1990952 w 1990951"/>
                <a:gd name="connsiteY15" fmla="*/ 255835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5835"/>
                  </a:lnTo>
                  <a:lnTo>
                    <a:pt x="255835" y="0"/>
                  </a:lnTo>
                  <a:lnTo>
                    <a:pt x="504071" y="245703"/>
                  </a:lnTo>
                  <a:lnTo>
                    <a:pt x="749773" y="0"/>
                  </a:lnTo>
                  <a:lnTo>
                    <a:pt x="995476" y="245703"/>
                  </a:lnTo>
                  <a:lnTo>
                    <a:pt x="1243712" y="0"/>
                  </a:lnTo>
                  <a:lnTo>
                    <a:pt x="1489414" y="245703"/>
                  </a:lnTo>
                  <a:lnTo>
                    <a:pt x="1735117" y="0"/>
                  </a:lnTo>
                  <a:lnTo>
                    <a:pt x="1990952" y="255835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1" name="Freeform: Shape 35">
              <a:extLst>
                <a:ext uri="{FF2B5EF4-FFF2-40B4-BE49-F238E27FC236}">
                  <a16:creationId xmlns:a16="http://schemas.microsoft.com/office/drawing/2014/main" id="{29B54E44-06C0-461C-A803-0F535321AD0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99366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8368 h 286230"/>
                <a:gd name="connsiteX8" fmla="*/ 255835 w 1990951"/>
                <a:gd name="connsiteY8" fmla="*/ 0 h 286230"/>
                <a:gd name="connsiteX9" fmla="*/ 504071 w 1990951"/>
                <a:gd name="connsiteY9" fmla="*/ 248236 h 286230"/>
                <a:gd name="connsiteX10" fmla="*/ 749773 w 1990951"/>
                <a:gd name="connsiteY10" fmla="*/ 0 h 286230"/>
                <a:gd name="connsiteX11" fmla="*/ 995476 w 1990951"/>
                <a:gd name="connsiteY11" fmla="*/ 248236 h 286230"/>
                <a:gd name="connsiteX12" fmla="*/ 1243712 w 1990951"/>
                <a:gd name="connsiteY12" fmla="*/ 0 h 286230"/>
                <a:gd name="connsiteX13" fmla="*/ 1489414 w 1990951"/>
                <a:gd name="connsiteY13" fmla="*/ 248236 h 286230"/>
                <a:gd name="connsiteX14" fmla="*/ 1735117 w 1990951"/>
                <a:gd name="connsiteY14" fmla="*/ 0 h 286230"/>
                <a:gd name="connsiteX15" fmla="*/ 1990952 w 1990951"/>
                <a:gd name="connsiteY15" fmla="*/ 258368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8368"/>
                  </a:lnTo>
                  <a:lnTo>
                    <a:pt x="255835" y="0"/>
                  </a:lnTo>
                  <a:lnTo>
                    <a:pt x="504071" y="248236"/>
                  </a:lnTo>
                  <a:lnTo>
                    <a:pt x="749773" y="0"/>
                  </a:lnTo>
                  <a:lnTo>
                    <a:pt x="995476" y="248236"/>
                  </a:lnTo>
                  <a:lnTo>
                    <a:pt x="1243712" y="0"/>
                  </a:lnTo>
                  <a:lnTo>
                    <a:pt x="1489414" y="248236"/>
                  </a:lnTo>
                  <a:lnTo>
                    <a:pt x="1735117" y="0"/>
                  </a:lnTo>
                  <a:lnTo>
                    <a:pt x="1990952" y="258368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33" name="Oval 37">
            <a:extLst>
              <a:ext uri="{FF2B5EF4-FFF2-40B4-BE49-F238E27FC236}">
                <a16:creationId xmlns:a16="http://schemas.microsoft.com/office/drawing/2014/main" id="{09645E15-CD1B-4EAA-B2F2-D41E53CA4E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39959" y="4752208"/>
            <a:ext cx="365021" cy="365021"/>
          </a:xfrm>
          <a:prstGeom prst="ellipse">
            <a:avLst/>
          </a:prstGeom>
          <a:solidFill>
            <a:srgbClr val="FFFFFF"/>
          </a:solidFill>
          <a:ln w="28575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37" name="Oval 39">
            <a:extLst>
              <a:ext uri="{FF2B5EF4-FFF2-40B4-BE49-F238E27FC236}">
                <a16:creationId xmlns:a16="http://schemas.microsoft.com/office/drawing/2014/main" id="{0C571069-A359-469A-98CD-9458DBAA0D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39959" y="4752208"/>
            <a:ext cx="365021" cy="365021"/>
          </a:xfrm>
          <a:prstGeom prst="ellipse">
            <a:avLst/>
          </a:prstGeom>
          <a:solidFill>
            <a:schemeClr val="accent1">
              <a:alpha val="2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내용 개체 틀 4" descr="텍스트이(가) 표시된 사진&#10;&#10;자동 생성된 설명">
            <a:extLst>
              <a:ext uri="{FF2B5EF4-FFF2-40B4-BE49-F238E27FC236}">
                <a16:creationId xmlns:a16="http://schemas.microsoft.com/office/drawing/2014/main" id="{A14FA282-0DB2-4D33-BE8B-D07082EE9C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6305" y="1993870"/>
            <a:ext cx="4324174" cy="2626935"/>
          </a:xfrm>
          <a:prstGeom prst="rect">
            <a:avLst/>
          </a:prstGeom>
        </p:spPr>
      </p:pic>
      <p:grpSp>
        <p:nvGrpSpPr>
          <p:cNvPr id="39" name="Graphic 4">
            <a:extLst>
              <a:ext uri="{FF2B5EF4-FFF2-40B4-BE49-F238E27FC236}">
                <a16:creationId xmlns:a16="http://schemas.microsoft.com/office/drawing/2014/main" id="{A61BDD87-32CE-4DE2-AAE1-62C2F47938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109667" y="4903343"/>
            <a:ext cx="975169" cy="975171"/>
            <a:chOff x="5829300" y="3162300"/>
            <a:chExt cx="532256" cy="532257"/>
          </a:xfrm>
          <a:solidFill>
            <a:schemeClr val="tx1"/>
          </a:solidFill>
        </p:grpSpPr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EF0F3645-6645-44FD-A4C7-06D41C09910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9208" y="3192208"/>
              <a:ext cx="112966" cy="112966"/>
            </a:xfrm>
            <a:custGeom>
              <a:avLst/>
              <a:gdLst>
                <a:gd name="connsiteX0" fmla="*/ 112967 w 112966"/>
                <a:gd name="connsiteY0" fmla="*/ 0 h 112966"/>
                <a:gd name="connsiteX1" fmla="*/ 0 w 112966"/>
                <a:gd name="connsiteY1" fmla="*/ 112967 h 112966"/>
                <a:gd name="connsiteX2" fmla="*/ 112967 w 112966"/>
                <a:gd name="connsiteY2" fmla="*/ 0 h 1129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2966" h="112966">
                  <a:moveTo>
                    <a:pt x="112967" y="0"/>
                  </a:moveTo>
                  <a:lnTo>
                    <a:pt x="0" y="112967"/>
                  </a:lnTo>
                  <a:cubicBezTo>
                    <a:pt x="25356" y="64747"/>
                    <a:pt x="64747" y="25356"/>
                    <a:pt x="112967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1" name="Freeform: Shape 43">
              <a:extLst>
                <a:ext uri="{FF2B5EF4-FFF2-40B4-BE49-F238E27FC236}">
                  <a16:creationId xmlns:a16="http://schemas.microsoft.com/office/drawing/2014/main" id="{65458736-D4A2-40D4-9420-C40AEB2AB53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1205" y="3164205"/>
              <a:ext cx="230314" cy="230314"/>
            </a:xfrm>
            <a:custGeom>
              <a:avLst/>
              <a:gdLst>
                <a:gd name="connsiteX0" fmla="*/ 230314 w 230314"/>
                <a:gd name="connsiteY0" fmla="*/ 0 h 230314"/>
                <a:gd name="connsiteX1" fmla="*/ 0 w 230314"/>
                <a:gd name="connsiteY1" fmla="*/ 230314 h 230314"/>
                <a:gd name="connsiteX2" fmla="*/ 3524 w 230314"/>
                <a:gd name="connsiteY2" fmla="*/ 209550 h 230314"/>
                <a:gd name="connsiteX3" fmla="*/ 209550 w 230314"/>
                <a:gd name="connsiteY3" fmla="*/ 3524 h 230314"/>
                <a:gd name="connsiteX4" fmla="*/ 230314 w 230314"/>
                <a:gd name="connsiteY4" fmla="*/ 0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0314" h="230314">
                  <a:moveTo>
                    <a:pt x="230314" y="0"/>
                  </a:moveTo>
                  <a:lnTo>
                    <a:pt x="0" y="230314"/>
                  </a:lnTo>
                  <a:cubicBezTo>
                    <a:pt x="953" y="223361"/>
                    <a:pt x="2095" y="216408"/>
                    <a:pt x="3524" y="209550"/>
                  </a:cubicBezTo>
                  <a:lnTo>
                    <a:pt x="209550" y="3524"/>
                  </a:lnTo>
                  <a:cubicBezTo>
                    <a:pt x="216408" y="2095"/>
                    <a:pt x="223361" y="953"/>
                    <a:pt x="230314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768FA6A4-209B-443A-9CF2-FFDC90EC34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29300" y="3162300"/>
              <a:ext cx="294131" cy="294131"/>
            </a:xfrm>
            <a:custGeom>
              <a:avLst/>
              <a:gdLst>
                <a:gd name="connsiteX0" fmla="*/ 294132 w 294131"/>
                <a:gd name="connsiteY0" fmla="*/ 1238 h 294131"/>
                <a:gd name="connsiteX1" fmla="*/ 1238 w 294131"/>
                <a:gd name="connsiteY1" fmla="*/ 294132 h 294131"/>
                <a:gd name="connsiteX2" fmla="*/ 0 w 294131"/>
                <a:gd name="connsiteY2" fmla="*/ 278225 h 294131"/>
                <a:gd name="connsiteX3" fmla="*/ 278225 w 294131"/>
                <a:gd name="connsiteY3" fmla="*/ 0 h 294131"/>
                <a:gd name="connsiteX4" fmla="*/ 294132 w 294131"/>
                <a:gd name="connsiteY4" fmla="*/ 1238 h 2941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4131" h="294131">
                  <a:moveTo>
                    <a:pt x="294132" y="1238"/>
                  </a:moveTo>
                  <a:lnTo>
                    <a:pt x="1238" y="294132"/>
                  </a:lnTo>
                  <a:cubicBezTo>
                    <a:pt x="667" y="288893"/>
                    <a:pt x="0" y="283559"/>
                    <a:pt x="0" y="278225"/>
                  </a:cubicBezTo>
                  <a:lnTo>
                    <a:pt x="278225" y="0"/>
                  </a:lnTo>
                  <a:cubicBezTo>
                    <a:pt x="283559" y="0"/>
                    <a:pt x="288893" y="667"/>
                    <a:pt x="294132" y="123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6" name="Freeform: Shape 45">
              <a:extLst>
                <a:ext uri="{FF2B5EF4-FFF2-40B4-BE49-F238E27FC236}">
                  <a16:creationId xmlns:a16="http://schemas.microsoft.com/office/drawing/2014/main" id="{EEB0A6C9-E0F4-403E-8FB7-5FF4F1F646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7205" y="3170110"/>
              <a:ext cx="337184" cy="337280"/>
            </a:xfrm>
            <a:custGeom>
              <a:avLst/>
              <a:gdLst>
                <a:gd name="connsiteX0" fmla="*/ 337185 w 337184"/>
                <a:gd name="connsiteY0" fmla="*/ 3905 h 337280"/>
                <a:gd name="connsiteX1" fmla="*/ 3810 w 337184"/>
                <a:gd name="connsiteY1" fmla="*/ 337280 h 337280"/>
                <a:gd name="connsiteX2" fmla="*/ 0 w 337184"/>
                <a:gd name="connsiteY2" fmla="*/ 323850 h 337280"/>
                <a:gd name="connsiteX3" fmla="*/ 323850 w 337184"/>
                <a:gd name="connsiteY3" fmla="*/ 0 h 337280"/>
                <a:gd name="connsiteX4" fmla="*/ 337185 w 337184"/>
                <a:gd name="connsiteY4" fmla="*/ 3905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7184" h="337280">
                  <a:moveTo>
                    <a:pt x="337185" y="3905"/>
                  </a:moveTo>
                  <a:lnTo>
                    <a:pt x="3810" y="337280"/>
                  </a:lnTo>
                  <a:cubicBezTo>
                    <a:pt x="2381" y="332899"/>
                    <a:pt x="1143" y="328422"/>
                    <a:pt x="0" y="323850"/>
                  </a:cubicBezTo>
                  <a:lnTo>
                    <a:pt x="323850" y="0"/>
                  </a:lnTo>
                  <a:cubicBezTo>
                    <a:pt x="328327" y="1715"/>
                    <a:pt x="332804" y="2477"/>
                    <a:pt x="337185" y="39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7" name="Freeform: Shape 46">
              <a:extLst>
                <a:ext uri="{FF2B5EF4-FFF2-40B4-BE49-F238E27FC236}">
                  <a16:creationId xmlns:a16="http://schemas.microsoft.com/office/drawing/2014/main" id="{6DA5950E-75DA-4E34-99EB-8982548700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3207" y="3186207"/>
              <a:ext cx="364617" cy="364617"/>
            </a:xfrm>
            <a:custGeom>
              <a:avLst/>
              <a:gdLst>
                <a:gd name="connsiteX0" fmla="*/ 364617 w 364617"/>
                <a:gd name="connsiteY0" fmla="*/ 5620 h 364617"/>
                <a:gd name="connsiteX1" fmla="*/ 5620 w 364617"/>
                <a:gd name="connsiteY1" fmla="*/ 364617 h 364617"/>
                <a:gd name="connsiteX2" fmla="*/ 0 w 364617"/>
                <a:gd name="connsiteY2" fmla="*/ 353187 h 364617"/>
                <a:gd name="connsiteX3" fmla="*/ 353187 w 364617"/>
                <a:gd name="connsiteY3" fmla="*/ 0 h 364617"/>
                <a:gd name="connsiteX4" fmla="*/ 364617 w 364617"/>
                <a:gd name="connsiteY4" fmla="*/ 5620 h 364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4617" h="364617">
                  <a:moveTo>
                    <a:pt x="364617" y="5620"/>
                  </a:moveTo>
                  <a:lnTo>
                    <a:pt x="5620" y="364617"/>
                  </a:lnTo>
                  <a:cubicBezTo>
                    <a:pt x="3620" y="360902"/>
                    <a:pt x="1715" y="357092"/>
                    <a:pt x="0" y="353187"/>
                  </a:cubicBezTo>
                  <a:lnTo>
                    <a:pt x="353187" y="0"/>
                  </a:lnTo>
                  <a:cubicBezTo>
                    <a:pt x="357092" y="1715"/>
                    <a:pt x="360902" y="3715"/>
                    <a:pt x="364617" y="562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8" name="Freeform: Shape 47">
              <a:extLst>
                <a:ext uri="{FF2B5EF4-FFF2-40B4-BE49-F238E27FC236}">
                  <a16:creationId xmlns:a16="http://schemas.microsoft.com/office/drawing/2014/main" id="{6F609E6F-709D-42D6-8E54-91E37E2B1B6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75305" y="3208305"/>
              <a:ext cx="380238" cy="380238"/>
            </a:xfrm>
            <a:custGeom>
              <a:avLst/>
              <a:gdLst>
                <a:gd name="connsiteX0" fmla="*/ 380238 w 380238"/>
                <a:gd name="connsiteY0" fmla="*/ 7239 h 380238"/>
                <a:gd name="connsiteX1" fmla="*/ 7239 w 380238"/>
                <a:gd name="connsiteY1" fmla="*/ 380238 h 380238"/>
                <a:gd name="connsiteX2" fmla="*/ 0 w 380238"/>
                <a:gd name="connsiteY2" fmla="*/ 370713 h 380238"/>
                <a:gd name="connsiteX3" fmla="*/ 370237 w 380238"/>
                <a:gd name="connsiteY3" fmla="*/ 0 h 380238"/>
                <a:gd name="connsiteX4" fmla="*/ 380238 w 380238"/>
                <a:gd name="connsiteY4" fmla="*/ 7239 h 380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0238" h="380238">
                  <a:moveTo>
                    <a:pt x="380238" y="7239"/>
                  </a:moveTo>
                  <a:lnTo>
                    <a:pt x="7239" y="380238"/>
                  </a:lnTo>
                  <a:cubicBezTo>
                    <a:pt x="4763" y="377000"/>
                    <a:pt x="2381" y="373571"/>
                    <a:pt x="0" y="370713"/>
                  </a:cubicBezTo>
                  <a:lnTo>
                    <a:pt x="370237" y="0"/>
                  </a:lnTo>
                  <a:cubicBezTo>
                    <a:pt x="373571" y="2381"/>
                    <a:pt x="377000" y="4763"/>
                    <a:pt x="380238" y="723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1" name="Freeform: Shape 48">
              <a:extLst>
                <a:ext uri="{FF2B5EF4-FFF2-40B4-BE49-F238E27FC236}">
                  <a16:creationId xmlns:a16="http://schemas.microsoft.com/office/drawing/2014/main" id="{0C4707FB-9E68-4EBA-A4E0-4516F150612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02832" y="3235832"/>
              <a:ext cx="385191" cy="385191"/>
            </a:xfrm>
            <a:custGeom>
              <a:avLst/>
              <a:gdLst>
                <a:gd name="connsiteX0" fmla="*/ 380905 w 385191"/>
                <a:gd name="connsiteY0" fmla="*/ 4286 h 385191"/>
                <a:gd name="connsiteX1" fmla="*/ 385191 w 385191"/>
                <a:gd name="connsiteY1" fmla="*/ 8573 h 385191"/>
                <a:gd name="connsiteX2" fmla="*/ 8573 w 385191"/>
                <a:gd name="connsiteY2" fmla="*/ 385191 h 385191"/>
                <a:gd name="connsiteX3" fmla="*/ 4286 w 385191"/>
                <a:gd name="connsiteY3" fmla="*/ 380905 h 385191"/>
                <a:gd name="connsiteX4" fmla="*/ 0 w 385191"/>
                <a:gd name="connsiteY4" fmla="*/ 376523 h 385191"/>
                <a:gd name="connsiteX5" fmla="*/ 376523 w 385191"/>
                <a:gd name="connsiteY5" fmla="*/ 0 h 385191"/>
                <a:gd name="connsiteX6" fmla="*/ 380905 w 385191"/>
                <a:gd name="connsiteY6" fmla="*/ 4286 h 385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85191" h="385191">
                  <a:moveTo>
                    <a:pt x="380905" y="4286"/>
                  </a:moveTo>
                  <a:lnTo>
                    <a:pt x="385191" y="8573"/>
                  </a:lnTo>
                  <a:lnTo>
                    <a:pt x="8573" y="385191"/>
                  </a:lnTo>
                  <a:lnTo>
                    <a:pt x="4286" y="380905"/>
                  </a:lnTo>
                  <a:cubicBezTo>
                    <a:pt x="2762" y="379476"/>
                    <a:pt x="1334" y="377952"/>
                    <a:pt x="0" y="376523"/>
                  </a:cubicBezTo>
                  <a:lnTo>
                    <a:pt x="376523" y="0"/>
                  </a:lnTo>
                  <a:cubicBezTo>
                    <a:pt x="377952" y="1334"/>
                    <a:pt x="379476" y="2667"/>
                    <a:pt x="380905" y="428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2" name="Freeform: Shape 49">
              <a:extLst>
                <a:ext uri="{FF2B5EF4-FFF2-40B4-BE49-F238E27FC236}">
                  <a16:creationId xmlns:a16="http://schemas.microsoft.com/office/drawing/2014/main" id="{A799771A-5CA8-4CCE-B4F5-FE8C20379A0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35789" y="3268313"/>
              <a:ext cx="379761" cy="380237"/>
            </a:xfrm>
            <a:custGeom>
              <a:avLst/>
              <a:gdLst>
                <a:gd name="connsiteX0" fmla="*/ 372428 w 379761"/>
                <a:gd name="connsiteY0" fmla="*/ 0 h 380237"/>
                <a:gd name="connsiteX1" fmla="*/ 379762 w 379761"/>
                <a:gd name="connsiteY1" fmla="*/ 9525 h 380237"/>
                <a:gd name="connsiteX2" fmla="*/ 9525 w 379761"/>
                <a:gd name="connsiteY2" fmla="*/ 380238 h 380237"/>
                <a:gd name="connsiteX3" fmla="*/ 0 w 379761"/>
                <a:gd name="connsiteY3" fmla="*/ 372904 h 380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79761" h="380237">
                  <a:moveTo>
                    <a:pt x="372428" y="0"/>
                  </a:moveTo>
                  <a:cubicBezTo>
                    <a:pt x="374999" y="3239"/>
                    <a:pt x="377381" y="6572"/>
                    <a:pt x="379762" y="9525"/>
                  </a:cubicBezTo>
                  <a:lnTo>
                    <a:pt x="9525" y="380238"/>
                  </a:lnTo>
                  <a:cubicBezTo>
                    <a:pt x="6096" y="377857"/>
                    <a:pt x="2762" y="375476"/>
                    <a:pt x="0" y="37290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3" name="Freeform: Shape 50">
              <a:extLst>
                <a:ext uri="{FF2B5EF4-FFF2-40B4-BE49-F238E27FC236}">
                  <a16:creationId xmlns:a16="http://schemas.microsoft.com/office/drawing/2014/main" id="{461D636C-9A38-466B-BD92-39795F493B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2841" y="3305841"/>
              <a:ext cx="364807" cy="364807"/>
            </a:xfrm>
            <a:custGeom>
              <a:avLst/>
              <a:gdLst>
                <a:gd name="connsiteX0" fmla="*/ 359188 w 364807"/>
                <a:gd name="connsiteY0" fmla="*/ 0 h 364807"/>
                <a:gd name="connsiteX1" fmla="*/ 364808 w 364807"/>
                <a:gd name="connsiteY1" fmla="*/ 11621 h 364807"/>
                <a:gd name="connsiteX2" fmla="*/ 11621 w 364807"/>
                <a:gd name="connsiteY2" fmla="*/ 364808 h 364807"/>
                <a:gd name="connsiteX3" fmla="*/ 0 w 364807"/>
                <a:gd name="connsiteY3" fmla="*/ 359188 h 364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4807" h="364807">
                  <a:moveTo>
                    <a:pt x="359188" y="0"/>
                  </a:moveTo>
                  <a:cubicBezTo>
                    <a:pt x="361188" y="3905"/>
                    <a:pt x="362998" y="7715"/>
                    <a:pt x="364808" y="11621"/>
                  </a:cubicBezTo>
                  <a:lnTo>
                    <a:pt x="11621" y="364808"/>
                  </a:lnTo>
                  <a:cubicBezTo>
                    <a:pt x="7715" y="362998"/>
                    <a:pt x="3905" y="361188"/>
                    <a:pt x="0" y="35918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399F3BD6-49A2-4D64-A3C0-8EFCEF9D9D0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16370" y="3349466"/>
              <a:ext cx="337280" cy="337280"/>
            </a:xfrm>
            <a:custGeom>
              <a:avLst/>
              <a:gdLst>
                <a:gd name="connsiteX0" fmla="*/ 333470 w 337280"/>
                <a:gd name="connsiteY0" fmla="*/ 0 h 337280"/>
                <a:gd name="connsiteX1" fmla="*/ 337280 w 337280"/>
                <a:gd name="connsiteY1" fmla="*/ 13430 h 337280"/>
                <a:gd name="connsiteX2" fmla="*/ 13430 w 337280"/>
                <a:gd name="connsiteY2" fmla="*/ 337280 h 337280"/>
                <a:gd name="connsiteX3" fmla="*/ 0 w 337280"/>
                <a:gd name="connsiteY3" fmla="*/ 333470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7280" h="337280">
                  <a:moveTo>
                    <a:pt x="333470" y="0"/>
                  </a:moveTo>
                  <a:cubicBezTo>
                    <a:pt x="334899" y="4382"/>
                    <a:pt x="336137" y="8858"/>
                    <a:pt x="337280" y="13430"/>
                  </a:cubicBezTo>
                  <a:lnTo>
                    <a:pt x="13430" y="337280"/>
                  </a:lnTo>
                  <a:cubicBezTo>
                    <a:pt x="8858" y="336137"/>
                    <a:pt x="4382" y="334899"/>
                    <a:pt x="0" y="33347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4ABC753B-C028-4FCD-9D53-2BDBB264465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67329" y="3400425"/>
              <a:ext cx="294227" cy="294132"/>
            </a:xfrm>
            <a:custGeom>
              <a:avLst/>
              <a:gdLst>
                <a:gd name="connsiteX0" fmla="*/ 292989 w 294227"/>
                <a:gd name="connsiteY0" fmla="*/ 0 h 294132"/>
                <a:gd name="connsiteX1" fmla="*/ 294227 w 294227"/>
                <a:gd name="connsiteY1" fmla="*/ 15907 h 294132"/>
                <a:gd name="connsiteX2" fmla="*/ 15907 w 294227"/>
                <a:gd name="connsiteY2" fmla="*/ 294132 h 294132"/>
                <a:gd name="connsiteX3" fmla="*/ 0 w 294227"/>
                <a:gd name="connsiteY3" fmla="*/ 292894 h 2941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4227" h="294132">
                  <a:moveTo>
                    <a:pt x="292989" y="0"/>
                  </a:moveTo>
                  <a:cubicBezTo>
                    <a:pt x="293561" y="5334"/>
                    <a:pt x="293942" y="10668"/>
                    <a:pt x="294227" y="15907"/>
                  </a:cubicBezTo>
                  <a:lnTo>
                    <a:pt x="15907" y="294132"/>
                  </a:lnTo>
                  <a:cubicBezTo>
                    <a:pt x="10668" y="294132"/>
                    <a:pt x="5334" y="293465"/>
                    <a:pt x="0" y="29289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DA8F316F-3B46-4F37-AB8C-E69368303B1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29337" y="3462337"/>
              <a:ext cx="230314" cy="230314"/>
            </a:xfrm>
            <a:custGeom>
              <a:avLst/>
              <a:gdLst>
                <a:gd name="connsiteX0" fmla="*/ 230315 w 230314"/>
                <a:gd name="connsiteY0" fmla="*/ 0 h 230314"/>
                <a:gd name="connsiteX1" fmla="*/ 226886 w 230314"/>
                <a:gd name="connsiteY1" fmla="*/ 20574 h 230314"/>
                <a:gd name="connsiteX2" fmla="*/ 20669 w 230314"/>
                <a:gd name="connsiteY2" fmla="*/ 226790 h 230314"/>
                <a:gd name="connsiteX3" fmla="*/ 0 w 230314"/>
                <a:gd name="connsiteY3" fmla="*/ 230315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0314" h="230314">
                  <a:moveTo>
                    <a:pt x="230315" y="0"/>
                  </a:moveTo>
                  <a:cubicBezTo>
                    <a:pt x="229457" y="6953"/>
                    <a:pt x="228314" y="13716"/>
                    <a:pt x="226886" y="20574"/>
                  </a:cubicBezTo>
                  <a:lnTo>
                    <a:pt x="20669" y="226790"/>
                  </a:lnTo>
                  <a:cubicBezTo>
                    <a:pt x="13811" y="228314"/>
                    <a:pt x="6953" y="229457"/>
                    <a:pt x="0" y="23031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2636F8A8-BD35-4E0B-901B-1589A0534D3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18682" y="3551682"/>
              <a:ext cx="112871" cy="112871"/>
            </a:xfrm>
            <a:custGeom>
              <a:avLst/>
              <a:gdLst>
                <a:gd name="connsiteX0" fmla="*/ 112871 w 112871"/>
                <a:gd name="connsiteY0" fmla="*/ 0 h 112871"/>
                <a:gd name="connsiteX1" fmla="*/ 0 w 112871"/>
                <a:gd name="connsiteY1" fmla="*/ 112871 h 112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2871" h="112871">
                  <a:moveTo>
                    <a:pt x="112871" y="0"/>
                  </a:moveTo>
                  <a:cubicBezTo>
                    <a:pt x="87618" y="48239"/>
                    <a:pt x="48239" y="87618"/>
                    <a:pt x="0" y="11287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AC1151EC-DD8B-4E58-831E-B6687E6069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56783" y="1747592"/>
            <a:ext cx="5217173" cy="4351338"/>
          </a:xfrm>
        </p:spPr>
        <p:txBody>
          <a:bodyPr>
            <a:normAutofit/>
          </a:bodyPr>
          <a:lstStyle/>
          <a:p>
            <a:r>
              <a:rPr lang="ko-KR" altLang="en-US" dirty="0" err="1"/>
              <a:t>원점수</a:t>
            </a:r>
            <a:r>
              <a:rPr lang="en-US" altLang="ko-KR" dirty="0"/>
              <a:t>, </a:t>
            </a:r>
            <a:r>
              <a:rPr lang="ko-KR" altLang="en-US" dirty="0"/>
              <a:t>과목평균</a:t>
            </a:r>
            <a:r>
              <a:rPr lang="en-US" altLang="ko-KR" dirty="0"/>
              <a:t>, </a:t>
            </a:r>
            <a:r>
              <a:rPr lang="ko-KR" altLang="en-US" dirty="0"/>
              <a:t>표준편차</a:t>
            </a:r>
            <a:r>
              <a:rPr lang="en-US" altLang="ko-KR" dirty="0"/>
              <a:t>, </a:t>
            </a:r>
            <a:r>
              <a:rPr lang="ko-KR" altLang="en-US" dirty="0"/>
              <a:t>학생 수를 통해서 구할 수 있음</a:t>
            </a:r>
            <a:endParaRPr lang="en-US" altLang="ko-KR" dirty="0"/>
          </a:p>
          <a:p>
            <a:r>
              <a:rPr lang="ko-KR" altLang="en-US" dirty="0"/>
              <a:t>완전히 정확한 값은 구하기 힘드나</a:t>
            </a:r>
            <a:r>
              <a:rPr lang="en-US" altLang="ko-KR" dirty="0"/>
              <a:t>, </a:t>
            </a:r>
            <a:r>
              <a:rPr lang="ko-KR" altLang="en-US" dirty="0"/>
              <a:t>비슷한 값을 </a:t>
            </a:r>
            <a:r>
              <a:rPr lang="ko-KR" altLang="en-US" dirty="0" err="1"/>
              <a:t>도출해냄</a:t>
            </a:r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A5570A0-9C9A-4A9E-8F98-58724FB33E00}"/>
              </a:ext>
            </a:extLst>
          </p:cNvPr>
          <p:cNvSpPr txBox="1"/>
          <p:nvPr/>
        </p:nvSpPr>
        <p:spPr>
          <a:xfrm>
            <a:off x="2833180" y="4480529"/>
            <a:ext cx="246949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/>
              <a:t>출처</a:t>
            </a:r>
            <a:r>
              <a:rPr lang="en-US" altLang="ko-KR" sz="1400" dirty="0"/>
              <a:t>: https://blog.iqtest.kr/</a:t>
            </a:r>
            <a:endParaRPr lang="ko-KR" altLang="en-US" sz="1400" dirty="0"/>
          </a:p>
        </p:txBody>
      </p:sp>
    </p:spTree>
    <p:extLst>
      <p:ext uri="{BB962C8B-B14F-4D97-AF65-F5344CB8AC3E}">
        <p14:creationId xmlns:p14="http://schemas.microsoft.com/office/powerpoint/2010/main" val="3410111634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fallOver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96994DB-C852-4899-B296-43B7976486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3. </a:t>
            </a:r>
            <a:r>
              <a:rPr lang="ko-KR" altLang="en-US" dirty="0"/>
              <a:t>등수 추정 프로그램의 원리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D32FD87-D2D2-49E4-80A8-B1026E3616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정규분포를 이용한다</a:t>
            </a:r>
            <a:r>
              <a:rPr lang="en-US" altLang="ko-KR" dirty="0"/>
              <a:t>.</a:t>
            </a:r>
          </a:p>
          <a:p>
            <a:endParaRPr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973BF2BB-C68D-4CD4-AE66-F892FCB195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8325" y="2445602"/>
            <a:ext cx="4587193" cy="1119634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96ACA328-C010-4C12-AED6-3CEB6D4A5369}"/>
              </a:ext>
            </a:extLst>
          </p:cNvPr>
          <p:cNvSpPr txBox="1"/>
          <p:nvPr/>
        </p:nvSpPr>
        <p:spPr>
          <a:xfrm>
            <a:off x="5833533" y="2235646"/>
            <a:ext cx="3437467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dirty="0"/>
              <a:t>σ: </a:t>
            </a:r>
            <a:r>
              <a:rPr lang="ko-KR" altLang="en-US" sz="3200" dirty="0"/>
              <a:t>표준편차</a:t>
            </a:r>
            <a:endParaRPr lang="en-US" altLang="ko-KR" sz="3200" dirty="0"/>
          </a:p>
          <a:p>
            <a:r>
              <a:rPr lang="en-US" altLang="ko-KR" sz="3200" dirty="0"/>
              <a:t>μ: </a:t>
            </a:r>
            <a:r>
              <a:rPr lang="ko-KR" altLang="en-US" sz="3200" dirty="0"/>
              <a:t>평균</a:t>
            </a:r>
          </a:p>
        </p:txBody>
      </p:sp>
    </p:spTree>
    <p:extLst>
      <p:ext uri="{BB962C8B-B14F-4D97-AF65-F5344CB8AC3E}">
        <p14:creationId xmlns:p14="http://schemas.microsoft.com/office/powerpoint/2010/main" val="405350954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:circle/>
      </p:transition>
    </mc:Choice>
    <mc:Fallback>
      <p:transition spd="slow">
        <p:circl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975CFDF-285F-4250-A97A-26638120CC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표준정규분포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A6BCD02-5D1E-40EF-AE2F-0A54774D23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ko-KR" altLang="en-US" dirty="0"/>
              <a:t>정규분포를 따르는 확률변수 </a:t>
            </a:r>
            <a:r>
              <a:rPr lang="en-US" altLang="ko-KR" dirty="0"/>
              <a:t>X</a:t>
            </a:r>
            <a:r>
              <a:rPr lang="ko-KR" altLang="en-US" dirty="0"/>
              <a:t>는 연속확률변수의 한 종류이므로 정규분포곡선과 </a:t>
            </a:r>
            <a:r>
              <a:rPr lang="en-US" altLang="ko-KR" dirty="0"/>
              <a:t>x</a:t>
            </a:r>
            <a:r>
              <a:rPr lang="ko-KR" altLang="en-US" dirty="0"/>
              <a:t>축 사이의 넓이를 이용해서 확률을 구하게 되는데</a:t>
            </a:r>
            <a:r>
              <a:rPr lang="en-US" altLang="ko-KR" dirty="0"/>
              <a:t>, </a:t>
            </a:r>
            <a:r>
              <a:rPr lang="ko-KR" altLang="en-US" dirty="0"/>
              <a:t>앞 페이지의 수식과 같이 정규분포의 확률함수는 매우 복잡한 형태를 가지고 있다</a:t>
            </a:r>
            <a:r>
              <a:rPr lang="en-US" altLang="ko-KR" dirty="0"/>
              <a:t>. </a:t>
            </a:r>
            <a:r>
              <a:rPr lang="ko-KR" altLang="en-US" dirty="0"/>
              <a:t>이를 편하게 계산하기 위해서 </a:t>
            </a:r>
            <a:r>
              <a:rPr lang="en-US" altLang="ko-KR" dirty="0"/>
              <a:t>“</a:t>
            </a:r>
            <a:r>
              <a:rPr lang="ko-KR" altLang="en-US" dirty="0"/>
              <a:t>표준정규분포표</a:t>
            </a:r>
            <a:r>
              <a:rPr lang="en-US" altLang="ko-KR" dirty="0"/>
              <a:t>＂</a:t>
            </a:r>
            <a:r>
              <a:rPr lang="ko-KR" altLang="en-US" dirty="0"/>
              <a:t>를 사용하는데</a:t>
            </a:r>
            <a:r>
              <a:rPr lang="en-US" altLang="ko-KR" dirty="0"/>
              <a:t>, </a:t>
            </a:r>
            <a:r>
              <a:rPr lang="ko-KR" altLang="en-US" dirty="0"/>
              <a:t>이를 통하여 정규분포를 표준정규분포로 변형해서 확률을 쉽게 구할 수 있다</a:t>
            </a:r>
            <a:r>
              <a:rPr lang="en-US" altLang="ko-KR" dirty="0"/>
              <a:t>.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672383904"/>
      </p:ext>
    </p:extLst>
  </p:cSld>
  <p:clrMapOvr>
    <a:masterClrMapping/>
  </p:clrMapOvr>
  <p:transition spd="slow">
    <p:randomBar dir="vert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53CAF93-11EC-4D42-839A-794A3FF6D2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예시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E7BADAC-601E-4E81-9089-56353C15B5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782733" cy="2483908"/>
          </a:xfrm>
        </p:spPr>
        <p:txBody>
          <a:bodyPr/>
          <a:lstStyle/>
          <a:p>
            <a:r>
              <a:rPr lang="ko-KR" altLang="en-US" dirty="0"/>
              <a:t>지난 </a:t>
            </a:r>
            <a:r>
              <a:rPr lang="en-US" altLang="ko-KR" dirty="0"/>
              <a:t>2021</a:t>
            </a:r>
            <a:r>
              <a:rPr lang="ko-KR" altLang="en-US" dirty="0"/>
              <a:t>년 </a:t>
            </a:r>
            <a:r>
              <a:rPr lang="en-US" altLang="ko-KR" dirty="0"/>
              <a:t>6</a:t>
            </a:r>
            <a:r>
              <a:rPr lang="ko-KR" altLang="en-US" dirty="0"/>
              <a:t>월 고</a:t>
            </a:r>
            <a:r>
              <a:rPr lang="en-US" altLang="ko-KR" dirty="0"/>
              <a:t>2 </a:t>
            </a:r>
            <a:r>
              <a:rPr lang="ko-KR" altLang="en-US" dirty="0"/>
              <a:t>국어 학력평가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평균 </a:t>
            </a:r>
            <a:r>
              <a:rPr lang="ko-KR" altLang="en-US" dirty="0" err="1"/>
              <a:t>원점수</a:t>
            </a:r>
            <a:r>
              <a:rPr lang="ko-KR" altLang="en-US" dirty="0"/>
              <a:t> </a:t>
            </a:r>
            <a:r>
              <a:rPr lang="en-US" altLang="ko-KR" dirty="0"/>
              <a:t>52.64</a:t>
            </a:r>
          </a:p>
          <a:p>
            <a:r>
              <a:rPr lang="ko-KR" altLang="en-US" dirty="0"/>
              <a:t>표준편차 </a:t>
            </a:r>
            <a:r>
              <a:rPr lang="en-US" altLang="ko-KR" dirty="0"/>
              <a:t>22.73</a:t>
            </a:r>
          </a:p>
          <a:p>
            <a:endParaRPr lang="en-US" altLang="ko-KR" dirty="0"/>
          </a:p>
          <a:p>
            <a:endParaRPr lang="ko-KR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9E30847-A9F2-4407-BF16-9D09AFD11E1F}"/>
              </a:ext>
            </a:extLst>
          </p:cNvPr>
          <p:cNvSpPr txBox="1"/>
          <p:nvPr/>
        </p:nvSpPr>
        <p:spPr>
          <a:xfrm>
            <a:off x="7603067" y="1303867"/>
            <a:ext cx="308186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N(52.64, 22.73)</a:t>
            </a:r>
            <a:r>
              <a:rPr lang="ko-KR" altLang="en-US" dirty="0"/>
              <a:t>을 따른다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endParaRPr lang="ko-KR" altLang="en-US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29CA6587-C46B-4220-9D84-49856B8C4B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03066" y="1690688"/>
            <a:ext cx="1692771" cy="92333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FD74EDC-EBD5-4B12-AF7D-CEE26A3D0F0D}"/>
              </a:ext>
            </a:extLst>
          </p:cNvPr>
          <p:cNvSpPr txBox="1"/>
          <p:nvPr/>
        </p:nvSpPr>
        <p:spPr>
          <a:xfrm>
            <a:off x="7713134" y="2605914"/>
            <a:ext cx="364066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에서</a:t>
            </a:r>
            <a:r>
              <a:rPr lang="en-US" altLang="ko-KR" dirty="0"/>
              <a:t>,</a:t>
            </a:r>
          </a:p>
          <a:p>
            <a:r>
              <a:rPr lang="en-US" altLang="ko-KR" dirty="0"/>
              <a:t>Z=(98-52.64)/22.73</a:t>
            </a:r>
          </a:p>
          <a:p>
            <a:r>
              <a:rPr lang="en-US" altLang="ko-KR" dirty="0"/>
              <a:t>=1.995600……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703737124"/>
      </p:ext>
    </p:extLst>
  </p:cSld>
  <p:clrMapOvr>
    <a:masterClrMapping/>
  </p:clrMapOvr>
  <p:transition spd="slow">
    <p:push dir="u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7FC0F09-9933-45E4-8602-6CDA7497EC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정규분포표</a:t>
            </a:r>
          </a:p>
        </p:txBody>
      </p:sp>
      <p:graphicFrame>
        <p:nvGraphicFramePr>
          <p:cNvPr id="4" name="내용 개체 틀 3">
            <a:extLst>
              <a:ext uri="{FF2B5EF4-FFF2-40B4-BE49-F238E27FC236}">
                <a16:creationId xmlns:a16="http://schemas.microsoft.com/office/drawing/2014/main" id="{AF05CF47-3429-4235-91DD-4AB243DC0B6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47307697"/>
              </p:ext>
            </p:extLst>
          </p:nvPr>
        </p:nvGraphicFramePr>
        <p:xfrm>
          <a:off x="1199122" y="1817951"/>
          <a:ext cx="9849873" cy="4363770"/>
        </p:xfrm>
        <a:graphic>
          <a:graphicData uri="http://schemas.openxmlformats.org/drawingml/2006/table">
            <a:tbl>
              <a:tblPr/>
              <a:tblGrid>
                <a:gridCol w="895443">
                  <a:extLst>
                    <a:ext uri="{9D8B030D-6E8A-4147-A177-3AD203B41FA5}">
                      <a16:colId xmlns:a16="http://schemas.microsoft.com/office/drawing/2014/main" val="3669103318"/>
                    </a:ext>
                  </a:extLst>
                </a:gridCol>
                <a:gridCol w="895443">
                  <a:extLst>
                    <a:ext uri="{9D8B030D-6E8A-4147-A177-3AD203B41FA5}">
                      <a16:colId xmlns:a16="http://schemas.microsoft.com/office/drawing/2014/main" val="3096394496"/>
                    </a:ext>
                  </a:extLst>
                </a:gridCol>
                <a:gridCol w="895443">
                  <a:extLst>
                    <a:ext uri="{9D8B030D-6E8A-4147-A177-3AD203B41FA5}">
                      <a16:colId xmlns:a16="http://schemas.microsoft.com/office/drawing/2014/main" val="871679277"/>
                    </a:ext>
                  </a:extLst>
                </a:gridCol>
                <a:gridCol w="895443">
                  <a:extLst>
                    <a:ext uri="{9D8B030D-6E8A-4147-A177-3AD203B41FA5}">
                      <a16:colId xmlns:a16="http://schemas.microsoft.com/office/drawing/2014/main" val="461981266"/>
                    </a:ext>
                  </a:extLst>
                </a:gridCol>
                <a:gridCol w="895443">
                  <a:extLst>
                    <a:ext uri="{9D8B030D-6E8A-4147-A177-3AD203B41FA5}">
                      <a16:colId xmlns:a16="http://schemas.microsoft.com/office/drawing/2014/main" val="2593674962"/>
                    </a:ext>
                  </a:extLst>
                </a:gridCol>
                <a:gridCol w="895443">
                  <a:extLst>
                    <a:ext uri="{9D8B030D-6E8A-4147-A177-3AD203B41FA5}">
                      <a16:colId xmlns:a16="http://schemas.microsoft.com/office/drawing/2014/main" val="1943305078"/>
                    </a:ext>
                  </a:extLst>
                </a:gridCol>
                <a:gridCol w="895443">
                  <a:extLst>
                    <a:ext uri="{9D8B030D-6E8A-4147-A177-3AD203B41FA5}">
                      <a16:colId xmlns:a16="http://schemas.microsoft.com/office/drawing/2014/main" val="1131619489"/>
                    </a:ext>
                  </a:extLst>
                </a:gridCol>
                <a:gridCol w="895443">
                  <a:extLst>
                    <a:ext uri="{9D8B030D-6E8A-4147-A177-3AD203B41FA5}">
                      <a16:colId xmlns:a16="http://schemas.microsoft.com/office/drawing/2014/main" val="4236073228"/>
                    </a:ext>
                  </a:extLst>
                </a:gridCol>
                <a:gridCol w="895443">
                  <a:extLst>
                    <a:ext uri="{9D8B030D-6E8A-4147-A177-3AD203B41FA5}">
                      <a16:colId xmlns:a16="http://schemas.microsoft.com/office/drawing/2014/main" val="3830993148"/>
                    </a:ext>
                  </a:extLst>
                </a:gridCol>
                <a:gridCol w="895443">
                  <a:extLst>
                    <a:ext uri="{9D8B030D-6E8A-4147-A177-3AD203B41FA5}">
                      <a16:colId xmlns:a16="http://schemas.microsoft.com/office/drawing/2014/main" val="3492213977"/>
                    </a:ext>
                  </a:extLst>
                </a:gridCol>
                <a:gridCol w="895443">
                  <a:extLst>
                    <a:ext uri="{9D8B030D-6E8A-4147-A177-3AD203B41FA5}">
                      <a16:colId xmlns:a16="http://schemas.microsoft.com/office/drawing/2014/main" val="1196551515"/>
                    </a:ext>
                  </a:extLst>
                </a:gridCol>
              </a:tblGrid>
              <a:tr h="320430">
                <a:tc>
                  <a:txBody>
                    <a:bodyPr/>
                    <a:lstStyle/>
                    <a:p>
                      <a:pPr algn="ctr"/>
                      <a:r>
                        <a:rPr lang="en-US" sz="1500" i="1">
                          <a:effectLst/>
                        </a:rPr>
                        <a:t>z</a:t>
                      </a:r>
                      <a:endParaRPr lang="en-US" sz="1500">
                        <a:effectLst/>
                      </a:endParaRPr>
                    </a:p>
                  </a:txBody>
                  <a:tcPr marL="13307" marR="13307" marT="6653" marB="6653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500">
                          <a:effectLst/>
                        </a:rPr>
                        <a:t>+ 0.00</a:t>
                      </a:r>
                    </a:p>
                  </a:txBody>
                  <a:tcPr marL="13307" marR="13307" marT="6653" marB="6653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500">
                          <a:effectLst/>
                        </a:rPr>
                        <a:t>+ 0.01</a:t>
                      </a:r>
                    </a:p>
                  </a:txBody>
                  <a:tcPr marL="13307" marR="13307" marT="6653" marB="6653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500">
                          <a:effectLst/>
                        </a:rPr>
                        <a:t>+ 0.02</a:t>
                      </a:r>
                    </a:p>
                  </a:txBody>
                  <a:tcPr marL="13307" marR="13307" marT="6653" marB="6653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500">
                          <a:effectLst/>
                        </a:rPr>
                        <a:t>+ 0.03</a:t>
                      </a:r>
                    </a:p>
                  </a:txBody>
                  <a:tcPr marL="13307" marR="13307" marT="6653" marB="6653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500">
                          <a:effectLst/>
                        </a:rPr>
                        <a:t>+ 0.04</a:t>
                      </a:r>
                    </a:p>
                  </a:txBody>
                  <a:tcPr marL="13307" marR="13307" marT="6653" marB="6653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500">
                          <a:effectLst/>
                        </a:rPr>
                        <a:t>+ 0.05</a:t>
                      </a:r>
                    </a:p>
                  </a:txBody>
                  <a:tcPr marL="13307" marR="13307" marT="6653" marB="6653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500">
                          <a:effectLst/>
                        </a:rPr>
                        <a:t>+ 0.06</a:t>
                      </a:r>
                    </a:p>
                  </a:txBody>
                  <a:tcPr marL="13307" marR="13307" marT="6653" marB="6653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500">
                          <a:effectLst/>
                        </a:rPr>
                        <a:t>+ 0.07</a:t>
                      </a:r>
                    </a:p>
                  </a:txBody>
                  <a:tcPr marL="13307" marR="13307" marT="6653" marB="6653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500">
                          <a:effectLst/>
                        </a:rPr>
                        <a:t>+ 0.08</a:t>
                      </a:r>
                    </a:p>
                  </a:txBody>
                  <a:tcPr marL="13307" marR="13307" marT="6653" marB="6653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500">
                          <a:effectLst/>
                        </a:rPr>
                        <a:t>+ 0.09</a:t>
                      </a:r>
                    </a:p>
                  </a:txBody>
                  <a:tcPr marL="13307" marR="13307" marT="6653" marB="6653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C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84714301"/>
                  </a:ext>
                </a:extLst>
              </a:tr>
              <a:tr h="320430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500">
                          <a:effectLst/>
                        </a:rPr>
                        <a:t>1.5</a:t>
                      </a:r>
                    </a:p>
                  </a:txBody>
                  <a:tcPr marL="13307" marR="13307" marT="6653" marB="6653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C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500">
                          <a:effectLst/>
                        </a:rPr>
                        <a:t>0.93319</a:t>
                      </a:r>
                    </a:p>
                  </a:txBody>
                  <a:tcPr marL="13307" marR="13307" marT="6653" marB="6653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500" dirty="0">
                          <a:effectLst/>
                        </a:rPr>
                        <a:t>0.93448</a:t>
                      </a:r>
                    </a:p>
                  </a:txBody>
                  <a:tcPr marL="13307" marR="13307" marT="6653" marB="6653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500">
                          <a:effectLst/>
                        </a:rPr>
                        <a:t>0.93574</a:t>
                      </a:r>
                    </a:p>
                  </a:txBody>
                  <a:tcPr marL="13307" marR="13307" marT="6653" marB="6653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500">
                          <a:effectLst/>
                        </a:rPr>
                        <a:t>0.93699</a:t>
                      </a:r>
                    </a:p>
                  </a:txBody>
                  <a:tcPr marL="13307" marR="13307" marT="6653" marB="6653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500">
                          <a:effectLst/>
                        </a:rPr>
                        <a:t>0.93822</a:t>
                      </a:r>
                    </a:p>
                  </a:txBody>
                  <a:tcPr marL="13307" marR="13307" marT="6653" marB="6653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500">
                          <a:effectLst/>
                        </a:rPr>
                        <a:t>0.93943</a:t>
                      </a:r>
                    </a:p>
                  </a:txBody>
                  <a:tcPr marL="13307" marR="13307" marT="6653" marB="6653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500">
                          <a:effectLst/>
                        </a:rPr>
                        <a:t>0.94062</a:t>
                      </a:r>
                    </a:p>
                  </a:txBody>
                  <a:tcPr marL="13307" marR="13307" marT="6653" marB="6653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500">
                          <a:effectLst/>
                        </a:rPr>
                        <a:t>0.94179</a:t>
                      </a:r>
                    </a:p>
                  </a:txBody>
                  <a:tcPr marL="13307" marR="13307" marT="6653" marB="6653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500">
                          <a:effectLst/>
                        </a:rPr>
                        <a:t>0.94295</a:t>
                      </a:r>
                    </a:p>
                  </a:txBody>
                  <a:tcPr marL="13307" marR="13307" marT="6653" marB="6653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500" dirty="0">
                          <a:effectLst/>
                        </a:rPr>
                        <a:t>0.94408</a:t>
                      </a:r>
                    </a:p>
                  </a:txBody>
                  <a:tcPr marL="13307" marR="13307" marT="6653" marB="6653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56953067"/>
                  </a:ext>
                </a:extLst>
              </a:tr>
              <a:tr h="320430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500">
                          <a:effectLst/>
                        </a:rPr>
                        <a:t>1.6</a:t>
                      </a:r>
                    </a:p>
                  </a:txBody>
                  <a:tcPr marL="13307" marR="13307" marT="6653" marB="6653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C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500">
                          <a:effectLst/>
                        </a:rPr>
                        <a:t>0.94520</a:t>
                      </a:r>
                    </a:p>
                  </a:txBody>
                  <a:tcPr marL="13307" marR="13307" marT="6653" marB="6653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500">
                          <a:effectLst/>
                        </a:rPr>
                        <a:t>0.94630</a:t>
                      </a:r>
                    </a:p>
                  </a:txBody>
                  <a:tcPr marL="13307" marR="13307" marT="6653" marB="6653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500">
                          <a:effectLst/>
                        </a:rPr>
                        <a:t>0.94738</a:t>
                      </a:r>
                    </a:p>
                  </a:txBody>
                  <a:tcPr marL="13307" marR="13307" marT="6653" marB="6653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500">
                          <a:effectLst/>
                        </a:rPr>
                        <a:t>0.94845</a:t>
                      </a:r>
                    </a:p>
                  </a:txBody>
                  <a:tcPr marL="13307" marR="13307" marT="6653" marB="6653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500">
                          <a:effectLst/>
                        </a:rPr>
                        <a:t>0.94950</a:t>
                      </a:r>
                    </a:p>
                  </a:txBody>
                  <a:tcPr marL="13307" marR="13307" marT="6653" marB="6653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500">
                          <a:effectLst/>
                        </a:rPr>
                        <a:t>0.95053</a:t>
                      </a:r>
                    </a:p>
                  </a:txBody>
                  <a:tcPr marL="13307" marR="13307" marT="6653" marB="6653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500">
                          <a:effectLst/>
                        </a:rPr>
                        <a:t>0.95154</a:t>
                      </a:r>
                    </a:p>
                  </a:txBody>
                  <a:tcPr marL="13307" marR="13307" marT="6653" marB="6653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500">
                          <a:effectLst/>
                        </a:rPr>
                        <a:t>0.95254</a:t>
                      </a:r>
                    </a:p>
                  </a:txBody>
                  <a:tcPr marL="13307" marR="13307" marT="6653" marB="6653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500">
                          <a:effectLst/>
                        </a:rPr>
                        <a:t>0.95352</a:t>
                      </a:r>
                    </a:p>
                  </a:txBody>
                  <a:tcPr marL="13307" marR="13307" marT="6653" marB="6653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500">
                          <a:effectLst/>
                        </a:rPr>
                        <a:t>0.95449</a:t>
                      </a:r>
                    </a:p>
                  </a:txBody>
                  <a:tcPr marL="13307" marR="13307" marT="6653" marB="6653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42889834"/>
                  </a:ext>
                </a:extLst>
              </a:tr>
              <a:tr h="320430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500">
                          <a:effectLst/>
                        </a:rPr>
                        <a:t>1.7</a:t>
                      </a:r>
                    </a:p>
                  </a:txBody>
                  <a:tcPr marL="13307" marR="13307" marT="6653" marB="6653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C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500">
                          <a:effectLst/>
                        </a:rPr>
                        <a:t>0.95543</a:t>
                      </a:r>
                    </a:p>
                  </a:txBody>
                  <a:tcPr marL="13307" marR="13307" marT="6653" marB="6653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500">
                          <a:effectLst/>
                        </a:rPr>
                        <a:t>0.95637</a:t>
                      </a:r>
                    </a:p>
                  </a:txBody>
                  <a:tcPr marL="13307" marR="13307" marT="6653" marB="6653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500">
                          <a:effectLst/>
                        </a:rPr>
                        <a:t>0.95728</a:t>
                      </a:r>
                    </a:p>
                  </a:txBody>
                  <a:tcPr marL="13307" marR="13307" marT="6653" marB="6653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500">
                          <a:effectLst/>
                        </a:rPr>
                        <a:t>0.95818</a:t>
                      </a:r>
                    </a:p>
                  </a:txBody>
                  <a:tcPr marL="13307" marR="13307" marT="6653" marB="6653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500">
                          <a:effectLst/>
                        </a:rPr>
                        <a:t>0.95907</a:t>
                      </a:r>
                    </a:p>
                  </a:txBody>
                  <a:tcPr marL="13307" marR="13307" marT="6653" marB="6653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500">
                          <a:effectLst/>
                        </a:rPr>
                        <a:t>0.95994</a:t>
                      </a:r>
                    </a:p>
                  </a:txBody>
                  <a:tcPr marL="13307" marR="13307" marT="6653" marB="6653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500">
                          <a:effectLst/>
                        </a:rPr>
                        <a:t>0.96080</a:t>
                      </a:r>
                    </a:p>
                  </a:txBody>
                  <a:tcPr marL="13307" marR="13307" marT="6653" marB="6653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500">
                          <a:effectLst/>
                        </a:rPr>
                        <a:t>0.96164</a:t>
                      </a:r>
                    </a:p>
                  </a:txBody>
                  <a:tcPr marL="13307" marR="13307" marT="6653" marB="6653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500">
                          <a:effectLst/>
                        </a:rPr>
                        <a:t>0.96246</a:t>
                      </a:r>
                    </a:p>
                  </a:txBody>
                  <a:tcPr marL="13307" marR="13307" marT="6653" marB="6653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500">
                          <a:effectLst/>
                        </a:rPr>
                        <a:t>0.96327</a:t>
                      </a:r>
                    </a:p>
                  </a:txBody>
                  <a:tcPr marL="13307" marR="13307" marT="6653" marB="6653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47917128"/>
                  </a:ext>
                </a:extLst>
              </a:tr>
              <a:tr h="320430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500">
                          <a:effectLst/>
                        </a:rPr>
                        <a:t>1.8</a:t>
                      </a:r>
                    </a:p>
                  </a:txBody>
                  <a:tcPr marL="13307" marR="13307" marT="6653" marB="6653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C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500">
                          <a:effectLst/>
                        </a:rPr>
                        <a:t>0.96407</a:t>
                      </a:r>
                    </a:p>
                  </a:txBody>
                  <a:tcPr marL="13307" marR="13307" marT="6653" marB="6653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500">
                          <a:effectLst/>
                        </a:rPr>
                        <a:t>0.96485</a:t>
                      </a:r>
                    </a:p>
                  </a:txBody>
                  <a:tcPr marL="13307" marR="13307" marT="6653" marB="6653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500">
                          <a:effectLst/>
                        </a:rPr>
                        <a:t>0.96562</a:t>
                      </a:r>
                    </a:p>
                  </a:txBody>
                  <a:tcPr marL="13307" marR="13307" marT="6653" marB="6653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500">
                          <a:effectLst/>
                        </a:rPr>
                        <a:t>0.96638</a:t>
                      </a:r>
                    </a:p>
                  </a:txBody>
                  <a:tcPr marL="13307" marR="13307" marT="6653" marB="6653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500">
                          <a:effectLst/>
                        </a:rPr>
                        <a:t>0.96712</a:t>
                      </a:r>
                    </a:p>
                  </a:txBody>
                  <a:tcPr marL="13307" marR="13307" marT="6653" marB="6653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500">
                          <a:effectLst/>
                        </a:rPr>
                        <a:t>0.96784</a:t>
                      </a:r>
                    </a:p>
                  </a:txBody>
                  <a:tcPr marL="13307" marR="13307" marT="6653" marB="6653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500">
                          <a:effectLst/>
                        </a:rPr>
                        <a:t>0.96856</a:t>
                      </a:r>
                    </a:p>
                  </a:txBody>
                  <a:tcPr marL="13307" marR="13307" marT="6653" marB="6653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500">
                          <a:effectLst/>
                        </a:rPr>
                        <a:t>0.96926</a:t>
                      </a:r>
                    </a:p>
                  </a:txBody>
                  <a:tcPr marL="13307" marR="13307" marT="6653" marB="6653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500">
                          <a:effectLst/>
                        </a:rPr>
                        <a:t>0.96995</a:t>
                      </a:r>
                    </a:p>
                  </a:txBody>
                  <a:tcPr marL="13307" marR="13307" marT="6653" marB="6653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500">
                          <a:effectLst/>
                        </a:rPr>
                        <a:t>0.97062</a:t>
                      </a:r>
                    </a:p>
                  </a:txBody>
                  <a:tcPr marL="13307" marR="13307" marT="6653" marB="6653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80123512"/>
                  </a:ext>
                </a:extLst>
              </a:tr>
              <a:tr h="320430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500">
                          <a:effectLst/>
                        </a:rPr>
                        <a:t>1.9</a:t>
                      </a:r>
                    </a:p>
                  </a:txBody>
                  <a:tcPr marL="13307" marR="13307" marT="6653" marB="6653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C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500">
                          <a:effectLst/>
                        </a:rPr>
                        <a:t>0.97128</a:t>
                      </a:r>
                    </a:p>
                  </a:txBody>
                  <a:tcPr marL="13307" marR="13307" marT="6653" marB="6653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500">
                          <a:effectLst/>
                        </a:rPr>
                        <a:t>0.97193</a:t>
                      </a:r>
                    </a:p>
                  </a:txBody>
                  <a:tcPr marL="13307" marR="13307" marT="6653" marB="6653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500">
                          <a:effectLst/>
                        </a:rPr>
                        <a:t>0.97257</a:t>
                      </a:r>
                    </a:p>
                  </a:txBody>
                  <a:tcPr marL="13307" marR="13307" marT="6653" marB="6653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500">
                          <a:effectLst/>
                        </a:rPr>
                        <a:t>0.97320</a:t>
                      </a:r>
                    </a:p>
                  </a:txBody>
                  <a:tcPr marL="13307" marR="13307" marT="6653" marB="6653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500">
                          <a:effectLst/>
                        </a:rPr>
                        <a:t>0.97381</a:t>
                      </a:r>
                    </a:p>
                  </a:txBody>
                  <a:tcPr marL="13307" marR="13307" marT="6653" marB="6653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500">
                          <a:effectLst/>
                        </a:rPr>
                        <a:t>0.97441</a:t>
                      </a:r>
                    </a:p>
                  </a:txBody>
                  <a:tcPr marL="13307" marR="13307" marT="6653" marB="6653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500">
                          <a:effectLst/>
                        </a:rPr>
                        <a:t>0.97500</a:t>
                      </a:r>
                    </a:p>
                  </a:txBody>
                  <a:tcPr marL="13307" marR="13307" marT="6653" marB="6653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500" dirty="0">
                          <a:effectLst/>
                        </a:rPr>
                        <a:t>0.97558</a:t>
                      </a:r>
                    </a:p>
                  </a:txBody>
                  <a:tcPr marL="13307" marR="13307" marT="6653" marB="6653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500">
                          <a:effectLst/>
                        </a:rPr>
                        <a:t>0.97615</a:t>
                      </a:r>
                    </a:p>
                  </a:txBody>
                  <a:tcPr marL="13307" marR="13307" marT="6653" marB="6653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500">
                          <a:effectLst/>
                        </a:rPr>
                        <a:t>0.97670</a:t>
                      </a:r>
                    </a:p>
                  </a:txBody>
                  <a:tcPr marL="13307" marR="13307" marT="6653" marB="6653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81341537"/>
                  </a:ext>
                </a:extLst>
              </a:tr>
              <a:tr h="259305">
                <a:tc>
                  <a:txBody>
                    <a:bodyPr/>
                    <a:lstStyle/>
                    <a:p>
                      <a:endParaRPr lang="ko-KR" altLang="en-US" sz="1500">
                        <a:effectLst/>
                      </a:endParaRPr>
                    </a:p>
                  </a:txBody>
                  <a:tcPr marL="13307" marR="13307" marT="6653" marB="6653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500"/>
                    </a:p>
                  </a:txBody>
                  <a:tcPr marL="13307" marR="13307" marT="6653" marB="6653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500"/>
                    </a:p>
                  </a:txBody>
                  <a:tcPr marL="13307" marR="13307" marT="6653" marB="6653"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500"/>
                    </a:p>
                  </a:txBody>
                  <a:tcPr marL="13307" marR="13307" marT="6653" marB="6653"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500"/>
                    </a:p>
                  </a:txBody>
                  <a:tcPr marL="13307" marR="13307" marT="6653" marB="6653"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500"/>
                    </a:p>
                  </a:txBody>
                  <a:tcPr marL="13307" marR="13307" marT="6653" marB="6653"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500"/>
                    </a:p>
                  </a:txBody>
                  <a:tcPr marL="13307" marR="13307" marT="6653" marB="6653"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500"/>
                    </a:p>
                  </a:txBody>
                  <a:tcPr marL="13307" marR="13307" marT="6653" marB="6653"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500"/>
                    </a:p>
                  </a:txBody>
                  <a:tcPr marL="13307" marR="13307" marT="6653" marB="6653"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500"/>
                    </a:p>
                  </a:txBody>
                  <a:tcPr marL="13307" marR="13307" marT="6653" marB="6653"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500"/>
                    </a:p>
                  </a:txBody>
                  <a:tcPr marL="13307" marR="13307" marT="6653" marB="6653"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36595917"/>
                  </a:ext>
                </a:extLst>
              </a:tr>
              <a:tr h="320430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500">
                          <a:effectLst/>
                        </a:rPr>
                        <a:t>2.0</a:t>
                      </a:r>
                    </a:p>
                  </a:txBody>
                  <a:tcPr marL="13307" marR="13307" marT="6653" marB="6653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C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500">
                          <a:effectLst/>
                        </a:rPr>
                        <a:t>0.97725</a:t>
                      </a:r>
                    </a:p>
                  </a:txBody>
                  <a:tcPr marL="13307" marR="13307" marT="6653" marB="6653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500">
                          <a:effectLst/>
                        </a:rPr>
                        <a:t>0.97778</a:t>
                      </a:r>
                    </a:p>
                  </a:txBody>
                  <a:tcPr marL="13307" marR="13307" marT="6653" marB="6653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500">
                          <a:effectLst/>
                        </a:rPr>
                        <a:t>0.97831</a:t>
                      </a:r>
                    </a:p>
                  </a:txBody>
                  <a:tcPr marL="13307" marR="13307" marT="6653" marB="6653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500">
                          <a:effectLst/>
                        </a:rPr>
                        <a:t>0.97882</a:t>
                      </a:r>
                    </a:p>
                  </a:txBody>
                  <a:tcPr marL="13307" marR="13307" marT="6653" marB="6653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500">
                          <a:effectLst/>
                        </a:rPr>
                        <a:t>0.97932</a:t>
                      </a:r>
                    </a:p>
                  </a:txBody>
                  <a:tcPr marL="13307" marR="13307" marT="6653" marB="6653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500">
                          <a:effectLst/>
                        </a:rPr>
                        <a:t>0.97982</a:t>
                      </a:r>
                    </a:p>
                  </a:txBody>
                  <a:tcPr marL="13307" marR="13307" marT="6653" marB="6653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500">
                          <a:effectLst/>
                        </a:rPr>
                        <a:t>0.98030</a:t>
                      </a:r>
                    </a:p>
                  </a:txBody>
                  <a:tcPr marL="13307" marR="13307" marT="6653" marB="6653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500">
                          <a:effectLst/>
                        </a:rPr>
                        <a:t>0.98077</a:t>
                      </a:r>
                    </a:p>
                  </a:txBody>
                  <a:tcPr marL="13307" marR="13307" marT="6653" marB="6653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500">
                          <a:effectLst/>
                        </a:rPr>
                        <a:t>0.98124</a:t>
                      </a:r>
                    </a:p>
                  </a:txBody>
                  <a:tcPr marL="13307" marR="13307" marT="6653" marB="6653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500">
                          <a:effectLst/>
                        </a:rPr>
                        <a:t>0.98169</a:t>
                      </a:r>
                    </a:p>
                  </a:txBody>
                  <a:tcPr marL="13307" marR="13307" marT="6653" marB="6653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34154140"/>
                  </a:ext>
                </a:extLst>
              </a:tr>
              <a:tr h="320430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500">
                          <a:effectLst/>
                        </a:rPr>
                        <a:t>2.1</a:t>
                      </a:r>
                    </a:p>
                  </a:txBody>
                  <a:tcPr marL="13307" marR="13307" marT="6653" marB="6653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C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500">
                          <a:effectLst/>
                        </a:rPr>
                        <a:t>0.98214</a:t>
                      </a:r>
                    </a:p>
                  </a:txBody>
                  <a:tcPr marL="13307" marR="13307" marT="6653" marB="6653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500">
                          <a:effectLst/>
                        </a:rPr>
                        <a:t>0.98257</a:t>
                      </a:r>
                    </a:p>
                  </a:txBody>
                  <a:tcPr marL="13307" marR="13307" marT="6653" marB="6653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500">
                          <a:effectLst/>
                        </a:rPr>
                        <a:t>0.98300</a:t>
                      </a:r>
                    </a:p>
                  </a:txBody>
                  <a:tcPr marL="13307" marR="13307" marT="6653" marB="6653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500">
                          <a:effectLst/>
                        </a:rPr>
                        <a:t>0.98341</a:t>
                      </a:r>
                    </a:p>
                  </a:txBody>
                  <a:tcPr marL="13307" marR="13307" marT="6653" marB="6653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500">
                          <a:effectLst/>
                        </a:rPr>
                        <a:t>0.98382</a:t>
                      </a:r>
                    </a:p>
                  </a:txBody>
                  <a:tcPr marL="13307" marR="13307" marT="6653" marB="6653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500">
                          <a:effectLst/>
                        </a:rPr>
                        <a:t>0.98422</a:t>
                      </a:r>
                    </a:p>
                  </a:txBody>
                  <a:tcPr marL="13307" marR="13307" marT="6653" marB="6653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500">
                          <a:effectLst/>
                        </a:rPr>
                        <a:t>0.98461</a:t>
                      </a:r>
                    </a:p>
                  </a:txBody>
                  <a:tcPr marL="13307" marR="13307" marT="6653" marB="6653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500">
                          <a:effectLst/>
                        </a:rPr>
                        <a:t>0.98500</a:t>
                      </a:r>
                    </a:p>
                  </a:txBody>
                  <a:tcPr marL="13307" marR="13307" marT="6653" marB="6653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500">
                          <a:effectLst/>
                        </a:rPr>
                        <a:t>0.98537</a:t>
                      </a:r>
                    </a:p>
                  </a:txBody>
                  <a:tcPr marL="13307" marR="13307" marT="6653" marB="6653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500">
                          <a:effectLst/>
                        </a:rPr>
                        <a:t>0.98574</a:t>
                      </a:r>
                    </a:p>
                  </a:txBody>
                  <a:tcPr marL="13307" marR="13307" marT="6653" marB="6653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36056513"/>
                  </a:ext>
                </a:extLst>
              </a:tr>
              <a:tr h="320430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500">
                          <a:effectLst/>
                        </a:rPr>
                        <a:t>2.2</a:t>
                      </a:r>
                    </a:p>
                  </a:txBody>
                  <a:tcPr marL="13307" marR="13307" marT="6653" marB="6653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C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500">
                          <a:effectLst/>
                        </a:rPr>
                        <a:t>0.98610</a:t>
                      </a:r>
                    </a:p>
                  </a:txBody>
                  <a:tcPr marL="13307" marR="13307" marT="6653" marB="6653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500">
                          <a:effectLst/>
                        </a:rPr>
                        <a:t>0.98645</a:t>
                      </a:r>
                    </a:p>
                  </a:txBody>
                  <a:tcPr marL="13307" marR="13307" marT="6653" marB="6653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500">
                          <a:effectLst/>
                        </a:rPr>
                        <a:t>0.98679</a:t>
                      </a:r>
                    </a:p>
                  </a:txBody>
                  <a:tcPr marL="13307" marR="13307" marT="6653" marB="6653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500">
                          <a:effectLst/>
                        </a:rPr>
                        <a:t>0.98713</a:t>
                      </a:r>
                    </a:p>
                  </a:txBody>
                  <a:tcPr marL="13307" marR="13307" marT="6653" marB="6653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500">
                          <a:effectLst/>
                        </a:rPr>
                        <a:t>0.98745</a:t>
                      </a:r>
                    </a:p>
                  </a:txBody>
                  <a:tcPr marL="13307" marR="13307" marT="6653" marB="6653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500">
                          <a:effectLst/>
                        </a:rPr>
                        <a:t>0.98778</a:t>
                      </a:r>
                    </a:p>
                  </a:txBody>
                  <a:tcPr marL="13307" marR="13307" marT="6653" marB="6653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500">
                          <a:effectLst/>
                        </a:rPr>
                        <a:t>0.98809</a:t>
                      </a:r>
                    </a:p>
                  </a:txBody>
                  <a:tcPr marL="13307" marR="13307" marT="6653" marB="6653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500">
                          <a:effectLst/>
                        </a:rPr>
                        <a:t>0.98840</a:t>
                      </a:r>
                    </a:p>
                  </a:txBody>
                  <a:tcPr marL="13307" marR="13307" marT="6653" marB="6653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500">
                          <a:effectLst/>
                        </a:rPr>
                        <a:t>0.98870</a:t>
                      </a:r>
                    </a:p>
                  </a:txBody>
                  <a:tcPr marL="13307" marR="13307" marT="6653" marB="6653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500">
                          <a:effectLst/>
                        </a:rPr>
                        <a:t>0.98899</a:t>
                      </a:r>
                    </a:p>
                  </a:txBody>
                  <a:tcPr marL="13307" marR="13307" marT="6653" marB="6653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08015657"/>
                  </a:ext>
                </a:extLst>
              </a:tr>
              <a:tr h="320430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500">
                          <a:effectLst/>
                        </a:rPr>
                        <a:t>2.3</a:t>
                      </a:r>
                    </a:p>
                  </a:txBody>
                  <a:tcPr marL="13307" marR="13307" marT="6653" marB="6653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C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500">
                          <a:effectLst/>
                        </a:rPr>
                        <a:t>0.98928</a:t>
                      </a:r>
                    </a:p>
                  </a:txBody>
                  <a:tcPr marL="13307" marR="13307" marT="6653" marB="6653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500">
                          <a:effectLst/>
                        </a:rPr>
                        <a:t>0.98956</a:t>
                      </a:r>
                    </a:p>
                  </a:txBody>
                  <a:tcPr marL="13307" marR="13307" marT="6653" marB="6653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500">
                          <a:effectLst/>
                        </a:rPr>
                        <a:t>0.98983</a:t>
                      </a:r>
                    </a:p>
                  </a:txBody>
                  <a:tcPr marL="13307" marR="13307" marT="6653" marB="6653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500">
                          <a:effectLst/>
                        </a:rPr>
                        <a:t>0.99010</a:t>
                      </a:r>
                    </a:p>
                  </a:txBody>
                  <a:tcPr marL="13307" marR="13307" marT="6653" marB="6653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500">
                          <a:effectLst/>
                        </a:rPr>
                        <a:t>0.99036</a:t>
                      </a:r>
                    </a:p>
                  </a:txBody>
                  <a:tcPr marL="13307" marR="13307" marT="6653" marB="6653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500">
                          <a:effectLst/>
                        </a:rPr>
                        <a:t>0.99061</a:t>
                      </a:r>
                    </a:p>
                  </a:txBody>
                  <a:tcPr marL="13307" marR="13307" marT="6653" marB="6653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500">
                          <a:effectLst/>
                        </a:rPr>
                        <a:t>0.99086</a:t>
                      </a:r>
                    </a:p>
                  </a:txBody>
                  <a:tcPr marL="13307" marR="13307" marT="6653" marB="6653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500">
                          <a:effectLst/>
                        </a:rPr>
                        <a:t>0.99111</a:t>
                      </a:r>
                    </a:p>
                  </a:txBody>
                  <a:tcPr marL="13307" marR="13307" marT="6653" marB="6653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500">
                          <a:effectLst/>
                        </a:rPr>
                        <a:t>0.99134</a:t>
                      </a:r>
                    </a:p>
                  </a:txBody>
                  <a:tcPr marL="13307" marR="13307" marT="6653" marB="6653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500">
                          <a:effectLst/>
                        </a:rPr>
                        <a:t>0.99158</a:t>
                      </a:r>
                    </a:p>
                  </a:txBody>
                  <a:tcPr marL="13307" marR="13307" marT="6653" marB="6653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2866273"/>
                  </a:ext>
                </a:extLst>
              </a:tr>
              <a:tr h="320430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500">
                          <a:effectLst/>
                        </a:rPr>
                        <a:t>2.4</a:t>
                      </a:r>
                    </a:p>
                  </a:txBody>
                  <a:tcPr marL="13307" marR="13307" marT="6653" marB="6653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C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500">
                          <a:effectLst/>
                        </a:rPr>
                        <a:t>0.99180</a:t>
                      </a:r>
                    </a:p>
                  </a:txBody>
                  <a:tcPr marL="13307" marR="13307" marT="6653" marB="6653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500">
                          <a:effectLst/>
                        </a:rPr>
                        <a:t>0.99202</a:t>
                      </a:r>
                    </a:p>
                  </a:txBody>
                  <a:tcPr marL="13307" marR="13307" marT="6653" marB="6653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500">
                          <a:effectLst/>
                        </a:rPr>
                        <a:t>0.99224</a:t>
                      </a:r>
                    </a:p>
                  </a:txBody>
                  <a:tcPr marL="13307" marR="13307" marT="6653" marB="6653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500">
                          <a:effectLst/>
                        </a:rPr>
                        <a:t>0.99245</a:t>
                      </a:r>
                    </a:p>
                  </a:txBody>
                  <a:tcPr marL="13307" marR="13307" marT="6653" marB="6653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500">
                          <a:effectLst/>
                        </a:rPr>
                        <a:t>0.99266</a:t>
                      </a:r>
                    </a:p>
                  </a:txBody>
                  <a:tcPr marL="13307" marR="13307" marT="6653" marB="6653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500">
                          <a:effectLst/>
                        </a:rPr>
                        <a:t>0.99286</a:t>
                      </a:r>
                    </a:p>
                  </a:txBody>
                  <a:tcPr marL="13307" marR="13307" marT="6653" marB="6653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500">
                          <a:effectLst/>
                        </a:rPr>
                        <a:t>0.99305</a:t>
                      </a:r>
                    </a:p>
                  </a:txBody>
                  <a:tcPr marL="13307" marR="13307" marT="6653" marB="6653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500">
                          <a:effectLst/>
                        </a:rPr>
                        <a:t>0.99324</a:t>
                      </a:r>
                    </a:p>
                  </a:txBody>
                  <a:tcPr marL="13307" marR="13307" marT="6653" marB="6653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500">
                          <a:effectLst/>
                        </a:rPr>
                        <a:t>0.99343</a:t>
                      </a:r>
                    </a:p>
                  </a:txBody>
                  <a:tcPr marL="13307" marR="13307" marT="6653" marB="6653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500">
                          <a:effectLst/>
                        </a:rPr>
                        <a:t>0.99361</a:t>
                      </a:r>
                    </a:p>
                  </a:txBody>
                  <a:tcPr marL="13307" marR="13307" marT="6653" marB="6653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43103123"/>
                  </a:ext>
                </a:extLst>
              </a:tr>
              <a:tr h="259305">
                <a:tc>
                  <a:txBody>
                    <a:bodyPr/>
                    <a:lstStyle/>
                    <a:p>
                      <a:endParaRPr lang="ko-KR" altLang="en-US" sz="1500">
                        <a:effectLst/>
                      </a:endParaRPr>
                    </a:p>
                  </a:txBody>
                  <a:tcPr marL="13307" marR="13307" marT="6653" marB="6653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500"/>
                    </a:p>
                  </a:txBody>
                  <a:tcPr marL="13307" marR="13307" marT="6653" marB="6653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500"/>
                    </a:p>
                  </a:txBody>
                  <a:tcPr marL="13307" marR="13307" marT="6653" marB="6653"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500"/>
                    </a:p>
                  </a:txBody>
                  <a:tcPr marL="13307" marR="13307" marT="6653" marB="6653"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500"/>
                    </a:p>
                  </a:txBody>
                  <a:tcPr marL="13307" marR="13307" marT="6653" marB="6653"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500"/>
                    </a:p>
                  </a:txBody>
                  <a:tcPr marL="13307" marR="13307" marT="6653" marB="6653"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500"/>
                    </a:p>
                  </a:txBody>
                  <a:tcPr marL="13307" marR="13307" marT="6653" marB="6653"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500"/>
                    </a:p>
                  </a:txBody>
                  <a:tcPr marL="13307" marR="13307" marT="6653" marB="6653"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500"/>
                    </a:p>
                  </a:txBody>
                  <a:tcPr marL="13307" marR="13307" marT="6653" marB="6653"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500"/>
                    </a:p>
                  </a:txBody>
                  <a:tcPr marL="13307" marR="13307" marT="6653" marB="6653"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500"/>
                    </a:p>
                  </a:txBody>
                  <a:tcPr marL="13307" marR="13307" marT="6653" marB="6653"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60676047"/>
                  </a:ext>
                </a:extLst>
              </a:tr>
              <a:tr h="320430">
                <a:tc>
                  <a:txBody>
                    <a:bodyPr/>
                    <a:lstStyle/>
                    <a:p>
                      <a:pPr algn="ctr"/>
                      <a:r>
                        <a:rPr lang="en-US" sz="1500" i="1">
                          <a:effectLst/>
                        </a:rPr>
                        <a:t>z</a:t>
                      </a:r>
                      <a:endParaRPr lang="en-US" sz="1500">
                        <a:effectLst/>
                      </a:endParaRPr>
                    </a:p>
                  </a:txBody>
                  <a:tcPr marL="13307" marR="13307" marT="6653" marB="6653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500">
                          <a:effectLst/>
                        </a:rPr>
                        <a:t>+ 0.00</a:t>
                      </a:r>
                    </a:p>
                  </a:txBody>
                  <a:tcPr marL="13307" marR="13307" marT="6653" marB="6653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500">
                          <a:effectLst/>
                        </a:rPr>
                        <a:t>+ 0.01</a:t>
                      </a:r>
                    </a:p>
                  </a:txBody>
                  <a:tcPr marL="13307" marR="13307" marT="6653" marB="6653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500">
                          <a:effectLst/>
                        </a:rPr>
                        <a:t>+ 0.02</a:t>
                      </a:r>
                    </a:p>
                  </a:txBody>
                  <a:tcPr marL="13307" marR="13307" marT="6653" marB="6653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500">
                          <a:effectLst/>
                        </a:rPr>
                        <a:t>+ 0.03</a:t>
                      </a:r>
                    </a:p>
                  </a:txBody>
                  <a:tcPr marL="13307" marR="13307" marT="6653" marB="6653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500">
                          <a:effectLst/>
                        </a:rPr>
                        <a:t>+ 0.04</a:t>
                      </a:r>
                    </a:p>
                  </a:txBody>
                  <a:tcPr marL="13307" marR="13307" marT="6653" marB="6653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500">
                          <a:effectLst/>
                        </a:rPr>
                        <a:t>+ 0.05</a:t>
                      </a:r>
                    </a:p>
                  </a:txBody>
                  <a:tcPr marL="13307" marR="13307" marT="6653" marB="6653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500">
                          <a:effectLst/>
                        </a:rPr>
                        <a:t>+ 0.06</a:t>
                      </a:r>
                    </a:p>
                  </a:txBody>
                  <a:tcPr marL="13307" marR="13307" marT="6653" marB="6653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500">
                          <a:effectLst/>
                        </a:rPr>
                        <a:t>+ 0.07</a:t>
                      </a:r>
                    </a:p>
                  </a:txBody>
                  <a:tcPr marL="13307" marR="13307" marT="6653" marB="6653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500">
                          <a:effectLst/>
                        </a:rPr>
                        <a:t>+ 0.08</a:t>
                      </a:r>
                    </a:p>
                  </a:txBody>
                  <a:tcPr marL="13307" marR="13307" marT="6653" marB="6653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500" dirty="0">
                          <a:effectLst/>
                        </a:rPr>
                        <a:t>+ 0.09</a:t>
                      </a:r>
                    </a:p>
                  </a:txBody>
                  <a:tcPr marL="13307" marR="13307" marT="6653" marB="6653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C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95174344"/>
                  </a:ext>
                </a:extLst>
              </a:tr>
            </a:tbl>
          </a:graphicData>
        </a:graphic>
      </p:graphicFrame>
      <p:sp>
        <p:nvSpPr>
          <p:cNvPr id="7" name="직사각형 6">
            <a:extLst>
              <a:ext uri="{FF2B5EF4-FFF2-40B4-BE49-F238E27FC236}">
                <a16:creationId xmlns:a16="http://schemas.microsoft.com/office/drawing/2014/main" id="{A57D776A-BDD3-4CB3-BAD6-9269EEC207DD}"/>
              </a:ext>
            </a:extLst>
          </p:cNvPr>
          <p:cNvSpPr/>
          <p:nvPr/>
        </p:nvSpPr>
        <p:spPr>
          <a:xfrm>
            <a:off x="1199122" y="4009361"/>
            <a:ext cx="9849873" cy="304800"/>
          </a:xfrm>
          <a:prstGeom prst="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noFill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8247F99F-2CF3-4048-A401-F4A13AC4F779}"/>
              </a:ext>
            </a:extLst>
          </p:cNvPr>
          <p:cNvSpPr/>
          <p:nvPr/>
        </p:nvSpPr>
        <p:spPr>
          <a:xfrm>
            <a:off x="2076450" y="1817951"/>
            <a:ext cx="904870" cy="2496210"/>
          </a:xfrm>
          <a:prstGeom prst="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65C97A12-9DE9-4CC1-BA61-31ACAB378F17}"/>
              </a:ext>
            </a:extLst>
          </p:cNvPr>
          <p:cNvSpPr/>
          <p:nvPr/>
        </p:nvSpPr>
        <p:spPr>
          <a:xfrm>
            <a:off x="2076450" y="4009361"/>
            <a:ext cx="904870" cy="304800"/>
          </a:xfrm>
          <a:prstGeom prst="rect">
            <a:avLst/>
          </a:prstGeom>
          <a:noFill/>
          <a:ln w="57150"/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2799954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907A90A-945C-4F9C-9ACC-3515A2153F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결과 해석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987F24E-7617-4582-8DC2-20F6FA1616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구한 값</a:t>
            </a:r>
            <a:r>
              <a:rPr lang="en-US" altLang="ko-KR" dirty="0"/>
              <a:t>: 0.97725, </a:t>
            </a:r>
            <a:r>
              <a:rPr lang="ko-KR" altLang="en-US" dirty="0"/>
              <a:t>즉 </a:t>
            </a:r>
            <a:r>
              <a:rPr lang="en-US" altLang="ko-KR" dirty="0"/>
              <a:t>97.72%</a:t>
            </a:r>
          </a:p>
          <a:p>
            <a:r>
              <a:rPr lang="ko-KR" altLang="en-US" dirty="0"/>
              <a:t>실제 값</a:t>
            </a:r>
            <a:r>
              <a:rPr lang="en-US" altLang="ko-KR" dirty="0"/>
              <a:t>: 98.91%</a:t>
            </a:r>
          </a:p>
          <a:p>
            <a:endParaRPr lang="en-US" altLang="ko-KR" dirty="0"/>
          </a:p>
          <a:p>
            <a:r>
              <a:rPr lang="ko-KR" altLang="en-US" dirty="0"/>
              <a:t>점수가 </a:t>
            </a:r>
            <a:r>
              <a:rPr lang="en-US" altLang="ko-KR" dirty="0"/>
              <a:t>1</a:t>
            </a:r>
            <a:r>
              <a:rPr lang="ko-KR" altLang="en-US" dirty="0"/>
              <a:t>점식 떨어져 있으므로 완전한 연속확률변수가 아니라 이산확률변수여서 오차가 발생한 것으로 추정됨</a:t>
            </a:r>
          </a:p>
        </p:txBody>
      </p:sp>
    </p:spTree>
    <p:extLst>
      <p:ext uri="{BB962C8B-B14F-4D97-AF65-F5344CB8AC3E}">
        <p14:creationId xmlns:p14="http://schemas.microsoft.com/office/powerpoint/2010/main" val="904419349"/>
      </p:ext>
    </p:extLst>
  </p:cSld>
  <p:clrMapOvr>
    <a:masterClrMapping/>
  </p:clrMapOvr>
  <p:transition spd="slow">
    <p:wip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BEF53C2-071D-47ED-A392-0ECE5B1054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추가 탐구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8D923AD-CBA9-4FC3-8106-020FBF9510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양 </a:t>
            </a:r>
            <a:r>
              <a:rPr lang="ko-KR" altLang="en-US" dirty="0" err="1"/>
              <a:t>끝값이</a:t>
            </a:r>
            <a:r>
              <a:rPr lang="ko-KR" altLang="en-US" dirty="0"/>
              <a:t> 아니라 평균 근처에서의 오차는 얼마나 클까</a:t>
            </a:r>
            <a:r>
              <a:rPr lang="en-US" altLang="ko-KR" dirty="0"/>
              <a:t>?</a:t>
            </a:r>
          </a:p>
          <a:p>
            <a:endParaRPr lang="en-US" altLang="ko-KR" dirty="0"/>
          </a:p>
          <a:p>
            <a:r>
              <a:rPr lang="en-US" altLang="ko-KR" dirty="0"/>
              <a:t>4</a:t>
            </a:r>
            <a:r>
              <a:rPr lang="ko-KR" altLang="en-US" dirty="0"/>
              <a:t>등급 컷</a:t>
            </a:r>
            <a:r>
              <a:rPr lang="en-US" altLang="ko-KR" dirty="0"/>
              <a:t>: 62</a:t>
            </a:r>
            <a:r>
              <a:rPr lang="ko-KR" altLang="en-US" dirty="0"/>
              <a:t>점</a:t>
            </a:r>
            <a:r>
              <a:rPr lang="en-US" altLang="ko-KR" dirty="0"/>
              <a:t>, </a:t>
            </a:r>
            <a:r>
              <a:rPr lang="ko-KR" altLang="en-US" dirty="0"/>
              <a:t>백분율 </a:t>
            </a:r>
            <a:r>
              <a:rPr lang="en-US" altLang="ko-KR" dirty="0"/>
              <a:t>61%</a:t>
            </a:r>
          </a:p>
          <a:p>
            <a:r>
              <a:rPr lang="ko-KR" altLang="en-US" dirty="0"/>
              <a:t>이때 </a:t>
            </a:r>
            <a:r>
              <a:rPr lang="en-US" altLang="ko-KR" dirty="0"/>
              <a:t>Z=(62-52.64)/22.73=0.411790</a:t>
            </a:r>
          </a:p>
        </p:txBody>
      </p:sp>
    </p:spTree>
    <p:extLst>
      <p:ext uri="{BB962C8B-B14F-4D97-AF65-F5344CB8AC3E}">
        <p14:creationId xmlns:p14="http://schemas.microsoft.com/office/powerpoint/2010/main" val="3656462369"/>
      </p:ext>
    </p:extLst>
  </p:cSld>
  <p:clrMapOvr>
    <a:masterClrMapping/>
  </p:clrMapOvr>
  <p:transition spd="slow">
    <p:push dir="r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표 9">
            <a:extLst>
              <a:ext uri="{FF2B5EF4-FFF2-40B4-BE49-F238E27FC236}">
                <a16:creationId xmlns:a16="http://schemas.microsoft.com/office/drawing/2014/main" id="{47FE72BE-79BD-4A96-A3C5-B5768F2025F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5842962"/>
              </p:ext>
            </p:extLst>
          </p:nvPr>
        </p:nvGraphicFramePr>
        <p:xfrm>
          <a:off x="973699" y="1858832"/>
          <a:ext cx="10030856" cy="4191660"/>
        </p:xfrm>
        <a:graphic>
          <a:graphicData uri="http://schemas.openxmlformats.org/drawingml/2006/table">
            <a:tbl>
              <a:tblPr/>
              <a:tblGrid>
                <a:gridCol w="911896">
                  <a:extLst>
                    <a:ext uri="{9D8B030D-6E8A-4147-A177-3AD203B41FA5}">
                      <a16:colId xmlns:a16="http://schemas.microsoft.com/office/drawing/2014/main" val="2787738505"/>
                    </a:ext>
                  </a:extLst>
                </a:gridCol>
                <a:gridCol w="911896">
                  <a:extLst>
                    <a:ext uri="{9D8B030D-6E8A-4147-A177-3AD203B41FA5}">
                      <a16:colId xmlns:a16="http://schemas.microsoft.com/office/drawing/2014/main" val="1215923738"/>
                    </a:ext>
                  </a:extLst>
                </a:gridCol>
                <a:gridCol w="911896">
                  <a:extLst>
                    <a:ext uri="{9D8B030D-6E8A-4147-A177-3AD203B41FA5}">
                      <a16:colId xmlns:a16="http://schemas.microsoft.com/office/drawing/2014/main" val="3423031327"/>
                    </a:ext>
                  </a:extLst>
                </a:gridCol>
                <a:gridCol w="911896">
                  <a:extLst>
                    <a:ext uri="{9D8B030D-6E8A-4147-A177-3AD203B41FA5}">
                      <a16:colId xmlns:a16="http://schemas.microsoft.com/office/drawing/2014/main" val="3262290479"/>
                    </a:ext>
                  </a:extLst>
                </a:gridCol>
                <a:gridCol w="911896">
                  <a:extLst>
                    <a:ext uri="{9D8B030D-6E8A-4147-A177-3AD203B41FA5}">
                      <a16:colId xmlns:a16="http://schemas.microsoft.com/office/drawing/2014/main" val="254612386"/>
                    </a:ext>
                  </a:extLst>
                </a:gridCol>
                <a:gridCol w="911896">
                  <a:extLst>
                    <a:ext uri="{9D8B030D-6E8A-4147-A177-3AD203B41FA5}">
                      <a16:colId xmlns:a16="http://schemas.microsoft.com/office/drawing/2014/main" val="838091302"/>
                    </a:ext>
                  </a:extLst>
                </a:gridCol>
                <a:gridCol w="911896">
                  <a:extLst>
                    <a:ext uri="{9D8B030D-6E8A-4147-A177-3AD203B41FA5}">
                      <a16:colId xmlns:a16="http://schemas.microsoft.com/office/drawing/2014/main" val="1608833053"/>
                    </a:ext>
                  </a:extLst>
                </a:gridCol>
                <a:gridCol w="911896">
                  <a:extLst>
                    <a:ext uri="{9D8B030D-6E8A-4147-A177-3AD203B41FA5}">
                      <a16:colId xmlns:a16="http://schemas.microsoft.com/office/drawing/2014/main" val="968295828"/>
                    </a:ext>
                  </a:extLst>
                </a:gridCol>
                <a:gridCol w="911896">
                  <a:extLst>
                    <a:ext uri="{9D8B030D-6E8A-4147-A177-3AD203B41FA5}">
                      <a16:colId xmlns:a16="http://schemas.microsoft.com/office/drawing/2014/main" val="3658882799"/>
                    </a:ext>
                  </a:extLst>
                </a:gridCol>
                <a:gridCol w="911896">
                  <a:extLst>
                    <a:ext uri="{9D8B030D-6E8A-4147-A177-3AD203B41FA5}">
                      <a16:colId xmlns:a16="http://schemas.microsoft.com/office/drawing/2014/main" val="7178244"/>
                    </a:ext>
                  </a:extLst>
                </a:gridCol>
                <a:gridCol w="911896">
                  <a:extLst>
                    <a:ext uri="{9D8B030D-6E8A-4147-A177-3AD203B41FA5}">
                      <a16:colId xmlns:a16="http://schemas.microsoft.com/office/drawing/2014/main" val="1861306466"/>
                    </a:ext>
                  </a:extLst>
                </a:gridCol>
              </a:tblGrid>
              <a:tr h="288600">
                <a:tc>
                  <a:txBody>
                    <a:bodyPr/>
                    <a:lstStyle/>
                    <a:p>
                      <a:pPr algn="ctr"/>
                      <a:r>
                        <a:rPr lang="en-US" sz="1500" i="1">
                          <a:effectLst/>
                        </a:rPr>
                        <a:t>z</a:t>
                      </a:r>
                      <a:endParaRPr lang="en-US" sz="1500">
                        <a:effectLst/>
                      </a:endParaRPr>
                    </a:p>
                  </a:txBody>
                  <a:tcPr marL="55786" marR="55786" marT="27893" marB="27893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500">
                          <a:effectLst/>
                        </a:rPr>
                        <a:t>+ 0.00</a:t>
                      </a:r>
                    </a:p>
                  </a:txBody>
                  <a:tcPr marL="55786" marR="55786" marT="27893" marB="27893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500">
                          <a:effectLst/>
                        </a:rPr>
                        <a:t>+ 0.01</a:t>
                      </a:r>
                    </a:p>
                  </a:txBody>
                  <a:tcPr marL="55786" marR="55786" marT="27893" marB="27893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500">
                          <a:effectLst/>
                        </a:rPr>
                        <a:t>+ 0.02</a:t>
                      </a:r>
                    </a:p>
                  </a:txBody>
                  <a:tcPr marL="55786" marR="55786" marT="27893" marB="27893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500">
                          <a:effectLst/>
                        </a:rPr>
                        <a:t>+ 0.03</a:t>
                      </a:r>
                    </a:p>
                  </a:txBody>
                  <a:tcPr marL="55786" marR="55786" marT="27893" marB="27893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500">
                          <a:effectLst/>
                        </a:rPr>
                        <a:t>+ 0.04</a:t>
                      </a:r>
                    </a:p>
                  </a:txBody>
                  <a:tcPr marL="55786" marR="55786" marT="27893" marB="27893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500">
                          <a:effectLst/>
                        </a:rPr>
                        <a:t>+ 0.05</a:t>
                      </a:r>
                    </a:p>
                  </a:txBody>
                  <a:tcPr marL="55786" marR="55786" marT="27893" marB="27893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500">
                          <a:effectLst/>
                        </a:rPr>
                        <a:t>+ 0.06</a:t>
                      </a:r>
                    </a:p>
                  </a:txBody>
                  <a:tcPr marL="55786" marR="55786" marT="27893" marB="27893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500">
                          <a:effectLst/>
                        </a:rPr>
                        <a:t>+ 0.07</a:t>
                      </a:r>
                    </a:p>
                  </a:txBody>
                  <a:tcPr marL="55786" marR="55786" marT="27893" marB="27893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500">
                          <a:effectLst/>
                        </a:rPr>
                        <a:t>+ 0.08</a:t>
                      </a:r>
                    </a:p>
                  </a:txBody>
                  <a:tcPr marL="55786" marR="55786" marT="27893" marB="27893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500">
                          <a:effectLst/>
                        </a:rPr>
                        <a:t>+ 0.09</a:t>
                      </a:r>
                    </a:p>
                  </a:txBody>
                  <a:tcPr marL="55786" marR="55786" marT="27893" marB="27893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C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22043105"/>
                  </a:ext>
                </a:extLst>
              </a:tr>
              <a:tr h="361446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500">
                          <a:effectLst/>
                        </a:rPr>
                        <a:t>0.0</a:t>
                      </a:r>
                    </a:p>
                  </a:txBody>
                  <a:tcPr marL="55786" marR="55786" marT="27893" marB="27893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C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500">
                          <a:effectLst/>
                        </a:rPr>
                        <a:t>0.50000</a:t>
                      </a:r>
                    </a:p>
                  </a:txBody>
                  <a:tcPr marL="55786" marR="55786" marT="27893" marB="27893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500">
                          <a:effectLst/>
                        </a:rPr>
                        <a:t>0.50399</a:t>
                      </a:r>
                    </a:p>
                  </a:txBody>
                  <a:tcPr marL="55786" marR="55786" marT="27893" marB="27893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500">
                          <a:effectLst/>
                        </a:rPr>
                        <a:t>0.50798</a:t>
                      </a:r>
                    </a:p>
                  </a:txBody>
                  <a:tcPr marL="55786" marR="55786" marT="27893" marB="27893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500">
                          <a:effectLst/>
                        </a:rPr>
                        <a:t>0.51197</a:t>
                      </a:r>
                    </a:p>
                  </a:txBody>
                  <a:tcPr marL="55786" marR="55786" marT="27893" marB="27893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500">
                          <a:effectLst/>
                        </a:rPr>
                        <a:t>0.51595</a:t>
                      </a:r>
                    </a:p>
                  </a:txBody>
                  <a:tcPr marL="55786" marR="55786" marT="27893" marB="27893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500">
                          <a:effectLst/>
                        </a:rPr>
                        <a:t>0.51994</a:t>
                      </a:r>
                    </a:p>
                  </a:txBody>
                  <a:tcPr marL="55786" marR="55786" marT="27893" marB="27893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500">
                          <a:effectLst/>
                        </a:rPr>
                        <a:t>0.52392</a:t>
                      </a:r>
                    </a:p>
                  </a:txBody>
                  <a:tcPr marL="55786" marR="55786" marT="27893" marB="27893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500">
                          <a:effectLst/>
                        </a:rPr>
                        <a:t>0.52790</a:t>
                      </a:r>
                    </a:p>
                  </a:txBody>
                  <a:tcPr marL="55786" marR="55786" marT="27893" marB="27893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500">
                          <a:effectLst/>
                        </a:rPr>
                        <a:t>0.53188</a:t>
                      </a:r>
                    </a:p>
                  </a:txBody>
                  <a:tcPr marL="55786" marR="55786" marT="27893" marB="27893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500">
                          <a:effectLst/>
                        </a:rPr>
                        <a:t>0.53586</a:t>
                      </a:r>
                    </a:p>
                  </a:txBody>
                  <a:tcPr marL="55786" marR="55786" marT="27893" marB="27893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04354290"/>
                  </a:ext>
                </a:extLst>
              </a:tr>
              <a:tr h="361446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500">
                          <a:effectLst/>
                        </a:rPr>
                        <a:t>0.1</a:t>
                      </a:r>
                    </a:p>
                  </a:txBody>
                  <a:tcPr marL="55786" marR="55786" marT="27893" marB="27893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C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500">
                          <a:effectLst/>
                        </a:rPr>
                        <a:t>0.53983</a:t>
                      </a:r>
                    </a:p>
                  </a:txBody>
                  <a:tcPr marL="55786" marR="55786" marT="27893" marB="27893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500" dirty="0">
                          <a:effectLst/>
                        </a:rPr>
                        <a:t>0.54380</a:t>
                      </a:r>
                    </a:p>
                  </a:txBody>
                  <a:tcPr marL="55786" marR="55786" marT="27893" marB="27893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500">
                          <a:effectLst/>
                        </a:rPr>
                        <a:t>0.54776</a:t>
                      </a:r>
                    </a:p>
                  </a:txBody>
                  <a:tcPr marL="55786" marR="55786" marT="27893" marB="27893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500">
                          <a:effectLst/>
                        </a:rPr>
                        <a:t>0.55172</a:t>
                      </a:r>
                    </a:p>
                  </a:txBody>
                  <a:tcPr marL="55786" marR="55786" marT="27893" marB="27893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500">
                          <a:effectLst/>
                        </a:rPr>
                        <a:t>0.55567</a:t>
                      </a:r>
                    </a:p>
                  </a:txBody>
                  <a:tcPr marL="55786" marR="55786" marT="27893" marB="27893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500">
                          <a:effectLst/>
                        </a:rPr>
                        <a:t>0.55962</a:t>
                      </a:r>
                    </a:p>
                  </a:txBody>
                  <a:tcPr marL="55786" marR="55786" marT="27893" marB="27893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500">
                          <a:effectLst/>
                        </a:rPr>
                        <a:t>0.56360</a:t>
                      </a:r>
                    </a:p>
                  </a:txBody>
                  <a:tcPr marL="55786" marR="55786" marT="27893" marB="27893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500">
                          <a:effectLst/>
                        </a:rPr>
                        <a:t>0.56749</a:t>
                      </a:r>
                    </a:p>
                  </a:txBody>
                  <a:tcPr marL="55786" marR="55786" marT="27893" marB="27893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500">
                          <a:effectLst/>
                        </a:rPr>
                        <a:t>0.57142</a:t>
                      </a:r>
                    </a:p>
                  </a:txBody>
                  <a:tcPr marL="55786" marR="55786" marT="27893" marB="27893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500">
                          <a:effectLst/>
                        </a:rPr>
                        <a:t>0.57535</a:t>
                      </a:r>
                    </a:p>
                  </a:txBody>
                  <a:tcPr marL="55786" marR="55786" marT="27893" marB="27893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99884063"/>
                  </a:ext>
                </a:extLst>
              </a:tr>
              <a:tr h="361446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500">
                          <a:effectLst/>
                        </a:rPr>
                        <a:t>0.2</a:t>
                      </a:r>
                    </a:p>
                  </a:txBody>
                  <a:tcPr marL="55786" marR="55786" marT="27893" marB="27893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C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500">
                          <a:effectLst/>
                        </a:rPr>
                        <a:t>0.57926</a:t>
                      </a:r>
                    </a:p>
                  </a:txBody>
                  <a:tcPr marL="55786" marR="55786" marT="27893" marB="27893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500">
                          <a:effectLst/>
                        </a:rPr>
                        <a:t>0.58317</a:t>
                      </a:r>
                    </a:p>
                  </a:txBody>
                  <a:tcPr marL="55786" marR="55786" marT="27893" marB="27893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500">
                          <a:effectLst/>
                        </a:rPr>
                        <a:t>0.58706</a:t>
                      </a:r>
                    </a:p>
                  </a:txBody>
                  <a:tcPr marL="55786" marR="55786" marT="27893" marB="27893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500">
                          <a:effectLst/>
                        </a:rPr>
                        <a:t>0.59095</a:t>
                      </a:r>
                    </a:p>
                  </a:txBody>
                  <a:tcPr marL="55786" marR="55786" marT="27893" marB="27893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500">
                          <a:effectLst/>
                        </a:rPr>
                        <a:t>0.59483</a:t>
                      </a:r>
                    </a:p>
                  </a:txBody>
                  <a:tcPr marL="55786" marR="55786" marT="27893" marB="27893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500">
                          <a:effectLst/>
                        </a:rPr>
                        <a:t>0.59871</a:t>
                      </a:r>
                    </a:p>
                  </a:txBody>
                  <a:tcPr marL="55786" marR="55786" marT="27893" marB="27893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500">
                          <a:effectLst/>
                        </a:rPr>
                        <a:t>0.60257</a:t>
                      </a:r>
                    </a:p>
                  </a:txBody>
                  <a:tcPr marL="55786" marR="55786" marT="27893" marB="27893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500">
                          <a:effectLst/>
                        </a:rPr>
                        <a:t>0.60642</a:t>
                      </a:r>
                    </a:p>
                  </a:txBody>
                  <a:tcPr marL="55786" marR="55786" marT="27893" marB="27893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500">
                          <a:effectLst/>
                        </a:rPr>
                        <a:t>0.61026</a:t>
                      </a:r>
                    </a:p>
                  </a:txBody>
                  <a:tcPr marL="55786" marR="55786" marT="27893" marB="27893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500">
                          <a:effectLst/>
                        </a:rPr>
                        <a:t>0.61409</a:t>
                      </a:r>
                    </a:p>
                  </a:txBody>
                  <a:tcPr marL="55786" marR="55786" marT="27893" marB="27893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37806679"/>
                  </a:ext>
                </a:extLst>
              </a:tr>
              <a:tr h="361446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500">
                          <a:effectLst/>
                        </a:rPr>
                        <a:t>0.3</a:t>
                      </a:r>
                    </a:p>
                  </a:txBody>
                  <a:tcPr marL="55786" marR="55786" marT="27893" marB="27893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C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500">
                          <a:effectLst/>
                        </a:rPr>
                        <a:t>0.61791</a:t>
                      </a:r>
                    </a:p>
                  </a:txBody>
                  <a:tcPr marL="55786" marR="55786" marT="27893" marB="27893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500">
                          <a:effectLst/>
                        </a:rPr>
                        <a:t>0.62172</a:t>
                      </a:r>
                    </a:p>
                  </a:txBody>
                  <a:tcPr marL="55786" marR="55786" marT="27893" marB="27893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500">
                          <a:effectLst/>
                        </a:rPr>
                        <a:t>0.62552</a:t>
                      </a:r>
                    </a:p>
                  </a:txBody>
                  <a:tcPr marL="55786" marR="55786" marT="27893" marB="27893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500">
                          <a:effectLst/>
                        </a:rPr>
                        <a:t>0.62930</a:t>
                      </a:r>
                    </a:p>
                  </a:txBody>
                  <a:tcPr marL="55786" marR="55786" marT="27893" marB="27893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500">
                          <a:effectLst/>
                        </a:rPr>
                        <a:t>0.63307</a:t>
                      </a:r>
                    </a:p>
                  </a:txBody>
                  <a:tcPr marL="55786" marR="55786" marT="27893" marB="27893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500">
                          <a:effectLst/>
                        </a:rPr>
                        <a:t>0.63683</a:t>
                      </a:r>
                    </a:p>
                  </a:txBody>
                  <a:tcPr marL="55786" marR="55786" marT="27893" marB="27893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500">
                          <a:effectLst/>
                        </a:rPr>
                        <a:t>0.64058</a:t>
                      </a:r>
                    </a:p>
                  </a:txBody>
                  <a:tcPr marL="55786" marR="55786" marT="27893" marB="27893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500">
                          <a:effectLst/>
                        </a:rPr>
                        <a:t>0.64431</a:t>
                      </a:r>
                    </a:p>
                  </a:txBody>
                  <a:tcPr marL="55786" marR="55786" marT="27893" marB="27893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500">
                          <a:effectLst/>
                        </a:rPr>
                        <a:t>0.64803</a:t>
                      </a:r>
                    </a:p>
                  </a:txBody>
                  <a:tcPr marL="55786" marR="55786" marT="27893" marB="27893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500">
                          <a:effectLst/>
                        </a:rPr>
                        <a:t>0.65173</a:t>
                      </a:r>
                    </a:p>
                  </a:txBody>
                  <a:tcPr marL="55786" marR="55786" marT="27893" marB="27893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96256476"/>
                  </a:ext>
                </a:extLst>
              </a:tr>
              <a:tr h="361446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500">
                          <a:effectLst/>
                        </a:rPr>
                        <a:t>0.4</a:t>
                      </a:r>
                    </a:p>
                  </a:txBody>
                  <a:tcPr marL="55786" marR="55786" marT="27893" marB="27893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C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500">
                          <a:effectLst/>
                        </a:rPr>
                        <a:t>0.65542</a:t>
                      </a:r>
                    </a:p>
                  </a:txBody>
                  <a:tcPr marL="55786" marR="55786" marT="27893" marB="27893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500">
                          <a:effectLst/>
                        </a:rPr>
                        <a:t>0.65910</a:t>
                      </a:r>
                    </a:p>
                  </a:txBody>
                  <a:tcPr marL="55786" marR="55786" marT="27893" marB="27893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500">
                          <a:effectLst/>
                        </a:rPr>
                        <a:t>0.66276</a:t>
                      </a:r>
                    </a:p>
                  </a:txBody>
                  <a:tcPr marL="55786" marR="55786" marT="27893" marB="27893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500">
                          <a:effectLst/>
                        </a:rPr>
                        <a:t>0.66640</a:t>
                      </a:r>
                    </a:p>
                  </a:txBody>
                  <a:tcPr marL="55786" marR="55786" marT="27893" marB="27893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500">
                          <a:effectLst/>
                        </a:rPr>
                        <a:t>0.67003</a:t>
                      </a:r>
                    </a:p>
                  </a:txBody>
                  <a:tcPr marL="55786" marR="55786" marT="27893" marB="27893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500">
                          <a:effectLst/>
                        </a:rPr>
                        <a:t>0.67364</a:t>
                      </a:r>
                    </a:p>
                  </a:txBody>
                  <a:tcPr marL="55786" marR="55786" marT="27893" marB="27893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500">
                          <a:effectLst/>
                        </a:rPr>
                        <a:t>0.67724</a:t>
                      </a:r>
                    </a:p>
                  </a:txBody>
                  <a:tcPr marL="55786" marR="55786" marT="27893" marB="27893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500">
                          <a:effectLst/>
                        </a:rPr>
                        <a:t>0.68082</a:t>
                      </a:r>
                    </a:p>
                  </a:txBody>
                  <a:tcPr marL="55786" marR="55786" marT="27893" marB="27893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500">
                          <a:effectLst/>
                        </a:rPr>
                        <a:t>0.68439</a:t>
                      </a:r>
                    </a:p>
                  </a:txBody>
                  <a:tcPr marL="55786" marR="55786" marT="27893" marB="27893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500">
                          <a:effectLst/>
                        </a:rPr>
                        <a:t>0.68793</a:t>
                      </a:r>
                    </a:p>
                  </a:txBody>
                  <a:tcPr marL="55786" marR="55786" marT="27893" marB="27893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16185577"/>
                  </a:ext>
                </a:extLst>
              </a:tr>
              <a:tr h="288600">
                <a:tc>
                  <a:txBody>
                    <a:bodyPr/>
                    <a:lstStyle/>
                    <a:p>
                      <a:endParaRPr lang="ko-KR" altLang="en-US" sz="1500">
                        <a:effectLst/>
                      </a:endParaRPr>
                    </a:p>
                  </a:txBody>
                  <a:tcPr marL="55786" marR="55786" marT="27893" marB="27893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500"/>
                    </a:p>
                  </a:txBody>
                  <a:tcPr marL="55786" marR="55786" marT="27893" marB="27893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500" dirty="0"/>
                    </a:p>
                  </a:txBody>
                  <a:tcPr marL="55786" marR="55786" marT="27893" marB="27893"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500"/>
                    </a:p>
                  </a:txBody>
                  <a:tcPr marL="55786" marR="55786" marT="27893" marB="27893"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500"/>
                    </a:p>
                  </a:txBody>
                  <a:tcPr marL="55786" marR="55786" marT="27893" marB="27893"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500"/>
                    </a:p>
                  </a:txBody>
                  <a:tcPr marL="55786" marR="55786" marT="27893" marB="27893"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500"/>
                    </a:p>
                  </a:txBody>
                  <a:tcPr marL="55786" marR="55786" marT="27893" marB="27893"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500"/>
                    </a:p>
                  </a:txBody>
                  <a:tcPr marL="55786" marR="55786" marT="27893" marB="27893"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500"/>
                    </a:p>
                  </a:txBody>
                  <a:tcPr marL="55786" marR="55786" marT="27893" marB="27893"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500"/>
                    </a:p>
                  </a:txBody>
                  <a:tcPr marL="55786" marR="55786" marT="27893" marB="27893"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500"/>
                    </a:p>
                  </a:txBody>
                  <a:tcPr marL="55786" marR="55786" marT="27893" marB="27893"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97067612"/>
                  </a:ext>
                </a:extLst>
              </a:tr>
              <a:tr h="361446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500">
                          <a:effectLst/>
                        </a:rPr>
                        <a:t>0.5</a:t>
                      </a:r>
                    </a:p>
                  </a:txBody>
                  <a:tcPr marL="55786" marR="55786" marT="27893" marB="27893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C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500">
                          <a:effectLst/>
                        </a:rPr>
                        <a:t>0.69146</a:t>
                      </a:r>
                    </a:p>
                  </a:txBody>
                  <a:tcPr marL="55786" marR="55786" marT="27893" marB="27893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500">
                          <a:effectLst/>
                        </a:rPr>
                        <a:t>0.69497</a:t>
                      </a:r>
                    </a:p>
                  </a:txBody>
                  <a:tcPr marL="55786" marR="55786" marT="27893" marB="27893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500">
                          <a:effectLst/>
                        </a:rPr>
                        <a:t>0.69847</a:t>
                      </a:r>
                    </a:p>
                  </a:txBody>
                  <a:tcPr marL="55786" marR="55786" marT="27893" marB="27893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500">
                          <a:effectLst/>
                        </a:rPr>
                        <a:t>0.70194</a:t>
                      </a:r>
                    </a:p>
                  </a:txBody>
                  <a:tcPr marL="55786" marR="55786" marT="27893" marB="27893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500">
                          <a:effectLst/>
                        </a:rPr>
                        <a:t>0.70540</a:t>
                      </a:r>
                    </a:p>
                  </a:txBody>
                  <a:tcPr marL="55786" marR="55786" marT="27893" marB="27893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500">
                          <a:effectLst/>
                        </a:rPr>
                        <a:t>0.70884</a:t>
                      </a:r>
                    </a:p>
                  </a:txBody>
                  <a:tcPr marL="55786" marR="55786" marT="27893" marB="27893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500">
                          <a:effectLst/>
                        </a:rPr>
                        <a:t>0.71226</a:t>
                      </a:r>
                    </a:p>
                  </a:txBody>
                  <a:tcPr marL="55786" marR="55786" marT="27893" marB="27893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500">
                          <a:effectLst/>
                        </a:rPr>
                        <a:t>0.71566</a:t>
                      </a:r>
                    </a:p>
                  </a:txBody>
                  <a:tcPr marL="55786" marR="55786" marT="27893" marB="27893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500">
                          <a:effectLst/>
                        </a:rPr>
                        <a:t>0.71904</a:t>
                      </a:r>
                    </a:p>
                  </a:txBody>
                  <a:tcPr marL="55786" marR="55786" marT="27893" marB="27893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500">
                          <a:effectLst/>
                        </a:rPr>
                        <a:t>0.72240</a:t>
                      </a:r>
                    </a:p>
                  </a:txBody>
                  <a:tcPr marL="55786" marR="55786" marT="27893" marB="27893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38421555"/>
                  </a:ext>
                </a:extLst>
              </a:tr>
              <a:tr h="361446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500">
                          <a:effectLst/>
                        </a:rPr>
                        <a:t>0.6</a:t>
                      </a:r>
                    </a:p>
                  </a:txBody>
                  <a:tcPr marL="55786" marR="55786" marT="27893" marB="27893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C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500">
                          <a:effectLst/>
                        </a:rPr>
                        <a:t>0.72575</a:t>
                      </a:r>
                    </a:p>
                  </a:txBody>
                  <a:tcPr marL="55786" marR="55786" marT="27893" marB="27893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500">
                          <a:effectLst/>
                        </a:rPr>
                        <a:t>0.72907</a:t>
                      </a:r>
                    </a:p>
                  </a:txBody>
                  <a:tcPr marL="55786" marR="55786" marT="27893" marB="27893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500">
                          <a:effectLst/>
                        </a:rPr>
                        <a:t>0.73237</a:t>
                      </a:r>
                    </a:p>
                  </a:txBody>
                  <a:tcPr marL="55786" marR="55786" marT="27893" marB="27893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500">
                          <a:effectLst/>
                        </a:rPr>
                        <a:t>0.73565</a:t>
                      </a:r>
                    </a:p>
                  </a:txBody>
                  <a:tcPr marL="55786" marR="55786" marT="27893" marB="27893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500">
                          <a:effectLst/>
                        </a:rPr>
                        <a:t>0.73891</a:t>
                      </a:r>
                    </a:p>
                  </a:txBody>
                  <a:tcPr marL="55786" marR="55786" marT="27893" marB="27893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500">
                          <a:effectLst/>
                        </a:rPr>
                        <a:t>0.74215</a:t>
                      </a:r>
                    </a:p>
                  </a:txBody>
                  <a:tcPr marL="55786" marR="55786" marT="27893" marB="27893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500">
                          <a:effectLst/>
                        </a:rPr>
                        <a:t>0.74537</a:t>
                      </a:r>
                    </a:p>
                  </a:txBody>
                  <a:tcPr marL="55786" marR="55786" marT="27893" marB="27893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500">
                          <a:effectLst/>
                        </a:rPr>
                        <a:t>0.74857</a:t>
                      </a:r>
                    </a:p>
                  </a:txBody>
                  <a:tcPr marL="55786" marR="55786" marT="27893" marB="27893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500">
                          <a:effectLst/>
                        </a:rPr>
                        <a:t>0.75175</a:t>
                      </a:r>
                    </a:p>
                  </a:txBody>
                  <a:tcPr marL="55786" marR="55786" marT="27893" marB="27893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500">
                          <a:effectLst/>
                        </a:rPr>
                        <a:t>0.75490</a:t>
                      </a:r>
                    </a:p>
                  </a:txBody>
                  <a:tcPr marL="55786" marR="55786" marT="27893" marB="27893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88081663"/>
                  </a:ext>
                </a:extLst>
              </a:tr>
              <a:tr h="361446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500">
                          <a:effectLst/>
                        </a:rPr>
                        <a:t>0.7</a:t>
                      </a:r>
                    </a:p>
                  </a:txBody>
                  <a:tcPr marL="55786" marR="55786" marT="27893" marB="27893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C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500">
                          <a:effectLst/>
                        </a:rPr>
                        <a:t>0.75804</a:t>
                      </a:r>
                    </a:p>
                  </a:txBody>
                  <a:tcPr marL="55786" marR="55786" marT="27893" marB="27893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500">
                          <a:effectLst/>
                        </a:rPr>
                        <a:t>0.76115</a:t>
                      </a:r>
                    </a:p>
                  </a:txBody>
                  <a:tcPr marL="55786" marR="55786" marT="27893" marB="27893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500">
                          <a:effectLst/>
                        </a:rPr>
                        <a:t>0.76424</a:t>
                      </a:r>
                    </a:p>
                  </a:txBody>
                  <a:tcPr marL="55786" marR="55786" marT="27893" marB="27893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500">
                          <a:effectLst/>
                        </a:rPr>
                        <a:t>0.76730</a:t>
                      </a:r>
                    </a:p>
                  </a:txBody>
                  <a:tcPr marL="55786" marR="55786" marT="27893" marB="27893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500">
                          <a:effectLst/>
                        </a:rPr>
                        <a:t>0.77035</a:t>
                      </a:r>
                    </a:p>
                  </a:txBody>
                  <a:tcPr marL="55786" marR="55786" marT="27893" marB="27893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500">
                          <a:effectLst/>
                        </a:rPr>
                        <a:t>0.77337</a:t>
                      </a:r>
                    </a:p>
                  </a:txBody>
                  <a:tcPr marL="55786" marR="55786" marT="27893" marB="27893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500">
                          <a:effectLst/>
                        </a:rPr>
                        <a:t>0.77637</a:t>
                      </a:r>
                    </a:p>
                  </a:txBody>
                  <a:tcPr marL="55786" marR="55786" marT="27893" marB="27893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500">
                          <a:effectLst/>
                        </a:rPr>
                        <a:t>0.77935</a:t>
                      </a:r>
                    </a:p>
                  </a:txBody>
                  <a:tcPr marL="55786" marR="55786" marT="27893" marB="27893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500">
                          <a:effectLst/>
                        </a:rPr>
                        <a:t>0.78230</a:t>
                      </a:r>
                    </a:p>
                  </a:txBody>
                  <a:tcPr marL="55786" marR="55786" marT="27893" marB="27893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500">
                          <a:effectLst/>
                        </a:rPr>
                        <a:t>0.78524</a:t>
                      </a:r>
                    </a:p>
                  </a:txBody>
                  <a:tcPr marL="55786" marR="55786" marT="27893" marB="27893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3391727"/>
                  </a:ext>
                </a:extLst>
              </a:tr>
              <a:tr h="361446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500">
                          <a:effectLst/>
                        </a:rPr>
                        <a:t>0.8</a:t>
                      </a:r>
                    </a:p>
                  </a:txBody>
                  <a:tcPr marL="55786" marR="55786" marT="27893" marB="27893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C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500">
                          <a:effectLst/>
                        </a:rPr>
                        <a:t>0.78814</a:t>
                      </a:r>
                    </a:p>
                  </a:txBody>
                  <a:tcPr marL="55786" marR="55786" marT="27893" marB="27893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500">
                          <a:effectLst/>
                        </a:rPr>
                        <a:t>0.79103</a:t>
                      </a:r>
                    </a:p>
                  </a:txBody>
                  <a:tcPr marL="55786" marR="55786" marT="27893" marB="27893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500">
                          <a:effectLst/>
                        </a:rPr>
                        <a:t>0.79389</a:t>
                      </a:r>
                    </a:p>
                  </a:txBody>
                  <a:tcPr marL="55786" marR="55786" marT="27893" marB="27893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500">
                          <a:effectLst/>
                        </a:rPr>
                        <a:t>0.79673</a:t>
                      </a:r>
                    </a:p>
                  </a:txBody>
                  <a:tcPr marL="55786" marR="55786" marT="27893" marB="27893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500">
                          <a:effectLst/>
                        </a:rPr>
                        <a:t>0.79955</a:t>
                      </a:r>
                    </a:p>
                  </a:txBody>
                  <a:tcPr marL="55786" marR="55786" marT="27893" marB="27893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500">
                          <a:effectLst/>
                        </a:rPr>
                        <a:t>0.80234</a:t>
                      </a:r>
                    </a:p>
                  </a:txBody>
                  <a:tcPr marL="55786" marR="55786" marT="27893" marB="27893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500">
                          <a:effectLst/>
                        </a:rPr>
                        <a:t>0.80511</a:t>
                      </a:r>
                    </a:p>
                  </a:txBody>
                  <a:tcPr marL="55786" marR="55786" marT="27893" marB="27893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500">
                          <a:effectLst/>
                        </a:rPr>
                        <a:t>0.80785</a:t>
                      </a:r>
                    </a:p>
                  </a:txBody>
                  <a:tcPr marL="55786" marR="55786" marT="27893" marB="27893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500">
                          <a:effectLst/>
                        </a:rPr>
                        <a:t>0.81057</a:t>
                      </a:r>
                    </a:p>
                  </a:txBody>
                  <a:tcPr marL="55786" marR="55786" marT="27893" marB="27893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500">
                          <a:effectLst/>
                        </a:rPr>
                        <a:t>0.81327</a:t>
                      </a:r>
                    </a:p>
                  </a:txBody>
                  <a:tcPr marL="55786" marR="55786" marT="27893" marB="27893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80052623"/>
                  </a:ext>
                </a:extLst>
              </a:tr>
              <a:tr h="361446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500">
                          <a:effectLst/>
                        </a:rPr>
                        <a:t>0.9</a:t>
                      </a:r>
                    </a:p>
                  </a:txBody>
                  <a:tcPr marL="55786" marR="55786" marT="27893" marB="27893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C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500">
                          <a:effectLst/>
                        </a:rPr>
                        <a:t>0.81594</a:t>
                      </a:r>
                    </a:p>
                  </a:txBody>
                  <a:tcPr marL="55786" marR="55786" marT="27893" marB="27893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500">
                          <a:effectLst/>
                        </a:rPr>
                        <a:t>0.81859</a:t>
                      </a:r>
                    </a:p>
                  </a:txBody>
                  <a:tcPr marL="55786" marR="55786" marT="27893" marB="27893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500">
                          <a:effectLst/>
                        </a:rPr>
                        <a:t>0.82121</a:t>
                      </a:r>
                    </a:p>
                  </a:txBody>
                  <a:tcPr marL="55786" marR="55786" marT="27893" marB="27893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500">
                          <a:effectLst/>
                        </a:rPr>
                        <a:t>0.82381</a:t>
                      </a:r>
                    </a:p>
                  </a:txBody>
                  <a:tcPr marL="55786" marR="55786" marT="27893" marB="27893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500">
                          <a:effectLst/>
                        </a:rPr>
                        <a:t>0.82639</a:t>
                      </a:r>
                    </a:p>
                  </a:txBody>
                  <a:tcPr marL="55786" marR="55786" marT="27893" marB="27893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500">
                          <a:effectLst/>
                        </a:rPr>
                        <a:t>0.82894</a:t>
                      </a:r>
                    </a:p>
                  </a:txBody>
                  <a:tcPr marL="55786" marR="55786" marT="27893" marB="27893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500">
                          <a:effectLst/>
                        </a:rPr>
                        <a:t>0.83147</a:t>
                      </a:r>
                    </a:p>
                  </a:txBody>
                  <a:tcPr marL="55786" marR="55786" marT="27893" marB="27893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500">
                          <a:effectLst/>
                        </a:rPr>
                        <a:t>0.83398</a:t>
                      </a:r>
                    </a:p>
                  </a:txBody>
                  <a:tcPr marL="55786" marR="55786" marT="27893" marB="27893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500">
                          <a:effectLst/>
                        </a:rPr>
                        <a:t>0.83646</a:t>
                      </a:r>
                    </a:p>
                  </a:txBody>
                  <a:tcPr marL="55786" marR="55786" marT="27893" marB="27893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500" dirty="0">
                          <a:effectLst/>
                        </a:rPr>
                        <a:t>0.83891</a:t>
                      </a:r>
                    </a:p>
                  </a:txBody>
                  <a:tcPr marL="55786" marR="55786" marT="27893" marB="27893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28316730"/>
                  </a:ext>
                </a:extLst>
              </a:tr>
            </a:tbl>
          </a:graphicData>
        </a:graphic>
      </p:graphicFrame>
      <p:sp>
        <p:nvSpPr>
          <p:cNvPr id="5" name="직사각형 4">
            <a:extLst>
              <a:ext uri="{FF2B5EF4-FFF2-40B4-BE49-F238E27FC236}">
                <a16:creationId xmlns:a16="http://schemas.microsoft.com/office/drawing/2014/main" id="{86080D7C-065D-4B26-A932-96C8F71ED29B}"/>
              </a:ext>
            </a:extLst>
          </p:cNvPr>
          <p:cNvSpPr/>
          <p:nvPr/>
        </p:nvSpPr>
        <p:spPr>
          <a:xfrm>
            <a:off x="973699" y="3606799"/>
            <a:ext cx="2715641" cy="338668"/>
          </a:xfrm>
          <a:prstGeom prst="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noFill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F7CBBDC-3CD8-4D0D-81BB-92C775CDC108}"/>
              </a:ext>
            </a:extLst>
          </p:cNvPr>
          <p:cNvSpPr/>
          <p:nvPr/>
        </p:nvSpPr>
        <p:spPr>
          <a:xfrm>
            <a:off x="2792937" y="1877222"/>
            <a:ext cx="904870" cy="2068245"/>
          </a:xfrm>
          <a:prstGeom prst="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83284DFC-2D36-408D-A54B-5C805DE29D62}"/>
              </a:ext>
            </a:extLst>
          </p:cNvPr>
          <p:cNvSpPr/>
          <p:nvPr/>
        </p:nvSpPr>
        <p:spPr>
          <a:xfrm>
            <a:off x="2784470" y="3616721"/>
            <a:ext cx="904870" cy="347135"/>
          </a:xfrm>
          <a:prstGeom prst="rect">
            <a:avLst/>
          </a:prstGeom>
          <a:noFill/>
          <a:ln w="57150"/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제목 1">
            <a:extLst>
              <a:ext uri="{FF2B5EF4-FFF2-40B4-BE49-F238E27FC236}">
                <a16:creationId xmlns:a16="http://schemas.microsoft.com/office/drawing/2014/main" id="{A290D010-1548-4CE7-9762-246EA665F0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ko-KR" altLang="en-US" dirty="0"/>
              <a:t>정규분포표</a:t>
            </a:r>
          </a:p>
        </p:txBody>
      </p:sp>
    </p:spTree>
    <p:extLst>
      <p:ext uri="{BB962C8B-B14F-4D97-AF65-F5344CB8AC3E}">
        <p14:creationId xmlns:p14="http://schemas.microsoft.com/office/powerpoint/2010/main" val="3834171548"/>
      </p:ext>
    </p:extLst>
  </p:cSld>
  <p:clrMapOvr>
    <a:masterClrMapping/>
  </p:clrMapOvr>
  <p:transition spd="slow">
    <p:push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3E98C1D-0482-40DD-86EC-13EFF5DCFE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결과해석</a:t>
            </a:r>
            <a:r>
              <a:rPr lang="en-US" altLang="ko-KR" dirty="0"/>
              <a:t>(</a:t>
            </a:r>
            <a:r>
              <a:rPr lang="ko-KR" altLang="en-US" dirty="0"/>
              <a:t>추가탐구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5CA9ECE-9063-4D39-A841-0D5C284738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구한 값</a:t>
            </a:r>
            <a:r>
              <a:rPr lang="en-US" altLang="ko-KR" dirty="0"/>
              <a:t>: 0.65542 </a:t>
            </a:r>
            <a:r>
              <a:rPr lang="ko-KR" altLang="en-US" dirty="0"/>
              <a:t>즉</a:t>
            </a:r>
            <a:r>
              <a:rPr lang="en-US" altLang="ko-KR" dirty="0"/>
              <a:t>, 65.5%</a:t>
            </a:r>
          </a:p>
          <a:p>
            <a:r>
              <a:rPr lang="ko-KR" altLang="en-US" dirty="0"/>
              <a:t>실제 값</a:t>
            </a:r>
            <a:r>
              <a:rPr lang="en-US" altLang="ko-KR" dirty="0"/>
              <a:t>: 61%</a:t>
            </a:r>
          </a:p>
          <a:p>
            <a:endParaRPr lang="en-US" altLang="ko-KR" dirty="0"/>
          </a:p>
          <a:p>
            <a:r>
              <a:rPr lang="ko-KR" altLang="en-US" dirty="0"/>
              <a:t>오차가 앞에서 </a:t>
            </a:r>
            <a:r>
              <a:rPr lang="en-US" altLang="ko-KR" dirty="0"/>
              <a:t>1.2%</a:t>
            </a:r>
            <a:r>
              <a:rPr lang="ko-KR" altLang="en-US" dirty="0"/>
              <a:t>에 비해 </a:t>
            </a:r>
            <a:r>
              <a:rPr lang="en-US" altLang="ko-KR" dirty="0"/>
              <a:t>4.5%</a:t>
            </a:r>
            <a:r>
              <a:rPr lang="ko-KR" altLang="en-US" dirty="0"/>
              <a:t>로 증가했음</a:t>
            </a:r>
            <a:endParaRPr lang="en-US" altLang="ko-KR" dirty="0"/>
          </a:p>
          <a:p>
            <a:r>
              <a:rPr lang="en-US" altLang="ko-KR" dirty="0"/>
              <a:t>=&gt;</a:t>
            </a:r>
            <a:r>
              <a:rPr lang="ko-KR" altLang="en-US" dirty="0">
                <a:solidFill>
                  <a:srgbClr val="FF0000"/>
                </a:solidFill>
              </a:rPr>
              <a:t>평균에 가까울수록 오차가 커진다</a:t>
            </a:r>
            <a:r>
              <a:rPr lang="en-US" altLang="ko-KR" dirty="0">
                <a:solidFill>
                  <a:srgbClr val="FF0000"/>
                </a:solidFill>
              </a:rPr>
              <a:t>.</a:t>
            </a:r>
            <a:endParaRPr lang="ko-KR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42768169"/>
      </p:ext>
    </p:extLst>
  </p:cSld>
  <p:clrMapOvr>
    <a:masterClrMapping/>
  </p:clrMapOvr>
  <p:transition spd="slow">
    <p:push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1CD5FFF-B55E-4E85-811E-3B2826CFD0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백분율 추정 프로그램 제작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EB87826-B003-4899-9E56-4375DDA61B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sz="3200" dirty="0"/>
              <a:t>http://kjhmatt.github.io/Score_Percent.py</a:t>
            </a:r>
            <a:endParaRPr lang="ko-KR" altLang="en-US" sz="3200" dirty="0"/>
          </a:p>
        </p:txBody>
      </p:sp>
    </p:spTree>
    <p:extLst>
      <p:ext uri="{BB962C8B-B14F-4D97-AF65-F5344CB8AC3E}">
        <p14:creationId xmlns:p14="http://schemas.microsoft.com/office/powerpoint/2010/main" val="1545759279"/>
      </p:ext>
    </p:extLst>
  </p:cSld>
  <p:clrMapOvr>
    <a:masterClrMapping/>
  </p:clrMapOvr>
  <p:transition spd="slow">
    <p:cover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aphic 185">
            <a:extLst>
              <a:ext uri="{FF2B5EF4-FFF2-40B4-BE49-F238E27FC236}">
                <a16:creationId xmlns:a16="http://schemas.microsoft.com/office/drawing/2014/main" id="{8A351602-3772-4279-B0D3-A523F6F6EA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0999576" y="5987064"/>
            <a:ext cx="1054466" cy="469689"/>
            <a:chOff x="9841624" y="4115729"/>
            <a:chExt cx="602169" cy="268223"/>
          </a:xfrm>
          <a:solidFill>
            <a:schemeClr val="tx1"/>
          </a:solidFill>
        </p:grpSpPr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A5AAAA75-5FFB-4C07-AD4A-3146773E6C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841624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1479895E-3847-44BB-8404-28F14219FB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941445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50E02F68-8149-4236-8D9F-6B550F78B93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041267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956FCAAB-F073-4561-A484-42C7DD10DC2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141090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6CF8DB94-87A3-43E9-9BBB-301CFF0FB05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40911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7" name="Oval 16">
            <a:extLst>
              <a:ext uri="{FF2B5EF4-FFF2-40B4-BE49-F238E27FC236}">
                <a16:creationId xmlns:a16="http://schemas.microsoft.com/office/drawing/2014/main" id="{7D6BF779-0B8C-4CC2-9268-9506AD0C53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20736" y="652894"/>
            <a:ext cx="319941" cy="319941"/>
          </a:xfrm>
          <a:prstGeom prst="ellipse">
            <a:avLst/>
          </a:prstGeom>
          <a:solidFill>
            <a:schemeClr val="accent3">
              <a:lumMod val="20000"/>
              <a:lumOff val="8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489B7BFD-8F45-4093-AD9C-91B15B0503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498F8FF6-43B4-494A-AF8F-123A4983ED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08103" y="-15159"/>
            <a:ext cx="4902679" cy="4616801"/>
          </a:xfrm>
          <a:custGeom>
            <a:avLst/>
            <a:gdLst>
              <a:gd name="connsiteX0" fmla="*/ 1825048 w 6355652"/>
              <a:gd name="connsiteY0" fmla="*/ 0 h 6050127"/>
              <a:gd name="connsiteX1" fmla="*/ 4530604 w 6355652"/>
              <a:gd name="connsiteY1" fmla="*/ 0 h 6050127"/>
              <a:gd name="connsiteX2" fmla="*/ 4692567 w 6355652"/>
              <a:gd name="connsiteY2" fmla="*/ 78022 h 6050127"/>
              <a:gd name="connsiteX3" fmla="*/ 6355652 w 6355652"/>
              <a:gd name="connsiteY3" fmla="*/ 2872301 h 6050127"/>
              <a:gd name="connsiteX4" fmla="*/ 3177826 w 6355652"/>
              <a:gd name="connsiteY4" fmla="*/ 6050127 h 6050127"/>
              <a:gd name="connsiteX5" fmla="*/ 0 w 6355652"/>
              <a:gd name="connsiteY5" fmla="*/ 2872301 h 6050127"/>
              <a:gd name="connsiteX6" fmla="*/ 1663086 w 6355652"/>
              <a:gd name="connsiteY6" fmla="*/ 78022 h 60501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355652" h="6050127">
                <a:moveTo>
                  <a:pt x="1825048" y="0"/>
                </a:moveTo>
                <a:lnTo>
                  <a:pt x="4530604" y="0"/>
                </a:lnTo>
                <a:lnTo>
                  <a:pt x="4692567" y="78022"/>
                </a:lnTo>
                <a:cubicBezTo>
                  <a:pt x="5683175" y="616152"/>
                  <a:pt x="6355652" y="1665694"/>
                  <a:pt x="6355652" y="2872301"/>
                </a:cubicBezTo>
                <a:cubicBezTo>
                  <a:pt x="6355652" y="4627366"/>
                  <a:pt x="4932891" y="6050127"/>
                  <a:pt x="3177826" y="6050127"/>
                </a:cubicBezTo>
                <a:cubicBezTo>
                  <a:pt x="1422761" y="6050127"/>
                  <a:pt x="0" y="4627366"/>
                  <a:pt x="0" y="2872301"/>
                </a:cubicBezTo>
                <a:cubicBezTo>
                  <a:pt x="0" y="1665694"/>
                  <a:pt x="672477" y="616152"/>
                  <a:pt x="1663086" y="78022"/>
                </a:cubicBezTo>
                <a:close/>
              </a:path>
            </a:pathLst>
          </a:custGeom>
          <a:solidFill>
            <a:srgbClr val="FFFFFF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33574554-84CF-4FF0-B1BF-553245CC65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1479558"/>
            <a:ext cx="1861854" cy="717514"/>
            <a:chOff x="0" y="1479558"/>
            <a:chExt cx="1861854" cy="717514"/>
          </a:xfrm>
          <a:solidFill>
            <a:schemeClr val="tx1"/>
          </a:solidFill>
        </p:grpSpPr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E16C8D8F-10E9-4498-ABDB-0F923F8B68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1479558"/>
              <a:ext cx="1861854" cy="277779"/>
            </a:xfrm>
            <a:custGeom>
              <a:avLst/>
              <a:gdLst>
                <a:gd name="connsiteX0" fmla="*/ 180458 w 1861854"/>
                <a:gd name="connsiteY0" fmla="*/ 0 h 277779"/>
                <a:gd name="connsiteX1" fmla="*/ 419222 w 1861854"/>
                <a:gd name="connsiteY1" fmla="*/ 238761 h 277779"/>
                <a:gd name="connsiteX2" fmla="*/ 657984 w 1861854"/>
                <a:gd name="connsiteY2" fmla="*/ 0 h 277779"/>
                <a:gd name="connsiteX3" fmla="*/ 896745 w 1861854"/>
                <a:gd name="connsiteY3" fmla="*/ 238761 h 277779"/>
                <a:gd name="connsiteX4" fmla="*/ 1135754 w 1861854"/>
                <a:gd name="connsiteY4" fmla="*/ 0 h 277779"/>
                <a:gd name="connsiteX5" fmla="*/ 1374516 w 1861854"/>
                <a:gd name="connsiteY5" fmla="*/ 238761 h 277779"/>
                <a:gd name="connsiteX6" fmla="*/ 1613277 w 1861854"/>
                <a:gd name="connsiteY6" fmla="*/ 0 h 277779"/>
                <a:gd name="connsiteX7" fmla="*/ 1861854 w 1861854"/>
                <a:gd name="connsiteY7" fmla="*/ 248577 h 277779"/>
                <a:gd name="connsiteX8" fmla="*/ 1842470 w 1861854"/>
                <a:gd name="connsiteY8" fmla="*/ 267963 h 277779"/>
                <a:gd name="connsiteX9" fmla="*/ 1613277 w 1861854"/>
                <a:gd name="connsiteY9" fmla="*/ 39017 h 277779"/>
                <a:gd name="connsiteX10" fmla="*/ 1374516 w 1861854"/>
                <a:gd name="connsiteY10" fmla="*/ 277779 h 277779"/>
                <a:gd name="connsiteX11" fmla="*/ 1135754 w 1861854"/>
                <a:gd name="connsiteY11" fmla="*/ 39017 h 277779"/>
                <a:gd name="connsiteX12" fmla="*/ 896745 w 1861854"/>
                <a:gd name="connsiteY12" fmla="*/ 277779 h 277779"/>
                <a:gd name="connsiteX13" fmla="*/ 657984 w 1861854"/>
                <a:gd name="connsiteY13" fmla="*/ 39017 h 277779"/>
                <a:gd name="connsiteX14" fmla="*/ 419222 w 1861854"/>
                <a:gd name="connsiteY14" fmla="*/ 277779 h 277779"/>
                <a:gd name="connsiteX15" fmla="*/ 180458 w 1861854"/>
                <a:gd name="connsiteY15" fmla="*/ 39017 h 277779"/>
                <a:gd name="connsiteX16" fmla="*/ 0 w 1861854"/>
                <a:gd name="connsiteY16" fmla="*/ 219283 h 277779"/>
                <a:gd name="connsiteX17" fmla="*/ 0 w 1861854"/>
                <a:gd name="connsiteY17" fmla="*/ 180458 h 277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861854" h="277779">
                  <a:moveTo>
                    <a:pt x="180458" y="0"/>
                  </a:moveTo>
                  <a:lnTo>
                    <a:pt x="419222" y="238761"/>
                  </a:lnTo>
                  <a:lnTo>
                    <a:pt x="657984" y="0"/>
                  </a:lnTo>
                  <a:lnTo>
                    <a:pt x="896745" y="238761"/>
                  </a:lnTo>
                  <a:lnTo>
                    <a:pt x="1135754" y="0"/>
                  </a:lnTo>
                  <a:lnTo>
                    <a:pt x="1374516" y="238761"/>
                  </a:lnTo>
                  <a:lnTo>
                    <a:pt x="1613277" y="0"/>
                  </a:lnTo>
                  <a:lnTo>
                    <a:pt x="1861854" y="248577"/>
                  </a:lnTo>
                  <a:lnTo>
                    <a:pt x="1842470" y="267963"/>
                  </a:lnTo>
                  <a:lnTo>
                    <a:pt x="1613277" y="39017"/>
                  </a:lnTo>
                  <a:lnTo>
                    <a:pt x="1374516" y="277779"/>
                  </a:lnTo>
                  <a:lnTo>
                    <a:pt x="1135754" y="39017"/>
                  </a:lnTo>
                  <a:lnTo>
                    <a:pt x="896745" y="277779"/>
                  </a:lnTo>
                  <a:lnTo>
                    <a:pt x="657984" y="39017"/>
                  </a:lnTo>
                  <a:lnTo>
                    <a:pt x="419222" y="277779"/>
                  </a:lnTo>
                  <a:lnTo>
                    <a:pt x="180458" y="39017"/>
                  </a:lnTo>
                  <a:lnTo>
                    <a:pt x="0" y="219283"/>
                  </a:lnTo>
                  <a:lnTo>
                    <a:pt x="0" y="180458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1E5A83E3-8A11-4492-BB6E-F5F2240316F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1919293"/>
              <a:ext cx="1861854" cy="277779"/>
            </a:xfrm>
            <a:custGeom>
              <a:avLst/>
              <a:gdLst>
                <a:gd name="connsiteX0" fmla="*/ 180458 w 1861854"/>
                <a:gd name="connsiteY0" fmla="*/ 0 h 277779"/>
                <a:gd name="connsiteX1" fmla="*/ 419222 w 1861854"/>
                <a:gd name="connsiteY1" fmla="*/ 238761 h 277779"/>
                <a:gd name="connsiteX2" fmla="*/ 657984 w 1861854"/>
                <a:gd name="connsiteY2" fmla="*/ 0 h 277779"/>
                <a:gd name="connsiteX3" fmla="*/ 896745 w 1861854"/>
                <a:gd name="connsiteY3" fmla="*/ 238761 h 277779"/>
                <a:gd name="connsiteX4" fmla="*/ 1135754 w 1861854"/>
                <a:gd name="connsiteY4" fmla="*/ 0 h 277779"/>
                <a:gd name="connsiteX5" fmla="*/ 1374516 w 1861854"/>
                <a:gd name="connsiteY5" fmla="*/ 238761 h 277779"/>
                <a:gd name="connsiteX6" fmla="*/ 1613277 w 1861854"/>
                <a:gd name="connsiteY6" fmla="*/ 0 h 277779"/>
                <a:gd name="connsiteX7" fmla="*/ 1861854 w 1861854"/>
                <a:gd name="connsiteY7" fmla="*/ 248577 h 277779"/>
                <a:gd name="connsiteX8" fmla="*/ 1842470 w 1861854"/>
                <a:gd name="connsiteY8" fmla="*/ 268208 h 277779"/>
                <a:gd name="connsiteX9" fmla="*/ 1613277 w 1861854"/>
                <a:gd name="connsiteY9" fmla="*/ 39017 h 277779"/>
                <a:gd name="connsiteX10" fmla="*/ 1374516 w 1861854"/>
                <a:gd name="connsiteY10" fmla="*/ 277779 h 277779"/>
                <a:gd name="connsiteX11" fmla="*/ 1135754 w 1861854"/>
                <a:gd name="connsiteY11" fmla="*/ 39017 h 277779"/>
                <a:gd name="connsiteX12" fmla="*/ 896745 w 1861854"/>
                <a:gd name="connsiteY12" fmla="*/ 277779 h 277779"/>
                <a:gd name="connsiteX13" fmla="*/ 657984 w 1861854"/>
                <a:gd name="connsiteY13" fmla="*/ 39017 h 277779"/>
                <a:gd name="connsiteX14" fmla="*/ 419222 w 1861854"/>
                <a:gd name="connsiteY14" fmla="*/ 277779 h 277779"/>
                <a:gd name="connsiteX15" fmla="*/ 180458 w 1861854"/>
                <a:gd name="connsiteY15" fmla="*/ 39017 h 277779"/>
                <a:gd name="connsiteX16" fmla="*/ 0 w 1861854"/>
                <a:gd name="connsiteY16" fmla="*/ 219475 h 277779"/>
                <a:gd name="connsiteX17" fmla="*/ 0 w 1861854"/>
                <a:gd name="connsiteY17" fmla="*/ 180458 h 277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861854" h="277779">
                  <a:moveTo>
                    <a:pt x="180458" y="0"/>
                  </a:moveTo>
                  <a:lnTo>
                    <a:pt x="419222" y="238761"/>
                  </a:lnTo>
                  <a:lnTo>
                    <a:pt x="657984" y="0"/>
                  </a:lnTo>
                  <a:lnTo>
                    <a:pt x="896745" y="238761"/>
                  </a:lnTo>
                  <a:lnTo>
                    <a:pt x="1135754" y="0"/>
                  </a:lnTo>
                  <a:lnTo>
                    <a:pt x="1374516" y="238761"/>
                  </a:lnTo>
                  <a:lnTo>
                    <a:pt x="1613277" y="0"/>
                  </a:lnTo>
                  <a:lnTo>
                    <a:pt x="1861854" y="248577"/>
                  </a:lnTo>
                  <a:lnTo>
                    <a:pt x="1842470" y="268208"/>
                  </a:lnTo>
                  <a:lnTo>
                    <a:pt x="1613277" y="39017"/>
                  </a:lnTo>
                  <a:lnTo>
                    <a:pt x="1374516" y="277779"/>
                  </a:lnTo>
                  <a:lnTo>
                    <a:pt x="1135754" y="39017"/>
                  </a:lnTo>
                  <a:lnTo>
                    <a:pt x="896745" y="277779"/>
                  </a:lnTo>
                  <a:lnTo>
                    <a:pt x="657984" y="39017"/>
                  </a:lnTo>
                  <a:lnTo>
                    <a:pt x="419222" y="277779"/>
                  </a:lnTo>
                  <a:lnTo>
                    <a:pt x="180458" y="39017"/>
                  </a:lnTo>
                  <a:lnTo>
                    <a:pt x="0" y="219475"/>
                  </a:lnTo>
                  <a:lnTo>
                    <a:pt x="0" y="180458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/>
            </a:p>
          </p:txBody>
        </p:sp>
      </p:grpSp>
      <p:sp>
        <p:nvSpPr>
          <p:cNvPr id="27" name="Freeform: Shape 26">
            <a:extLst>
              <a:ext uri="{FF2B5EF4-FFF2-40B4-BE49-F238E27FC236}">
                <a16:creationId xmlns:a16="http://schemas.microsoft.com/office/drawing/2014/main" id="{76C5E6D3-976B-41A7-B008-5BB4ADF444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17246" y="-12193"/>
            <a:ext cx="4902679" cy="4616801"/>
          </a:xfrm>
          <a:custGeom>
            <a:avLst/>
            <a:gdLst>
              <a:gd name="connsiteX0" fmla="*/ 1825048 w 6355652"/>
              <a:gd name="connsiteY0" fmla="*/ 0 h 6050127"/>
              <a:gd name="connsiteX1" fmla="*/ 4530604 w 6355652"/>
              <a:gd name="connsiteY1" fmla="*/ 0 h 6050127"/>
              <a:gd name="connsiteX2" fmla="*/ 4692567 w 6355652"/>
              <a:gd name="connsiteY2" fmla="*/ 78022 h 6050127"/>
              <a:gd name="connsiteX3" fmla="*/ 6355652 w 6355652"/>
              <a:gd name="connsiteY3" fmla="*/ 2872301 h 6050127"/>
              <a:gd name="connsiteX4" fmla="*/ 3177826 w 6355652"/>
              <a:gd name="connsiteY4" fmla="*/ 6050127 h 6050127"/>
              <a:gd name="connsiteX5" fmla="*/ 0 w 6355652"/>
              <a:gd name="connsiteY5" fmla="*/ 2872301 h 6050127"/>
              <a:gd name="connsiteX6" fmla="*/ 1663086 w 6355652"/>
              <a:gd name="connsiteY6" fmla="*/ 78022 h 60501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355652" h="6050127">
                <a:moveTo>
                  <a:pt x="1825048" y="0"/>
                </a:moveTo>
                <a:lnTo>
                  <a:pt x="4530604" y="0"/>
                </a:lnTo>
                <a:lnTo>
                  <a:pt x="4692567" y="78022"/>
                </a:lnTo>
                <a:cubicBezTo>
                  <a:pt x="5683175" y="616152"/>
                  <a:pt x="6355652" y="1665694"/>
                  <a:pt x="6355652" y="2872301"/>
                </a:cubicBezTo>
                <a:cubicBezTo>
                  <a:pt x="6355652" y="4627366"/>
                  <a:pt x="4932891" y="6050127"/>
                  <a:pt x="3177826" y="6050127"/>
                </a:cubicBezTo>
                <a:cubicBezTo>
                  <a:pt x="1422761" y="6050127"/>
                  <a:pt x="0" y="4627366"/>
                  <a:pt x="0" y="2872301"/>
                </a:cubicBezTo>
                <a:cubicBezTo>
                  <a:pt x="0" y="1665694"/>
                  <a:pt x="672477" y="616152"/>
                  <a:pt x="1663086" y="78022"/>
                </a:cubicBezTo>
                <a:close/>
              </a:path>
            </a:pathLst>
          </a:custGeom>
          <a:solidFill>
            <a:schemeClr val="accent1">
              <a:alpha val="2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9" name="Freeform: Shape 28">
            <a:extLst>
              <a:ext uri="{FF2B5EF4-FFF2-40B4-BE49-F238E27FC236}">
                <a16:creationId xmlns:a16="http://schemas.microsoft.com/office/drawing/2014/main" id="{5AFEC601-A132-47EE-B0C2-B38ACD9FCE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305243" y="-12192"/>
            <a:ext cx="4902678" cy="4544235"/>
          </a:xfrm>
          <a:custGeom>
            <a:avLst/>
            <a:gdLst>
              <a:gd name="connsiteX0" fmla="*/ 1529549 w 6355652"/>
              <a:gd name="connsiteY0" fmla="*/ 0 h 5890980"/>
              <a:gd name="connsiteX1" fmla="*/ 4826104 w 6355652"/>
              <a:gd name="connsiteY1" fmla="*/ 0 h 5890980"/>
              <a:gd name="connsiteX2" fmla="*/ 4954579 w 6355652"/>
              <a:gd name="connsiteY2" fmla="*/ 78051 h 5890980"/>
              <a:gd name="connsiteX3" fmla="*/ 6355652 w 6355652"/>
              <a:gd name="connsiteY3" fmla="*/ 2713154 h 5890980"/>
              <a:gd name="connsiteX4" fmla="*/ 3177826 w 6355652"/>
              <a:gd name="connsiteY4" fmla="*/ 5890980 h 5890980"/>
              <a:gd name="connsiteX5" fmla="*/ 0 w 6355652"/>
              <a:gd name="connsiteY5" fmla="*/ 2713154 h 5890980"/>
              <a:gd name="connsiteX6" fmla="*/ 1401073 w 6355652"/>
              <a:gd name="connsiteY6" fmla="*/ 78051 h 58909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355652" h="5890980">
                <a:moveTo>
                  <a:pt x="1529549" y="0"/>
                </a:moveTo>
                <a:lnTo>
                  <a:pt x="4826104" y="0"/>
                </a:lnTo>
                <a:lnTo>
                  <a:pt x="4954579" y="78051"/>
                </a:lnTo>
                <a:cubicBezTo>
                  <a:pt x="5799886" y="649129"/>
                  <a:pt x="6355652" y="1616239"/>
                  <a:pt x="6355652" y="2713154"/>
                </a:cubicBezTo>
                <a:cubicBezTo>
                  <a:pt x="6355652" y="4468219"/>
                  <a:pt x="4932891" y="5890980"/>
                  <a:pt x="3177826" y="5890980"/>
                </a:cubicBezTo>
                <a:cubicBezTo>
                  <a:pt x="1422761" y="5890980"/>
                  <a:pt x="0" y="4468219"/>
                  <a:pt x="0" y="2713154"/>
                </a:cubicBezTo>
                <a:cubicBezTo>
                  <a:pt x="0" y="1616239"/>
                  <a:pt x="555766" y="649129"/>
                  <a:pt x="1401073" y="78051"/>
                </a:cubicBezTo>
                <a:close/>
              </a:path>
            </a:pathLst>
          </a:custGeom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8D9E02D8-25C5-4197-8867-1CA369BE0B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60765" y="324937"/>
            <a:ext cx="4024032" cy="2885715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>
              <a:lnSpc>
                <a:spcPct val="90000"/>
              </a:lnSpc>
            </a:pPr>
            <a:r>
              <a:rPr lang="ko-KR" altLang="en-US" cap="all" spc="1500" dirty="0">
                <a:ea typeface="Source Sans Pro SemiBold" panose="020B0603030403020204" pitchFamily="34" charset="0"/>
              </a:rPr>
              <a:t>감사합니다</a:t>
            </a:r>
            <a:endParaRPr lang="en-US" altLang="ko-KR" cap="all" spc="1500" dirty="0">
              <a:ea typeface="Source Sans Pro SemiBold" panose="020B0603030403020204" pitchFamily="34" charset="0"/>
            </a:endParaRPr>
          </a:p>
        </p:txBody>
      </p:sp>
      <p:sp>
        <p:nvSpPr>
          <p:cNvPr id="31" name="Graphic 212">
            <a:extLst>
              <a:ext uri="{FF2B5EF4-FFF2-40B4-BE49-F238E27FC236}">
                <a16:creationId xmlns:a16="http://schemas.microsoft.com/office/drawing/2014/main" id="{279CAF82-0ECF-42BE-8F37-F71941E5D4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649933" y="1550555"/>
            <a:ext cx="413564" cy="413564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rgbClr val="FFFFFF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33" name="Graphic 212">
            <a:extLst>
              <a:ext uri="{FF2B5EF4-FFF2-40B4-BE49-F238E27FC236}">
                <a16:creationId xmlns:a16="http://schemas.microsoft.com/office/drawing/2014/main" id="{2A8D3863-50D5-4235-9082-36776BF4F0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649933" y="1550555"/>
            <a:ext cx="413564" cy="413564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chemeClr val="accent3">
              <a:alpha val="2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B2B1429-F98B-4DDC-ABFD-B4E03410CA4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925" r="27590" b="1"/>
          <a:stretch/>
        </p:blipFill>
        <p:spPr>
          <a:xfrm>
            <a:off x="6601854" y="2313765"/>
            <a:ext cx="4773089" cy="4544235"/>
          </a:xfrm>
          <a:custGeom>
            <a:avLst/>
            <a:gdLst/>
            <a:ahLst/>
            <a:cxnLst/>
            <a:rect l="l" t="t" r="r" b="b"/>
            <a:pathLst>
              <a:path w="4773089" h="4544235">
                <a:moveTo>
                  <a:pt x="2386544" y="0"/>
                </a:moveTo>
                <a:cubicBezTo>
                  <a:pt x="3704596" y="0"/>
                  <a:pt x="4773089" y="1068494"/>
                  <a:pt x="4773089" y="2386545"/>
                </a:cubicBezTo>
                <a:cubicBezTo>
                  <a:pt x="4773089" y="3292705"/>
                  <a:pt x="4268059" y="4080910"/>
                  <a:pt x="3524113" y="4485046"/>
                </a:cubicBezTo>
                <a:lnTo>
                  <a:pt x="3401244" y="4544235"/>
                </a:lnTo>
                <a:lnTo>
                  <a:pt x="1371845" y="4544235"/>
                </a:lnTo>
                <a:lnTo>
                  <a:pt x="1248976" y="4485046"/>
                </a:lnTo>
                <a:cubicBezTo>
                  <a:pt x="505030" y="4080910"/>
                  <a:pt x="0" y="3292705"/>
                  <a:pt x="0" y="2386545"/>
                </a:cubicBezTo>
                <a:cubicBezTo>
                  <a:pt x="0" y="1068494"/>
                  <a:pt x="1068494" y="0"/>
                  <a:pt x="2386544" y="0"/>
                </a:cubicBezTo>
                <a:close/>
              </a:path>
            </a:pathLst>
          </a:custGeom>
        </p:spPr>
      </p:pic>
      <p:grpSp>
        <p:nvGrpSpPr>
          <p:cNvPr id="35" name="Graphic 185">
            <a:extLst>
              <a:ext uri="{FF2B5EF4-FFF2-40B4-BE49-F238E27FC236}">
                <a16:creationId xmlns:a16="http://schemas.microsoft.com/office/drawing/2014/main" id="{FB9739EB-7F66-433D-841F-AB3CD18700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0549330" y="2740963"/>
            <a:ext cx="1054466" cy="469689"/>
            <a:chOff x="9841624" y="4115729"/>
            <a:chExt cx="602169" cy="268223"/>
          </a:xfrm>
          <a:solidFill>
            <a:schemeClr val="tx1"/>
          </a:solidFill>
        </p:grpSpPr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104F2BBD-A005-4DCB-9566-F2351050BEE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841624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8B00DEC7-198B-49D1-98FD-018F3ECFCF4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941445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F14DFC82-B3B3-468E-91B3-1302CFC684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041267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D3250EFE-214E-4B8E-AF96-036A514FFB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141090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AD058EBE-D4A5-4C43-B170-6A451F87A7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40911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42" name="Oval 41">
            <a:extLst>
              <a:ext uri="{FF2B5EF4-FFF2-40B4-BE49-F238E27FC236}">
                <a16:creationId xmlns:a16="http://schemas.microsoft.com/office/drawing/2014/main" id="{033BC44A-0661-43B4-9C14-FD5963C226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369124" y="5424608"/>
            <a:ext cx="319941" cy="319941"/>
          </a:xfrm>
          <a:prstGeom prst="ellipse">
            <a:avLst/>
          </a:prstGeom>
          <a:solidFill>
            <a:srgbClr val="FFFFFF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E9306212-88FA-45BF-ABA3-1454AC42D9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369124" y="5424608"/>
            <a:ext cx="319941" cy="319941"/>
          </a:xfrm>
          <a:prstGeom prst="ellipse">
            <a:avLst/>
          </a:prstGeom>
          <a:solidFill>
            <a:schemeClr val="accent3">
              <a:alpha val="2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355862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14:reveal thruBlk="1" dir="r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5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vertic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FunkyShapesVTI">
  <a:themeElements>
    <a:clrScheme name="Custom 15">
      <a:dk1>
        <a:sysClr val="windowText" lastClr="000000"/>
      </a:dk1>
      <a:lt1>
        <a:sysClr val="window" lastClr="FFFFFF"/>
      </a:lt1>
      <a:dk2>
        <a:srgbClr val="2D2D2D"/>
      </a:dk2>
      <a:lt2>
        <a:srgbClr val="F3FFF8"/>
      </a:lt2>
      <a:accent1>
        <a:srgbClr val="FF80BD"/>
      </a:accent1>
      <a:accent2>
        <a:srgbClr val="1EB9D3"/>
      </a:accent2>
      <a:accent3>
        <a:srgbClr val="21C46B"/>
      </a:accent3>
      <a:accent4>
        <a:srgbClr val="EA9600"/>
      </a:accent4>
      <a:accent5>
        <a:srgbClr val="F43B56"/>
      </a:accent5>
      <a:accent6>
        <a:srgbClr val="4B56E8"/>
      </a:accent6>
      <a:hlink>
        <a:srgbClr val="8F61FF"/>
      </a:hlink>
      <a:folHlink>
        <a:srgbClr val="F900A0"/>
      </a:folHlink>
    </a:clrScheme>
    <a:fontScheme name="Source Sans Pro">
      <a:majorFont>
        <a:latin typeface="Microsoft GothicNeo"/>
        <a:ea typeface=""/>
        <a:cs typeface=""/>
      </a:majorFont>
      <a:minorFont>
        <a:latin typeface="Microsoft GothicNe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unkyShapesVTI" id="{A7F40C41-3FB2-45B0-B0D6-DFB7FDD9B7AD}" vid="{C49381A0-09CD-46EE-B141-E2CDD87ABFE3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214</TotalTime>
  <Words>590</Words>
  <Application>Microsoft Office PowerPoint</Application>
  <PresentationFormat>와이드스크린</PresentationFormat>
  <Paragraphs>297</Paragraphs>
  <Slides>13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13</vt:i4>
      </vt:variant>
    </vt:vector>
  </HeadingPairs>
  <TitlesOfParts>
    <vt:vector size="18" baseType="lpstr">
      <vt:lpstr>Microsoft GothicNeo</vt:lpstr>
      <vt:lpstr>맑은 고딕</vt:lpstr>
      <vt:lpstr>함초롬바탕</vt:lpstr>
      <vt:lpstr>Arial</vt:lpstr>
      <vt:lpstr>FunkyShapesVTI</vt:lpstr>
      <vt:lpstr>정규분포로 자신의 등수를 얻는 법</vt:lpstr>
      <vt:lpstr>1. 선정 동기</vt:lpstr>
      <vt:lpstr>2. 등수 추정 프로그램</vt:lpstr>
      <vt:lpstr>3. 등수 추정 프로그램의 원리</vt:lpstr>
      <vt:lpstr>표준정규분포</vt:lpstr>
      <vt:lpstr>예시</vt:lpstr>
      <vt:lpstr>정규분포표</vt:lpstr>
      <vt:lpstr>결과 해석</vt:lpstr>
      <vt:lpstr>추가 탐구</vt:lpstr>
      <vt:lpstr>정규분포표</vt:lpstr>
      <vt:lpstr>결과해석(추가탐구)</vt:lpstr>
      <vt:lpstr>백분율 추정 프로그램 제작</vt:lpstr>
      <vt:lpstr>감사합니다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정규분포로 자신의 등수를 얻는 법</dc:title>
  <dc:creator>김정훈</dc:creator>
  <cp:lastModifiedBy>김정훈</cp:lastModifiedBy>
  <cp:revision>18</cp:revision>
  <dcterms:created xsi:type="dcterms:W3CDTF">2021-10-13T15:14:15Z</dcterms:created>
  <dcterms:modified xsi:type="dcterms:W3CDTF">2021-10-21T15:38:51Z</dcterms:modified>
</cp:coreProperties>
</file>